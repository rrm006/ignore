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6" r:id="rId3"/>
    <p:sldId id="280" r:id="rId4"/>
    <p:sldId id="259" r:id="rId5"/>
    <p:sldId id="295" r:id="rId6"/>
    <p:sldId id="264" r:id="rId7"/>
    <p:sldId id="310" r:id="rId8"/>
    <p:sldId id="317" r:id="rId9"/>
    <p:sldId id="267" r:id="rId10"/>
    <p:sldId id="322" r:id="rId11"/>
    <p:sldId id="321" r:id="rId12"/>
    <p:sldId id="312" r:id="rId13"/>
    <p:sldId id="309" r:id="rId14"/>
    <p:sldId id="313" r:id="rId15"/>
    <p:sldId id="314" r:id="rId16"/>
    <p:sldId id="299" r:id="rId17"/>
    <p:sldId id="311" r:id="rId18"/>
    <p:sldId id="300" r:id="rId19"/>
    <p:sldId id="318" r:id="rId20"/>
    <p:sldId id="266" r:id="rId21"/>
    <p:sldId id="306" r:id="rId22"/>
    <p:sldId id="302" r:id="rId23"/>
    <p:sldId id="303" r:id="rId24"/>
    <p:sldId id="320" r:id="rId25"/>
    <p:sldId id="315" r:id="rId26"/>
    <p:sldId id="304" r:id="rId27"/>
    <p:sldId id="316" r:id="rId28"/>
    <p:sldId id="307" r:id="rId29"/>
    <p:sldId id="279" r:id="rId30"/>
  </p:sldIdLst>
  <p:sldSz cx="12192000" cy="6858000"/>
  <p:notesSz cx="6858000" cy="9144000"/>
  <p:defaultText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3E0F"/>
    <a:srgbClr val="AB79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p:restoredTop sz="94618"/>
  </p:normalViewPr>
  <p:slideViewPr>
    <p:cSldViewPr snapToGrid="0" snapToObjects="1">
      <p:cViewPr varScale="1">
        <p:scale>
          <a:sx n="88" d="100"/>
          <a:sy n="88" d="100"/>
        </p:scale>
        <p:origin x="184"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AB44-378C-AF4E-9FEC-A0E11AD66AC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D"/>
          </a:p>
        </p:txBody>
      </p:sp>
      <p:sp>
        <p:nvSpPr>
          <p:cNvPr id="3" name="Subtitle 2">
            <a:extLst>
              <a:ext uri="{FF2B5EF4-FFF2-40B4-BE49-F238E27FC236}">
                <a16:creationId xmlns:a16="http://schemas.microsoft.com/office/drawing/2014/main" id="{8FDDCD0C-7428-0C4A-9CA6-BBCEA3F17D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D"/>
          </a:p>
        </p:txBody>
      </p:sp>
      <p:sp>
        <p:nvSpPr>
          <p:cNvPr id="4" name="Date Placeholder 3">
            <a:extLst>
              <a:ext uri="{FF2B5EF4-FFF2-40B4-BE49-F238E27FC236}">
                <a16:creationId xmlns:a16="http://schemas.microsoft.com/office/drawing/2014/main" id="{9A7349C2-2965-4D45-AD77-741AF2F0ACD4}"/>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09168A46-4F4D-394C-A0E9-EEB3FF6F3989}"/>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E1A31C38-F1A8-D243-A070-6A5626EFB773}"/>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8189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AE166-B7A8-F34C-8B3C-F2EC696DAFA2}"/>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DA6240CD-1FB9-9146-85BB-907EB6A5B07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588B0F59-4006-9B4C-9370-48F5C8D27F79}"/>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775541E1-6684-1845-A71F-3A11F07E3FAB}"/>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AEBB0A7A-602D-B943-AB02-B0CE82D6F5CC}"/>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3462677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BE15-C01B-8A4F-ABE3-E298053E2E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D"/>
          </a:p>
        </p:txBody>
      </p:sp>
      <p:sp>
        <p:nvSpPr>
          <p:cNvPr id="3" name="Text Placeholder 2">
            <a:extLst>
              <a:ext uri="{FF2B5EF4-FFF2-40B4-BE49-F238E27FC236}">
                <a16:creationId xmlns:a16="http://schemas.microsoft.com/office/drawing/2014/main" id="{5380D0E3-8EAE-8043-8EAF-CD22702E9A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2704FCD-E933-4D41-BEB9-F4122A565B02}"/>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0D1E315D-1187-BA41-80A4-1CDBBC15E6FF}"/>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F3D0D6D9-54E3-8647-B4E8-423629A808CE}"/>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3047645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6B7B-4089-ED42-97E0-254827F905FA}"/>
              </a:ext>
            </a:extLst>
          </p:cNvPr>
          <p:cNvSpPr>
            <a:spLocks noGrp="1"/>
          </p:cNvSpPr>
          <p:nvPr>
            <p:ph type="title"/>
          </p:nvPr>
        </p:nvSpPr>
        <p:spPr/>
        <p:txBody>
          <a:bodyPr/>
          <a:lstStyle/>
          <a:p>
            <a:r>
              <a:rPr lang="en-GB"/>
              <a:t>Click to edit Master title style</a:t>
            </a:r>
            <a:endParaRPr lang="en-BD"/>
          </a:p>
        </p:txBody>
      </p:sp>
      <p:sp>
        <p:nvSpPr>
          <p:cNvPr id="3" name="Content Placeholder 2">
            <a:extLst>
              <a:ext uri="{FF2B5EF4-FFF2-40B4-BE49-F238E27FC236}">
                <a16:creationId xmlns:a16="http://schemas.microsoft.com/office/drawing/2014/main" id="{021DC87B-C3F8-9749-BDFF-5D8991341FA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Content Placeholder 3">
            <a:extLst>
              <a:ext uri="{FF2B5EF4-FFF2-40B4-BE49-F238E27FC236}">
                <a16:creationId xmlns:a16="http://schemas.microsoft.com/office/drawing/2014/main" id="{B946839A-F000-914F-8067-011A98623CD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Date Placeholder 4">
            <a:extLst>
              <a:ext uri="{FF2B5EF4-FFF2-40B4-BE49-F238E27FC236}">
                <a16:creationId xmlns:a16="http://schemas.microsoft.com/office/drawing/2014/main" id="{0A0E4E5F-B82D-1749-A554-A318ED392B2E}"/>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6" name="Footer Placeholder 5">
            <a:extLst>
              <a:ext uri="{FF2B5EF4-FFF2-40B4-BE49-F238E27FC236}">
                <a16:creationId xmlns:a16="http://schemas.microsoft.com/office/drawing/2014/main" id="{8C4161DA-00DB-8743-8165-EC6065F0A6EA}"/>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AC99F5CA-E97D-6D4A-9CDB-A909FBEE3D89}"/>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11577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D00EE-C442-A448-93D6-8F98D36A9A33}"/>
              </a:ext>
            </a:extLst>
          </p:cNvPr>
          <p:cNvSpPr>
            <a:spLocks noGrp="1"/>
          </p:cNvSpPr>
          <p:nvPr>
            <p:ph type="title"/>
          </p:nvPr>
        </p:nvSpPr>
        <p:spPr>
          <a:xfrm>
            <a:off x="839788" y="365125"/>
            <a:ext cx="10515600" cy="1325563"/>
          </a:xfrm>
        </p:spPr>
        <p:txBody>
          <a:bodyPr/>
          <a:lstStyle/>
          <a:p>
            <a:r>
              <a:rPr lang="en-GB"/>
              <a:t>Click to edit Master title style</a:t>
            </a:r>
            <a:endParaRPr lang="en-BD"/>
          </a:p>
        </p:txBody>
      </p:sp>
      <p:sp>
        <p:nvSpPr>
          <p:cNvPr id="3" name="Text Placeholder 2">
            <a:extLst>
              <a:ext uri="{FF2B5EF4-FFF2-40B4-BE49-F238E27FC236}">
                <a16:creationId xmlns:a16="http://schemas.microsoft.com/office/drawing/2014/main" id="{45E79038-533D-6B4C-B760-F19AEF75D1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6332461-6AA3-6449-BD5A-14F0738135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5" name="Text Placeholder 4">
            <a:extLst>
              <a:ext uri="{FF2B5EF4-FFF2-40B4-BE49-F238E27FC236}">
                <a16:creationId xmlns:a16="http://schemas.microsoft.com/office/drawing/2014/main" id="{D25B736D-167E-6B4B-B15D-B815CC372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B7575C-9142-7441-99AE-C75C69D2EC6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7" name="Date Placeholder 6">
            <a:extLst>
              <a:ext uri="{FF2B5EF4-FFF2-40B4-BE49-F238E27FC236}">
                <a16:creationId xmlns:a16="http://schemas.microsoft.com/office/drawing/2014/main" id="{A91C35B1-CBD2-6640-BBDE-698C66D17601}"/>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8" name="Footer Placeholder 7">
            <a:extLst>
              <a:ext uri="{FF2B5EF4-FFF2-40B4-BE49-F238E27FC236}">
                <a16:creationId xmlns:a16="http://schemas.microsoft.com/office/drawing/2014/main" id="{AD965A8B-B9CB-AF4D-A1E6-EA9F80C44FDB}"/>
              </a:ext>
            </a:extLst>
          </p:cNvPr>
          <p:cNvSpPr>
            <a:spLocks noGrp="1"/>
          </p:cNvSpPr>
          <p:nvPr>
            <p:ph type="ftr" sz="quarter" idx="11"/>
          </p:nvPr>
        </p:nvSpPr>
        <p:spPr/>
        <p:txBody>
          <a:bodyPr/>
          <a:lstStyle/>
          <a:p>
            <a:endParaRPr lang="en-BD"/>
          </a:p>
        </p:txBody>
      </p:sp>
      <p:sp>
        <p:nvSpPr>
          <p:cNvPr id="9" name="Slide Number Placeholder 8">
            <a:extLst>
              <a:ext uri="{FF2B5EF4-FFF2-40B4-BE49-F238E27FC236}">
                <a16:creationId xmlns:a16="http://schemas.microsoft.com/office/drawing/2014/main" id="{8AE8146C-AED0-5142-A61D-F0737206EDD4}"/>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024010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988CD-4395-4247-BE48-BAD286AA21BE}"/>
              </a:ext>
            </a:extLst>
          </p:cNvPr>
          <p:cNvSpPr>
            <a:spLocks noGrp="1"/>
          </p:cNvSpPr>
          <p:nvPr>
            <p:ph type="title"/>
          </p:nvPr>
        </p:nvSpPr>
        <p:spPr/>
        <p:txBody>
          <a:bodyPr/>
          <a:lstStyle/>
          <a:p>
            <a:r>
              <a:rPr lang="en-GB"/>
              <a:t>Click to edit Master title style</a:t>
            </a:r>
            <a:endParaRPr lang="en-BD"/>
          </a:p>
        </p:txBody>
      </p:sp>
      <p:sp>
        <p:nvSpPr>
          <p:cNvPr id="3" name="Date Placeholder 2">
            <a:extLst>
              <a:ext uri="{FF2B5EF4-FFF2-40B4-BE49-F238E27FC236}">
                <a16:creationId xmlns:a16="http://schemas.microsoft.com/office/drawing/2014/main" id="{2F0B4B32-39E3-094B-B731-8933CCCB2317}"/>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4" name="Footer Placeholder 3">
            <a:extLst>
              <a:ext uri="{FF2B5EF4-FFF2-40B4-BE49-F238E27FC236}">
                <a16:creationId xmlns:a16="http://schemas.microsoft.com/office/drawing/2014/main" id="{7CDA0018-2461-CA4B-95D3-86E36DF08630}"/>
              </a:ext>
            </a:extLst>
          </p:cNvPr>
          <p:cNvSpPr>
            <a:spLocks noGrp="1"/>
          </p:cNvSpPr>
          <p:nvPr>
            <p:ph type="ftr" sz="quarter" idx="11"/>
          </p:nvPr>
        </p:nvSpPr>
        <p:spPr/>
        <p:txBody>
          <a:bodyPr/>
          <a:lstStyle/>
          <a:p>
            <a:endParaRPr lang="en-BD"/>
          </a:p>
        </p:txBody>
      </p:sp>
      <p:sp>
        <p:nvSpPr>
          <p:cNvPr id="5" name="Slide Number Placeholder 4">
            <a:extLst>
              <a:ext uri="{FF2B5EF4-FFF2-40B4-BE49-F238E27FC236}">
                <a16:creationId xmlns:a16="http://schemas.microsoft.com/office/drawing/2014/main" id="{6E703B91-0F56-7F40-930D-E7FC3A705A7C}"/>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863019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1DFC4-314C-D245-811F-FA76C87EA8AE}"/>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3" name="Footer Placeholder 2">
            <a:extLst>
              <a:ext uri="{FF2B5EF4-FFF2-40B4-BE49-F238E27FC236}">
                <a16:creationId xmlns:a16="http://schemas.microsoft.com/office/drawing/2014/main" id="{1320DA26-EAD2-3541-9A24-53097AF80168}"/>
              </a:ext>
            </a:extLst>
          </p:cNvPr>
          <p:cNvSpPr>
            <a:spLocks noGrp="1"/>
          </p:cNvSpPr>
          <p:nvPr>
            <p:ph type="ftr" sz="quarter" idx="11"/>
          </p:nvPr>
        </p:nvSpPr>
        <p:spPr/>
        <p:txBody>
          <a:bodyPr/>
          <a:lstStyle/>
          <a:p>
            <a:endParaRPr lang="en-BD"/>
          </a:p>
        </p:txBody>
      </p:sp>
      <p:sp>
        <p:nvSpPr>
          <p:cNvPr id="4" name="Slide Number Placeholder 3">
            <a:extLst>
              <a:ext uri="{FF2B5EF4-FFF2-40B4-BE49-F238E27FC236}">
                <a16:creationId xmlns:a16="http://schemas.microsoft.com/office/drawing/2014/main" id="{D54E63CC-4D5C-1447-BF6C-5B20755BDF28}"/>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402213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D67F-36FF-3E49-830F-49BC06030F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Content Placeholder 2">
            <a:extLst>
              <a:ext uri="{FF2B5EF4-FFF2-40B4-BE49-F238E27FC236}">
                <a16:creationId xmlns:a16="http://schemas.microsoft.com/office/drawing/2014/main" id="{367C9C5F-9DAA-5847-A9B4-4260F9608A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Text Placeholder 3">
            <a:extLst>
              <a:ext uri="{FF2B5EF4-FFF2-40B4-BE49-F238E27FC236}">
                <a16:creationId xmlns:a16="http://schemas.microsoft.com/office/drawing/2014/main" id="{E58F3684-A553-C846-B992-CF01603B7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BBDF455-CA18-A043-BB4C-DADC24921C9D}"/>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6" name="Footer Placeholder 5">
            <a:extLst>
              <a:ext uri="{FF2B5EF4-FFF2-40B4-BE49-F238E27FC236}">
                <a16:creationId xmlns:a16="http://schemas.microsoft.com/office/drawing/2014/main" id="{168B12DD-9A58-BE44-BFB2-D258FF15F7C8}"/>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5493DCD0-65E2-5F4E-A86F-1BF472D835C0}"/>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77531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2FD1-6CA3-B64C-B177-A350552067F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D"/>
          </a:p>
        </p:txBody>
      </p:sp>
      <p:sp>
        <p:nvSpPr>
          <p:cNvPr id="3" name="Picture Placeholder 2">
            <a:extLst>
              <a:ext uri="{FF2B5EF4-FFF2-40B4-BE49-F238E27FC236}">
                <a16:creationId xmlns:a16="http://schemas.microsoft.com/office/drawing/2014/main" id="{8DDA3396-8761-DB4C-9838-43BB2654B4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D"/>
          </a:p>
        </p:txBody>
      </p:sp>
      <p:sp>
        <p:nvSpPr>
          <p:cNvPr id="4" name="Text Placeholder 3">
            <a:extLst>
              <a:ext uri="{FF2B5EF4-FFF2-40B4-BE49-F238E27FC236}">
                <a16:creationId xmlns:a16="http://schemas.microsoft.com/office/drawing/2014/main" id="{834A510F-7A36-7F40-9F38-F5F390F87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70E89D-14B4-364F-92CF-D89C25192112}"/>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6" name="Footer Placeholder 5">
            <a:extLst>
              <a:ext uri="{FF2B5EF4-FFF2-40B4-BE49-F238E27FC236}">
                <a16:creationId xmlns:a16="http://schemas.microsoft.com/office/drawing/2014/main" id="{6351FD21-7501-7C43-AF54-F32EB3A3D17D}"/>
              </a:ext>
            </a:extLst>
          </p:cNvPr>
          <p:cNvSpPr>
            <a:spLocks noGrp="1"/>
          </p:cNvSpPr>
          <p:nvPr>
            <p:ph type="ftr" sz="quarter" idx="11"/>
          </p:nvPr>
        </p:nvSpPr>
        <p:spPr/>
        <p:txBody>
          <a:bodyPr/>
          <a:lstStyle/>
          <a:p>
            <a:endParaRPr lang="en-BD"/>
          </a:p>
        </p:txBody>
      </p:sp>
      <p:sp>
        <p:nvSpPr>
          <p:cNvPr id="7" name="Slide Number Placeholder 6">
            <a:extLst>
              <a:ext uri="{FF2B5EF4-FFF2-40B4-BE49-F238E27FC236}">
                <a16:creationId xmlns:a16="http://schemas.microsoft.com/office/drawing/2014/main" id="{5D7D6E13-9E08-784E-A134-0314D6EE3AC2}"/>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575726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3292-E5F5-F141-A8E8-BB6E0FCB94F5}"/>
              </a:ext>
            </a:extLst>
          </p:cNvPr>
          <p:cNvSpPr>
            <a:spLocks noGrp="1"/>
          </p:cNvSpPr>
          <p:nvPr>
            <p:ph type="title"/>
          </p:nvPr>
        </p:nvSpPr>
        <p:spPr/>
        <p:txBody>
          <a:bodyPr/>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27D4EB22-0A2D-3F4D-AED2-64917AE8F76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93E047F9-A0C3-1A45-86AF-30603E974CA8}"/>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58FB9519-10A3-8F4F-9995-FBA84982D4EE}"/>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3662A4A9-36F6-A54C-94A2-56CDDE4667B8}"/>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906998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D25953-5754-8044-9716-84BB0A090F5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D"/>
          </a:p>
        </p:txBody>
      </p:sp>
      <p:sp>
        <p:nvSpPr>
          <p:cNvPr id="3" name="Vertical Text Placeholder 2">
            <a:extLst>
              <a:ext uri="{FF2B5EF4-FFF2-40B4-BE49-F238E27FC236}">
                <a16:creationId xmlns:a16="http://schemas.microsoft.com/office/drawing/2014/main" id="{18E1A135-86C5-4E4D-BD93-186AAE16ECA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5ACFA120-BDB7-D848-AC90-9FE83FEDB9A1}"/>
              </a:ext>
            </a:extLst>
          </p:cNvPr>
          <p:cNvSpPr>
            <a:spLocks noGrp="1"/>
          </p:cNvSpPr>
          <p:nvPr>
            <p:ph type="dt" sz="half" idx="10"/>
          </p:nvPr>
        </p:nvSpPr>
        <p:spPr/>
        <p:txBody>
          <a:body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8F4B1F53-94C1-5642-A4B0-645D6C7BC535}"/>
              </a:ext>
            </a:extLst>
          </p:cNvPr>
          <p:cNvSpPr>
            <a:spLocks noGrp="1"/>
          </p:cNvSpPr>
          <p:nvPr>
            <p:ph type="ftr" sz="quarter" idx="11"/>
          </p:nvPr>
        </p:nvSpPr>
        <p:spPr/>
        <p:txBody>
          <a:bodyPr/>
          <a:lstStyle/>
          <a:p>
            <a:endParaRPr lang="en-BD"/>
          </a:p>
        </p:txBody>
      </p:sp>
      <p:sp>
        <p:nvSpPr>
          <p:cNvPr id="6" name="Slide Number Placeholder 5">
            <a:extLst>
              <a:ext uri="{FF2B5EF4-FFF2-40B4-BE49-F238E27FC236}">
                <a16:creationId xmlns:a16="http://schemas.microsoft.com/office/drawing/2014/main" id="{113FAE7A-FDBF-5749-8760-71E7D40F819A}"/>
              </a:ext>
            </a:extLst>
          </p:cNvPr>
          <p:cNvSpPr>
            <a:spLocks noGrp="1"/>
          </p:cNvSpPr>
          <p:nvPr>
            <p:ph type="sldNum" sz="quarter" idx="12"/>
          </p:nvPr>
        </p:nvSpPr>
        <p:spPr/>
        <p:txBody>
          <a:bodyPr/>
          <a:lstStyle/>
          <a:p>
            <a:fld id="{B1AC5EE3-9BFA-814A-AFA6-F29E72D033EB}" type="slidenum">
              <a:rPr lang="en-BD" smtClean="0"/>
              <a:t>‹#›</a:t>
            </a:fld>
            <a:endParaRPr lang="en-BD"/>
          </a:p>
        </p:txBody>
      </p:sp>
    </p:spTree>
    <p:extLst>
      <p:ext uri="{BB962C8B-B14F-4D97-AF65-F5344CB8AC3E}">
        <p14:creationId xmlns:p14="http://schemas.microsoft.com/office/powerpoint/2010/main" val="227027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D19406-1135-0340-A833-9B69FEB119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D"/>
          </a:p>
        </p:txBody>
      </p:sp>
      <p:sp>
        <p:nvSpPr>
          <p:cNvPr id="3" name="Text Placeholder 2">
            <a:extLst>
              <a:ext uri="{FF2B5EF4-FFF2-40B4-BE49-F238E27FC236}">
                <a16:creationId xmlns:a16="http://schemas.microsoft.com/office/drawing/2014/main" id="{670A2CBC-F636-CB4B-9707-5D6EF8EB12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4" name="Date Placeholder 3">
            <a:extLst>
              <a:ext uri="{FF2B5EF4-FFF2-40B4-BE49-F238E27FC236}">
                <a16:creationId xmlns:a16="http://schemas.microsoft.com/office/drawing/2014/main" id="{2C02B79E-02C1-2C4C-BDFD-58FF97C8E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E98600-AFAC-DC44-88C7-E66A53905F06}" type="datetimeFigureOut">
              <a:rPr lang="en-BD" smtClean="0"/>
              <a:t>13/6/26</a:t>
            </a:fld>
            <a:endParaRPr lang="en-BD"/>
          </a:p>
        </p:txBody>
      </p:sp>
      <p:sp>
        <p:nvSpPr>
          <p:cNvPr id="5" name="Footer Placeholder 4">
            <a:extLst>
              <a:ext uri="{FF2B5EF4-FFF2-40B4-BE49-F238E27FC236}">
                <a16:creationId xmlns:a16="http://schemas.microsoft.com/office/drawing/2014/main" id="{00863286-949C-5848-80E5-BF557F1287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D"/>
          </a:p>
        </p:txBody>
      </p:sp>
      <p:sp>
        <p:nvSpPr>
          <p:cNvPr id="6" name="Slide Number Placeholder 5">
            <a:extLst>
              <a:ext uri="{FF2B5EF4-FFF2-40B4-BE49-F238E27FC236}">
                <a16:creationId xmlns:a16="http://schemas.microsoft.com/office/drawing/2014/main" id="{368EFE41-DE11-CD49-87AD-EAB64EAA68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C5EE3-9BFA-814A-AFA6-F29E72D033EB}" type="slidenum">
              <a:rPr lang="en-BD" smtClean="0"/>
              <a:t>‹#›</a:t>
            </a:fld>
            <a:endParaRPr lang="en-BD"/>
          </a:p>
        </p:txBody>
      </p:sp>
    </p:spTree>
    <p:extLst>
      <p:ext uri="{BB962C8B-B14F-4D97-AF65-F5344CB8AC3E}">
        <p14:creationId xmlns:p14="http://schemas.microsoft.com/office/powerpoint/2010/main" val="18967084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bibme.org/mla"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www.citationmachine.net/"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783-C4E5-7F44-A786-F95B92973A08}"/>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00272C-1784-A54B-980D-BD176A033AA0}"/>
              </a:ext>
            </a:extLst>
          </p:cNvPr>
          <p:cNvPicPr>
            <a:picLocks noGrp="1" noChangeAspect="1"/>
          </p:cNvPicPr>
          <p:nvPr>
            <p:ph idx="1"/>
          </p:nvPr>
        </p:nvPicPr>
        <p:blipFill>
          <a:blip r:embed="rId2"/>
          <a:stretch>
            <a:fillRect/>
          </a:stretch>
        </p:blipFill>
        <p:spPr>
          <a:xfrm>
            <a:off x="-59473" y="0"/>
            <a:ext cx="12310946" cy="6961227"/>
          </a:xfrm>
        </p:spPr>
      </p:pic>
      <p:sp>
        <p:nvSpPr>
          <p:cNvPr id="6" name="TextBox 5">
            <a:extLst>
              <a:ext uri="{FF2B5EF4-FFF2-40B4-BE49-F238E27FC236}">
                <a16:creationId xmlns:a16="http://schemas.microsoft.com/office/drawing/2014/main" id="{4B02B145-FC94-7040-9024-6B98D1A20F48}"/>
              </a:ext>
            </a:extLst>
          </p:cNvPr>
          <p:cNvSpPr txBox="1"/>
          <p:nvPr/>
        </p:nvSpPr>
        <p:spPr>
          <a:xfrm>
            <a:off x="2686971" y="1691561"/>
            <a:ext cx="6675559" cy="3970318"/>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Ethics &amp; </a:t>
            </a:r>
          </a:p>
          <a:p>
            <a:pPr algn="ctr">
              <a:lnSpc>
                <a:spcPct val="150000"/>
              </a:lnSpc>
            </a:pPr>
            <a:r>
              <a:rPr lang="en-BD" sz="5400" b="1" dirty="0">
                <a:latin typeface="MARKER FELT THIN" panose="02000400000000000000" pitchFamily="2" charset="77"/>
              </a:rPr>
              <a:t>Public Speaking</a:t>
            </a:r>
          </a:p>
          <a:p>
            <a:pPr algn="ctr">
              <a:lnSpc>
                <a:spcPct val="150000"/>
              </a:lnSpc>
            </a:pPr>
            <a:r>
              <a:rPr lang="en-BD" sz="2400" dirty="0">
                <a:latin typeface="Marker Felt Thin" panose="02000400000000000000" pitchFamily="2" charset="77"/>
              </a:rPr>
              <a:t>Chapter 2, NCA</a:t>
            </a:r>
          </a:p>
          <a:p>
            <a:pPr algn="ctr"/>
            <a:endParaRPr lang="en-BD" sz="5400" dirty="0">
              <a:latin typeface="Marker Felt Thin" panose="02000400000000000000" pitchFamily="2" charset="77"/>
            </a:endParaRPr>
          </a:p>
        </p:txBody>
      </p:sp>
    </p:spTree>
    <p:extLst>
      <p:ext uri="{BB962C8B-B14F-4D97-AF65-F5344CB8AC3E}">
        <p14:creationId xmlns:p14="http://schemas.microsoft.com/office/powerpoint/2010/main" val="1917987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445727" y="947854"/>
            <a:ext cx="5051502"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Learning Objectives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948720" y="1828800"/>
            <a:ext cx="8634335" cy="3719673"/>
          </a:xfrm>
          <a:prstGeom prst="rect">
            <a:avLst/>
          </a:prstGeom>
          <a:noFill/>
        </p:spPr>
        <p:txBody>
          <a:bodyPr wrap="square" rtlCol="0">
            <a:spAutoFit/>
          </a:bodyPr>
          <a:lstStyle/>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Definition of Ethics</a:t>
            </a:r>
          </a:p>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The Importance of Ethical Responsibilities of Public Speaking</a:t>
            </a:r>
          </a:p>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Ethical Guidelines of Speaking</a:t>
            </a:r>
          </a:p>
          <a:p>
            <a:pPr marL="285750" indent="-285750">
              <a:lnSpc>
                <a:spcPct val="150000"/>
              </a:lnSpc>
              <a:buFont typeface="Courier New" panose="02070309020205020404" pitchFamily="49" charset="0"/>
              <a:buChar char="o"/>
            </a:pPr>
            <a:r>
              <a:rPr lang="en-BD" sz="3200" b="1" dirty="0">
                <a:solidFill>
                  <a:srgbClr val="453E0F"/>
                </a:solidFill>
                <a:latin typeface="Abadi MT Condensed Light" panose="020B0306030101010103" pitchFamily="34" charset="77"/>
                <a:ea typeface="Roboto" pitchFamily="2" charset="0"/>
              </a:rPr>
              <a:t>Ethical Responsibilities of Listening</a:t>
            </a:r>
          </a:p>
        </p:txBody>
      </p:sp>
    </p:spTree>
    <p:extLst>
      <p:ext uri="{BB962C8B-B14F-4D97-AF65-F5344CB8AC3E}">
        <p14:creationId xmlns:p14="http://schemas.microsoft.com/office/powerpoint/2010/main" val="1854321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693422" y="2729622"/>
            <a:ext cx="6295869" cy="1193981"/>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What is Ethics?</a:t>
            </a:r>
          </a:p>
        </p:txBody>
      </p:sp>
    </p:spTree>
    <p:extLst>
      <p:ext uri="{BB962C8B-B14F-4D97-AF65-F5344CB8AC3E}">
        <p14:creationId xmlns:p14="http://schemas.microsoft.com/office/powerpoint/2010/main" val="891338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3432748" y="365125"/>
            <a:ext cx="6340839" cy="769441"/>
          </a:xfrm>
          <a:prstGeom prst="rect">
            <a:avLst/>
          </a:prstGeom>
          <a:noFill/>
        </p:spPr>
        <p:txBody>
          <a:bodyPr wrap="square" rtlCol="0">
            <a:spAutoFit/>
          </a:bodyPr>
          <a:lstStyle/>
          <a:p>
            <a:r>
              <a:rPr lang="en-BD" sz="4400" dirty="0">
                <a:latin typeface="Marker Felt Thin" panose="02000400000000000000" pitchFamily="2" charset="77"/>
              </a:rPr>
              <a:t>What is Ethics?</a:t>
            </a:r>
          </a:p>
        </p:txBody>
      </p:sp>
      <p:sp>
        <p:nvSpPr>
          <p:cNvPr id="11" name="TextBox 10">
            <a:extLst>
              <a:ext uri="{FF2B5EF4-FFF2-40B4-BE49-F238E27FC236}">
                <a16:creationId xmlns:a16="http://schemas.microsoft.com/office/drawing/2014/main" id="{7028BD0E-74EF-E949-B965-322D414A8D35}"/>
              </a:ext>
            </a:extLst>
          </p:cNvPr>
          <p:cNvSpPr txBox="1"/>
          <p:nvPr/>
        </p:nvSpPr>
        <p:spPr>
          <a:xfrm>
            <a:off x="1723869" y="1424066"/>
            <a:ext cx="9069049" cy="447487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400" dirty="0">
                <a:latin typeface="Abadi MT Condensed Light" panose="020B0306030101010103" pitchFamily="34" charset="77"/>
              </a:rPr>
              <a:t>Ethics is the branch of philosophy that deals with questions of right and wrong in human </a:t>
            </a:r>
            <a:r>
              <a:rPr lang="en-GB" sz="2400" dirty="0" err="1">
                <a:latin typeface="Abadi MT Condensed Light" panose="020B0306030101010103" pitchFamily="34" charset="77"/>
              </a:rPr>
              <a:t>behavior</a:t>
            </a:r>
            <a:r>
              <a:rPr lang="en-GB" sz="2400" dirty="0">
                <a:latin typeface="Abadi MT Condensed Light" panose="020B0306030101010103" pitchFamily="34" charset="77"/>
              </a:rPr>
              <a:t>. </a:t>
            </a:r>
            <a:r>
              <a:rPr lang="en-GB" sz="2400" b="1" dirty="0">
                <a:latin typeface="Abadi MT Condensed Light" panose="020B0306030101010103" pitchFamily="34" charset="77"/>
              </a:rPr>
              <a:t>In simple terms, ethics refers to the moral principles that guide the actions of individuals, groups, and societies. </a:t>
            </a:r>
          </a:p>
          <a:p>
            <a:pPr marL="285750" indent="-285750">
              <a:lnSpc>
                <a:spcPct val="150000"/>
              </a:lnSpc>
              <a:buFont typeface="Arial" panose="020B0604020202020204" pitchFamily="34" charset="0"/>
              <a:buChar char="•"/>
            </a:pPr>
            <a:r>
              <a:rPr lang="en-GB" sz="2400" b="1" dirty="0">
                <a:latin typeface="Abadi MT Condensed Light" panose="020B0306030101010103" pitchFamily="34" charset="77"/>
              </a:rPr>
              <a:t>Ethical questions arise whenever we consider whether an action is moral or immoral, fair or unfair, just or unjust, or honest or dishonest. </a:t>
            </a:r>
            <a:r>
              <a:rPr lang="en-GB" sz="2400" dirty="0">
                <a:latin typeface="Abadi MT Condensed Light" panose="020B0306030101010103" pitchFamily="34" charset="77"/>
              </a:rPr>
              <a:t>These questions are not abstract—they arise daily in our personal, academic, and professional lives.</a:t>
            </a:r>
          </a:p>
          <a:p>
            <a:pPr marL="285750" indent="-285750">
              <a:lnSpc>
                <a:spcPct val="150000"/>
              </a:lnSpc>
              <a:buFont typeface="Arial" panose="020B0604020202020204" pitchFamily="34" charset="0"/>
              <a:buChar char="•"/>
            </a:pPr>
            <a:r>
              <a:rPr lang="en-GB" sz="2400" b="1" dirty="0">
                <a:latin typeface="Abadi MT Condensed Light" panose="020B0306030101010103" pitchFamily="34" charset="77"/>
              </a:rPr>
              <a:t>Ethical considerations are especially important in communication and public speaking.</a:t>
            </a:r>
            <a:endParaRPr lang="en-BD" sz="2400" b="1" dirty="0">
              <a:latin typeface="Abadi MT Condensed Light" panose="020B0306030101010103" pitchFamily="34" charset="77"/>
            </a:endParaRPr>
          </a:p>
        </p:txBody>
      </p:sp>
    </p:spTree>
    <p:extLst>
      <p:ext uri="{BB962C8B-B14F-4D97-AF65-F5344CB8AC3E}">
        <p14:creationId xmlns:p14="http://schemas.microsoft.com/office/powerpoint/2010/main" val="1811732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681848" y="2312933"/>
            <a:ext cx="7463638" cy="2440476"/>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The Importance of Ethics in Public Speaking</a:t>
            </a:r>
          </a:p>
        </p:txBody>
      </p:sp>
    </p:spTree>
    <p:extLst>
      <p:ext uri="{BB962C8B-B14F-4D97-AF65-F5344CB8AC3E}">
        <p14:creationId xmlns:p14="http://schemas.microsoft.com/office/powerpoint/2010/main" val="3175724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170679" y="516969"/>
            <a:ext cx="550340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The Importance of Ethics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443158" y="1224855"/>
            <a:ext cx="9094213" cy="563314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Every academic discipline, from psychology to history, operates under a set of ethical principles designed to guide responsible practice, and public speaking is no exception. </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Whenever a speaker addresses an audience, </a:t>
            </a:r>
            <a:r>
              <a:rPr lang="en-GB" sz="2200" b="1" dirty="0">
                <a:latin typeface="Abadi MT Condensed Light" panose="020B0306030101010103" pitchFamily="34" charset="77"/>
                <a:ea typeface="Roboto" pitchFamily="2" charset="0"/>
              </a:rPr>
              <a:t>ethical decisions are involved—what information to include, how to present it, and how honestly and fairly it is communicated</a:t>
            </a:r>
            <a:r>
              <a:rPr lang="en-GB" sz="2200" dirty="0">
                <a:solidFill>
                  <a:srgbClr val="453E0F"/>
                </a:solidFill>
                <a:latin typeface="Abadi MT Condensed Light" panose="020B0306030101010103" pitchFamily="34" charset="77"/>
                <a:ea typeface="Roboto" pitchFamily="2" charset="0"/>
              </a:rPr>
              <a:t>.</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Public speaking is a form of power. Speakers have the ability to inform, persuade, influence beliefs, and shape public opinion. With that power comes responsibility. Ethical speakers use communication responsibly and with integrity, recognizing that their words can have meaningful consequences for others.</a:t>
            </a:r>
          </a:p>
          <a:p>
            <a:pPr marL="457200" indent="-457200">
              <a:lnSpc>
                <a:spcPct val="150000"/>
              </a:lnSpc>
              <a:buFont typeface="Arial" panose="020B0604020202020204" pitchFamily="34" charset="0"/>
              <a:buChar char="•"/>
            </a:pPr>
            <a:r>
              <a:rPr lang="en-GB" sz="2200" b="1" dirty="0">
                <a:latin typeface="Abadi MT Condensed Light" panose="020B0306030101010103" pitchFamily="34" charset="77"/>
              </a:rPr>
              <a:t> As students, this means recognizing that speeches are not just assignments for grades, but acts of communication that can affect how others think and act.</a:t>
            </a:r>
            <a:endParaRPr lang="en-GB" sz="2200" b="1"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99839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049859" y="121478"/>
            <a:ext cx="550340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The Importance of Ethics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415802" y="950842"/>
            <a:ext cx="9712037" cy="563314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200" b="1" dirty="0">
                <a:solidFill>
                  <a:srgbClr val="453E0F"/>
                </a:solidFill>
                <a:latin typeface="Abadi MT Condensed Light" panose="020B0306030101010103" pitchFamily="34" charset="77"/>
              </a:rPr>
              <a:t>Students face ethical issues at every stage of the speechmaking process—from choosing a topic, conducting research, and organizing ideas, to citing sources, using evidence honestly, and delivering the final presentation. </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rPr>
              <a:t>Ethical public speaking is not a onetime event. It does not just occur when you stand to give a 5-minute presentation to your classmates or </a:t>
            </a:r>
            <a:r>
              <a:rPr lang="en-GB" sz="2200" dirty="0" err="1">
                <a:solidFill>
                  <a:srgbClr val="453E0F"/>
                </a:solidFill>
                <a:latin typeface="Abadi MT Condensed Light" panose="020B0306030101010103" pitchFamily="34" charset="77"/>
              </a:rPr>
              <a:t>coworkers</a:t>
            </a:r>
            <a:r>
              <a:rPr lang="en-GB" sz="2200" dirty="0">
                <a:solidFill>
                  <a:srgbClr val="453E0F"/>
                </a:solidFill>
                <a:latin typeface="Abadi MT Condensed Light" panose="020B0306030101010103" pitchFamily="34" charset="77"/>
              </a:rPr>
              <a:t>. Ethical public speaking is a process. This process begins when you begin brainstorming the topic of your speech. </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rPr>
              <a:t>In an ideal world, all speakers would use their voices truthfully and for the good of society. History, however, demonstrates that speech can also be misused. Powerful communicators have sometimes manipulated audiences through misinformation, propaganda, and emotional appeals</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rPr>
              <a:t>Adolf Hitler is frequently cited as an example of how persuasive communication can be used unethically to influence public opinion and contribute to devastating consequences.</a:t>
            </a:r>
          </a:p>
        </p:txBody>
      </p:sp>
    </p:spTree>
    <p:extLst>
      <p:ext uri="{BB962C8B-B14F-4D97-AF65-F5344CB8AC3E}">
        <p14:creationId xmlns:p14="http://schemas.microsoft.com/office/powerpoint/2010/main" val="101983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3049859" y="121478"/>
            <a:ext cx="550340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The Importance of Ethics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372259" y="1237577"/>
            <a:ext cx="9712037" cy="2586157"/>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For students learning public speaking, this history underscores an important lesson: ethical communication is not optional. </a:t>
            </a:r>
            <a:r>
              <a:rPr lang="en-GB" sz="2200" b="1" dirty="0">
                <a:solidFill>
                  <a:srgbClr val="453E0F"/>
                </a:solidFill>
                <a:latin typeface="Abadi MT Condensed Light" panose="020B0306030101010103" pitchFamily="34" charset="77"/>
                <a:ea typeface="Roboto" pitchFamily="2" charset="0"/>
              </a:rPr>
              <a:t>Just as there are guidelines for ethical </a:t>
            </a:r>
            <a:r>
              <a:rPr lang="en-GB" sz="2200" b="1" dirty="0" err="1">
                <a:solidFill>
                  <a:srgbClr val="453E0F"/>
                </a:solidFill>
                <a:latin typeface="Abadi MT Condensed Light" panose="020B0306030101010103" pitchFamily="34" charset="77"/>
                <a:ea typeface="Roboto" pitchFamily="2" charset="0"/>
              </a:rPr>
              <a:t>behavior</a:t>
            </a:r>
            <a:r>
              <a:rPr lang="en-GB" sz="2200" b="1" dirty="0">
                <a:solidFill>
                  <a:srgbClr val="453E0F"/>
                </a:solidFill>
                <a:latin typeface="Abadi MT Condensed Light" panose="020B0306030101010103" pitchFamily="34" charset="77"/>
                <a:ea typeface="Roboto" pitchFamily="2" charset="0"/>
              </a:rPr>
              <a:t> in everyday life and in other academic fields, there are clear guidelines for ethical conduct in public speaking. By following these principles, students learn not only how to be effective speakers, but also how to be responsible, credible, and ethical communicators.</a:t>
            </a:r>
            <a:endParaRPr lang="en-BD" sz="2200" b="1"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984481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783-C4E5-7F44-A786-F95B92973A08}"/>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00272C-1784-A54B-980D-BD176A033AA0}"/>
              </a:ext>
            </a:extLst>
          </p:cNvPr>
          <p:cNvPicPr>
            <a:picLocks noGrp="1" noChangeAspect="1"/>
          </p:cNvPicPr>
          <p:nvPr>
            <p:ph idx="1"/>
          </p:nvPr>
        </p:nvPicPr>
        <p:blipFill>
          <a:blip r:embed="rId2"/>
          <a:stretch>
            <a:fillRect/>
          </a:stretch>
        </p:blipFill>
        <p:spPr>
          <a:xfrm>
            <a:off x="0" y="-51614"/>
            <a:ext cx="12310946" cy="6961227"/>
          </a:xfrm>
        </p:spPr>
      </p:pic>
      <p:sp>
        <p:nvSpPr>
          <p:cNvPr id="6" name="TextBox 5">
            <a:extLst>
              <a:ext uri="{FF2B5EF4-FFF2-40B4-BE49-F238E27FC236}">
                <a16:creationId xmlns:a16="http://schemas.microsoft.com/office/drawing/2014/main" id="{4B02B145-FC94-7040-9024-6B98D1A20F48}"/>
              </a:ext>
            </a:extLst>
          </p:cNvPr>
          <p:cNvSpPr txBox="1"/>
          <p:nvPr/>
        </p:nvSpPr>
        <p:spPr>
          <a:xfrm>
            <a:off x="2637017" y="2254886"/>
            <a:ext cx="6675559" cy="2585323"/>
          </a:xfrm>
          <a:prstGeom prst="rect">
            <a:avLst/>
          </a:prstGeom>
          <a:noFill/>
        </p:spPr>
        <p:txBody>
          <a:bodyPr wrap="square" rtlCol="0">
            <a:spAutoFit/>
          </a:bodyPr>
          <a:lstStyle/>
          <a:p>
            <a:pPr algn="ctr"/>
            <a:r>
              <a:rPr lang="en-BD" sz="5400" dirty="0">
                <a:latin typeface="Marker Felt Thin" panose="02000400000000000000" pitchFamily="2" charset="77"/>
              </a:rPr>
              <a:t>Guidelines For Ethical Conduct in Public Speaking</a:t>
            </a:r>
          </a:p>
        </p:txBody>
      </p:sp>
    </p:spTree>
    <p:extLst>
      <p:ext uri="{BB962C8B-B14F-4D97-AF65-F5344CB8AC3E}">
        <p14:creationId xmlns:p14="http://schemas.microsoft.com/office/powerpoint/2010/main" val="83416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3" y="253122"/>
            <a:ext cx="8471454"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Ethical Public Speaking Scenario</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399178" y="805253"/>
            <a:ext cx="9393644" cy="6052747"/>
          </a:xfrm>
          <a:prstGeom prst="rect">
            <a:avLst/>
          </a:prstGeom>
          <a:noFill/>
        </p:spPr>
        <p:txBody>
          <a:bodyPr wrap="square" rtlCol="0">
            <a:spAutoFit/>
          </a:bodyPr>
          <a:lstStyle/>
          <a:p>
            <a:pPr algn="just">
              <a:lnSpc>
                <a:spcPct val="150000"/>
              </a:lnSpc>
            </a:pPr>
            <a:r>
              <a:rPr lang="en-GB" sz="2000" dirty="0">
                <a:solidFill>
                  <a:srgbClr val="453E0F"/>
                </a:solidFill>
                <a:latin typeface="Abadi MT Condensed Light" panose="020B0306030101010103" pitchFamily="34" charset="77"/>
              </a:rPr>
              <a:t>Alex was assigned to give a speech about obesity and ways to promote healthier lifestyles. Because he waited until the last minute to prepare, he searched online for information and copied several paragraphs from a health website into his speech without citing the source. During his presentation, he presented the information as if it were his own research. Wanting to make his argument more convincing, Alex also exaggerated some facts. He told the class that "almost everyone who is obese will develop serious diseases before age 40," even though he had not verified the statistic and it was not supported by his sources. To make the speech more personal, Alex began talking about a student at school who struggles with weight. Although he did not use the student's full name, his description made it obvious who he was referring to. Alex discussed the student's eating habits and joked that the student was "the perfect example of what happens when you never exercise." Several classmates laughed, while the student looked embarrassed and uncomfortable. After the speech, some students felt that Alex's message was hurtful and unfair. The teacher later discovered that parts of the speech had been copied directly from online sources and some of the statistics were inaccurate.</a:t>
            </a:r>
            <a:endParaRPr lang="en-BD" sz="20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095297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3" y="253122"/>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496160" y="1482939"/>
            <a:ext cx="9393644" cy="51903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BD" sz="2300" b="1" dirty="0">
                <a:latin typeface="Abadi MT Condensed Light" panose="020B0306030101010103" pitchFamily="34" charset="77"/>
              </a:rPr>
              <a:t>Be fully prepared for each speech </a:t>
            </a:r>
            <a:r>
              <a:rPr lang="en-BD" sz="2300" dirty="0">
                <a:solidFill>
                  <a:srgbClr val="453E0F"/>
                </a:solidFill>
                <a:latin typeface="Abadi MT Condensed Light" panose="020B0306030101010103" pitchFamily="34" charset="77"/>
              </a:rPr>
              <a:t>– </a:t>
            </a:r>
            <a:r>
              <a:rPr lang="en-GB" sz="2200" dirty="0">
                <a:solidFill>
                  <a:srgbClr val="453E0F"/>
                </a:solidFill>
                <a:latin typeface="Abadi MT Condensed Light" panose="020B0306030101010103" pitchFamily="34" charset="77"/>
              </a:rPr>
              <a:t>Ethical public speaking requires thorough preparation. Speakers have a responsibility to themselves and to their audiences to deliver well-considered, accurate, and meaningful messages. Careful preparation enhances the quality and credibility of a speech while demonstrating respect for the audience's time and attention.</a:t>
            </a:r>
          </a:p>
          <a:p>
            <a:pPr marL="285750" indent="-28575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rPr>
              <a:t>Being prepared involves </a:t>
            </a:r>
            <a:r>
              <a:rPr lang="en-GB" sz="2200" dirty="0" err="1">
                <a:solidFill>
                  <a:srgbClr val="453E0F"/>
                </a:solidFill>
                <a:latin typeface="Abadi MT Condensed Light" panose="020B0306030101010103" pitchFamily="34" charset="77"/>
              </a:rPr>
              <a:t>analyzing</a:t>
            </a:r>
            <a:r>
              <a:rPr lang="en-GB" sz="2200" dirty="0">
                <a:solidFill>
                  <a:srgbClr val="453E0F"/>
                </a:solidFill>
                <a:latin typeface="Abadi MT Condensed Light" panose="020B0306030101010103" pitchFamily="34" charset="77"/>
              </a:rPr>
              <a:t> the audience, organizing ideas logically, developing effective visual aids, and rehearsing delivery. Most importantly, from an ethical standpoint, speakers must be well informed about their subject to avoid communicating inaccurate, misleading, or incomplete information. Regardless of the topic or audience, ethical speakers explore their subject as thoroughly as possible to ensure clarity, accuracy, and trustworthiness</a:t>
            </a:r>
          </a:p>
          <a:p>
            <a:pPr marL="285750" indent="-28575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042902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3" y="253122"/>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496160" y="1482939"/>
            <a:ext cx="9393644" cy="2258888"/>
          </a:xfrm>
          <a:prstGeom prst="rect">
            <a:avLst/>
          </a:prstGeom>
          <a:noFill/>
        </p:spPr>
        <p:txBody>
          <a:bodyPr wrap="square" rtlCol="0">
            <a:spAutoFit/>
          </a:bodyPr>
          <a:lstStyle/>
          <a:p>
            <a:pPr>
              <a:lnSpc>
                <a:spcPct val="150000"/>
              </a:lnSpc>
            </a:pPr>
            <a:r>
              <a:rPr lang="en-GB" sz="2400" b="1" dirty="0">
                <a:solidFill>
                  <a:srgbClr val="453E0F"/>
                </a:solidFill>
                <a:latin typeface="Abadi MT Condensed Light" panose="020B0306030101010103" pitchFamily="34" charset="77"/>
                <a:ea typeface="Roboto" pitchFamily="2" charset="0"/>
              </a:rPr>
              <a:t>For example, </a:t>
            </a:r>
            <a:r>
              <a:rPr lang="en-GB" sz="2400" dirty="0">
                <a:solidFill>
                  <a:srgbClr val="453E0F"/>
                </a:solidFill>
                <a:latin typeface="Abadi MT Condensed Light" panose="020B0306030101010103" pitchFamily="34" charset="77"/>
                <a:ea typeface="Roboto" pitchFamily="2" charset="0"/>
              </a:rPr>
              <a:t>a speaker giving a presentation on health and nutrition has an ethical obligation to research credible scientific sources rather than rely on personal opinions or outdated information. If the speaker fails to prepare and gives incorrect dietary advice, the audience could make harmful decisions based on that misinformation</a:t>
            </a: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405778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00829" y="302491"/>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399178" y="1414994"/>
            <a:ext cx="9393644" cy="61368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400" b="1" dirty="0">
                <a:latin typeface="Abadi MT Condensed Light" panose="020B0306030101010103" pitchFamily="34" charset="77"/>
                <a:ea typeface="Roboto" pitchFamily="2" charset="0"/>
              </a:rPr>
              <a:t>Be honest &amp; truthful- </a:t>
            </a:r>
            <a:r>
              <a:rPr lang="en-GB" sz="2400" dirty="0">
                <a:latin typeface="Abadi MT Condensed Light" panose="020B0306030101010103" pitchFamily="34" charset="77"/>
                <a:ea typeface="Roboto" pitchFamily="2" charset="0"/>
              </a:rPr>
              <a:t>Honesty is the foundation of ethical public speaking. Speakers should never intentionally deceive their audiences through false statements, misleading claims, or selective presentation of evidence.</a:t>
            </a:r>
          </a:p>
          <a:p>
            <a:pPr marL="285750" indent="-285750">
              <a:lnSpc>
                <a:spcPct val="150000"/>
              </a:lnSpc>
              <a:buFont typeface="Arial" panose="020B0604020202020204" pitchFamily="34" charset="0"/>
              <a:buChar char="•"/>
            </a:pPr>
            <a:r>
              <a:rPr lang="en-GB" sz="2400" dirty="0">
                <a:solidFill>
                  <a:srgbClr val="453E0F"/>
                </a:solidFill>
                <a:latin typeface="Abadi MT Condensed Light" panose="020B0306030101010103" pitchFamily="34" charset="77"/>
                <a:ea typeface="Roboto" pitchFamily="2" charset="0"/>
              </a:rPr>
              <a:t>Ethical violations do not only occur when information is completely fabricated; they also occur when speakers manipulate facts to create a misleading impression. Examples of subtle dishonesty include altering statistics, quoting sources out of context, exaggerating evidence, or misrepresenting the credibility of sources. All of these practices violate a speaker’s ethical responsibility to present information accurately, fairly, and transparently.</a:t>
            </a:r>
          </a:p>
          <a:p>
            <a:pPr marL="285750" indent="-285750">
              <a:lnSpc>
                <a:spcPct val="150000"/>
              </a:lnSpc>
              <a:buFont typeface="Arial" panose="020B0604020202020204" pitchFamily="34" charset="0"/>
              <a:buChar char="•"/>
            </a:pPr>
            <a:r>
              <a:rPr lang="en-BD" sz="2400" dirty="0">
                <a:solidFill>
                  <a:srgbClr val="453E0F"/>
                </a:solidFill>
                <a:latin typeface="Abadi MT Condensed Light" panose="020B0306030101010103" pitchFamily="34" charset="77"/>
                <a:ea typeface="Roboto" pitchFamily="2" charset="0"/>
              </a:rPr>
              <a:t>. </a:t>
            </a: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745141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00829" y="302491"/>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399178" y="1414994"/>
            <a:ext cx="9393644" cy="5028877"/>
          </a:xfrm>
          <a:prstGeom prst="rect">
            <a:avLst/>
          </a:prstGeom>
          <a:noFill/>
        </p:spPr>
        <p:txBody>
          <a:bodyPr wrap="square" rtlCol="0">
            <a:spAutoFit/>
          </a:bodyPr>
          <a:lstStyle/>
          <a:p>
            <a:pPr>
              <a:lnSpc>
                <a:spcPct val="150000"/>
              </a:lnSpc>
            </a:pPr>
            <a:r>
              <a:rPr lang="en-GB" sz="2400" b="1" dirty="0">
                <a:latin typeface="Abadi MT Condensed Light" panose="020B0306030101010103" pitchFamily="34" charset="77"/>
                <a:ea typeface="Roboto" pitchFamily="2" charset="0"/>
              </a:rPr>
              <a:t>Example:</a:t>
            </a:r>
          </a:p>
          <a:p>
            <a:pPr>
              <a:lnSpc>
                <a:spcPct val="150000"/>
              </a:lnSpc>
            </a:pPr>
            <a:r>
              <a:rPr lang="en-GB" sz="2400" dirty="0">
                <a:solidFill>
                  <a:srgbClr val="453E0F"/>
                </a:solidFill>
                <a:latin typeface="Abadi MT Condensed Light" panose="020B0306030101010103" pitchFamily="34" charset="77"/>
                <a:ea typeface="Roboto" pitchFamily="2" charset="0"/>
              </a:rPr>
              <a:t>A speaker arguing for a new public policy might claim that </a:t>
            </a:r>
            <a:r>
              <a:rPr lang="en-GB" sz="2400" b="1" dirty="0">
                <a:latin typeface="Abadi MT Condensed Light" panose="020B0306030101010103" pitchFamily="34" charset="77"/>
                <a:ea typeface="Roboto" pitchFamily="2" charset="0"/>
              </a:rPr>
              <a:t>“studies prove overwhelming support,” while only citing one small survey or selectively reporting </a:t>
            </a:r>
            <a:r>
              <a:rPr lang="en-GB" sz="2400" b="1" dirty="0" err="1">
                <a:latin typeface="Abadi MT Condensed Light" panose="020B0306030101010103" pitchFamily="34" charset="77"/>
                <a:ea typeface="Roboto" pitchFamily="2" charset="0"/>
              </a:rPr>
              <a:t>favorable</a:t>
            </a:r>
            <a:r>
              <a:rPr lang="en-GB" sz="2400" b="1" dirty="0">
                <a:latin typeface="Abadi MT Condensed Light" panose="020B0306030101010103" pitchFamily="34" charset="77"/>
                <a:ea typeface="Roboto" pitchFamily="2" charset="0"/>
              </a:rPr>
              <a:t> results. </a:t>
            </a:r>
            <a:r>
              <a:rPr lang="en-GB" sz="2400" dirty="0">
                <a:solidFill>
                  <a:srgbClr val="453E0F"/>
                </a:solidFill>
                <a:latin typeface="Abadi MT Condensed Light" panose="020B0306030101010103" pitchFamily="34" charset="77"/>
                <a:ea typeface="Roboto" pitchFamily="2" charset="0"/>
              </a:rPr>
              <a:t>Even if the data is technically real, presenting it in a misleading way deceives the audience and undermines trust. </a:t>
            </a:r>
            <a:r>
              <a:rPr lang="en-GB" sz="2400" b="1" dirty="0">
                <a:latin typeface="Abadi MT Condensed Light" panose="020B0306030101010103" pitchFamily="34" charset="77"/>
                <a:ea typeface="Roboto" pitchFamily="2" charset="0"/>
              </a:rPr>
              <a:t>Ethical speakers, by contrast, present evidence honestly, acknowledge limitations, and allow audiences to make informed judgments based on accurate information.</a:t>
            </a:r>
          </a:p>
          <a:p>
            <a:pPr>
              <a:lnSpc>
                <a:spcPct val="150000"/>
              </a:lnSpc>
            </a:pPr>
            <a:r>
              <a:rPr lang="en-BD" sz="2400" dirty="0">
                <a:solidFill>
                  <a:srgbClr val="453E0F"/>
                </a:solidFill>
                <a:latin typeface="Abadi MT Condensed Light" panose="020B0306030101010103" pitchFamily="34" charset="77"/>
                <a:ea typeface="Roboto" pitchFamily="2" charset="0"/>
              </a:rPr>
              <a:t>. </a:t>
            </a: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914777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3" y="150091"/>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482174" y="1262594"/>
            <a:ext cx="8700917" cy="643695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BD" sz="2300" b="1" dirty="0">
                <a:latin typeface="Abadi MT Condensed Light" panose="020B0306030101010103" pitchFamily="34" charset="77"/>
              </a:rPr>
              <a:t>Ethical communicators do not plagiarize </a:t>
            </a:r>
            <a:r>
              <a:rPr lang="en-BD" sz="2300" dirty="0">
                <a:solidFill>
                  <a:srgbClr val="453E0F"/>
                </a:solidFill>
                <a:latin typeface="Abadi MT Condensed Light" panose="020B0306030101010103" pitchFamily="34" charset="77"/>
              </a:rPr>
              <a:t>-</a:t>
            </a:r>
            <a:r>
              <a:rPr lang="en-GB" sz="2300" dirty="0">
                <a:solidFill>
                  <a:srgbClr val="453E0F"/>
                </a:solidFill>
                <a:latin typeface="Abadi MT Condensed Light" panose="020B0306030101010103" pitchFamily="34" charset="77"/>
              </a:rPr>
              <a:t>Ethical communicators do not present others’ ideas, words, or work as their own. Plagiarism in public speaking includes using quotations, statistics, or unique ideas without crediting the original source. This practice is unethical because it misleads the audience and fails to respect intellectual ownership.</a:t>
            </a:r>
          </a:p>
          <a:p>
            <a:pPr>
              <a:lnSpc>
                <a:spcPct val="150000"/>
              </a:lnSpc>
            </a:pPr>
            <a:r>
              <a:rPr lang="en-GB" sz="2300" b="1" dirty="0">
                <a:latin typeface="Abadi MT Condensed Light" panose="020B0306030101010103" pitchFamily="34" charset="77"/>
                <a:ea typeface="Roboto" pitchFamily="2" charset="0"/>
              </a:rPr>
              <a:t>Example:</a:t>
            </a:r>
            <a:br>
              <a:rPr lang="en-GB" sz="2300" dirty="0">
                <a:solidFill>
                  <a:srgbClr val="453E0F"/>
                </a:solidFill>
                <a:latin typeface="Abadi MT Condensed Light" panose="020B0306030101010103" pitchFamily="34" charset="77"/>
                <a:ea typeface="Roboto" pitchFamily="2" charset="0"/>
              </a:rPr>
            </a:br>
            <a:r>
              <a:rPr lang="en-GB" sz="2300" dirty="0">
                <a:solidFill>
                  <a:srgbClr val="453E0F"/>
                </a:solidFill>
                <a:latin typeface="Abadi MT Condensed Light" panose="020B0306030101010103" pitchFamily="34" charset="77"/>
                <a:ea typeface="Roboto" pitchFamily="2" charset="0"/>
              </a:rPr>
              <a:t>A student giving a speech on climate change uses a powerful statistic from a United Nations report. Instead of presenting it as personal research, the student clearly states, “According to a 2023 United Nations report…”. By citing the source aloud, the speaker avoids plagiarism and maintains credibility and ethical integrity.</a:t>
            </a:r>
            <a:endParaRPr lang="en-BD" sz="2300"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endParaRPr lang="en-GB" sz="2300" dirty="0">
              <a:solidFill>
                <a:srgbClr val="453E0F"/>
              </a:solidFill>
              <a:latin typeface="Abadi MT Condensed Light" panose="020B0306030101010103" pitchFamily="34" charset="77"/>
            </a:endParaRP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781607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1404768" y="761916"/>
            <a:ext cx="9543396" cy="1323439"/>
          </a:xfrm>
          <a:prstGeom prst="rect">
            <a:avLst/>
          </a:prstGeom>
          <a:noFill/>
        </p:spPr>
        <p:txBody>
          <a:bodyPr wrap="square" rtlCol="0">
            <a:spAutoFit/>
          </a:bodyPr>
          <a:lstStyle/>
          <a:p>
            <a:pPr algn="ctr"/>
            <a:r>
              <a:rPr lang="en-BD" sz="3600" dirty="0">
                <a:latin typeface="Marker Felt Thin" panose="02000400000000000000" pitchFamily="2" charset="77"/>
              </a:rPr>
              <a:t>Guidelines For Ethical Conduct in Public Speaking</a:t>
            </a:r>
          </a:p>
          <a:p>
            <a:endParaRPr lang="en-BD" sz="4400" dirty="0">
              <a:latin typeface="Marker Felt Thin" panose="02000400000000000000" pitchFamily="2" charset="77"/>
            </a:endParaRPr>
          </a:p>
        </p:txBody>
      </p:sp>
      <p:sp>
        <p:nvSpPr>
          <p:cNvPr id="11" name="TextBox 10">
            <a:extLst>
              <a:ext uri="{FF2B5EF4-FFF2-40B4-BE49-F238E27FC236}">
                <a16:creationId xmlns:a16="http://schemas.microsoft.com/office/drawing/2014/main" id="{7028BD0E-74EF-E949-B965-322D414A8D35}"/>
              </a:ext>
            </a:extLst>
          </p:cNvPr>
          <p:cNvSpPr txBox="1"/>
          <p:nvPr/>
        </p:nvSpPr>
        <p:spPr>
          <a:xfrm>
            <a:off x="1718183" y="1423788"/>
            <a:ext cx="9229981" cy="53812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BD" sz="2100" dirty="0">
                <a:solidFill>
                  <a:srgbClr val="453E0F"/>
                </a:solidFill>
                <a:latin typeface="Abadi MT Condensed Light" panose="020B0306030101010103" pitchFamily="34" charset="77"/>
              </a:rPr>
              <a:t>There are </a:t>
            </a:r>
            <a:r>
              <a:rPr lang="en-BD" sz="2100" b="1" dirty="0">
                <a:latin typeface="Abadi MT Condensed Light" panose="020B0306030101010103" pitchFamily="34" charset="77"/>
              </a:rPr>
              <a:t>3 types of plagiarism</a:t>
            </a:r>
            <a:r>
              <a:rPr lang="en-BD" sz="2100" dirty="0">
                <a:solidFill>
                  <a:srgbClr val="453E0F"/>
                </a:solidFill>
                <a:latin typeface="Abadi MT Condensed Light" panose="020B0306030101010103" pitchFamily="34" charset="77"/>
              </a:rPr>
              <a:t> –</a:t>
            </a:r>
            <a:r>
              <a:rPr lang="en-BD" sz="2100" b="1" dirty="0">
                <a:latin typeface="Abadi MT Condensed Light" panose="020B0306030101010103" pitchFamily="34" charset="77"/>
              </a:rPr>
              <a:t> global plagiarism, patchwork plagiarism and incremental plagiarism</a:t>
            </a:r>
          </a:p>
          <a:p>
            <a:pPr marL="285750" indent="-285750">
              <a:lnSpc>
                <a:spcPct val="150000"/>
              </a:lnSpc>
              <a:buFont typeface="Arial" panose="020B0604020202020204" pitchFamily="34" charset="0"/>
              <a:buChar char="•"/>
            </a:pPr>
            <a:r>
              <a:rPr lang="en-GB" sz="2100" b="1" dirty="0">
                <a:solidFill>
                  <a:srgbClr val="453E0F"/>
                </a:solidFill>
                <a:latin typeface="Abadi MT Condensed Light" panose="020B0306030101010103" pitchFamily="34" charset="77"/>
              </a:rPr>
              <a:t>Global plagiarism occurs when a speaker or writer takes an entire speech or major portion of work from a single source and presents it as their own. This is the most obvious form of plagiarism. For example, if a student finds a speech on the Internet or borrows a former speech from a roommate and recites that speech verbatim, global plagiarism has occurred.</a:t>
            </a:r>
          </a:p>
          <a:p>
            <a:pPr marL="285750" indent="-285750">
              <a:lnSpc>
                <a:spcPct val="150000"/>
              </a:lnSpc>
              <a:buFont typeface="Arial" panose="020B0604020202020204" pitchFamily="34" charset="0"/>
              <a:buChar char="•"/>
            </a:pPr>
            <a:r>
              <a:rPr lang="en-GB" sz="2100" b="1" dirty="0">
                <a:solidFill>
                  <a:srgbClr val="453E0F"/>
                </a:solidFill>
                <a:latin typeface="Abadi MT Condensed Light" panose="020B0306030101010103" pitchFamily="34" charset="77"/>
              </a:rPr>
              <a:t>The best way to avoid global plagiarism is to begin preparing early, allowing enough time to research, organize ideas, and develop an original speech rather than relying on someone else’s work</a:t>
            </a:r>
          </a:p>
          <a:p>
            <a:pPr marL="285750" indent="-285750">
              <a:lnSpc>
                <a:spcPct val="150000"/>
              </a:lnSpc>
              <a:buFont typeface="Arial" panose="020B0604020202020204" pitchFamily="34" charset="0"/>
              <a:buChar char="•"/>
            </a:pPr>
            <a:endParaRPr lang="en-BD" sz="2100" b="1" dirty="0">
              <a:latin typeface="Abadi MT Condensed Light" panose="020B0306030101010103" pitchFamily="34" charset="77"/>
            </a:endParaRPr>
          </a:p>
          <a:p>
            <a:pPr>
              <a:lnSpc>
                <a:spcPct val="150000"/>
              </a:lnSpc>
            </a:pPr>
            <a:endParaRPr lang="en-BD" sz="21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3612341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0" y="791685"/>
            <a:ext cx="11852476"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Types of Plagiarism</a:t>
            </a:r>
          </a:p>
        </p:txBody>
      </p:sp>
      <p:sp>
        <p:nvSpPr>
          <p:cNvPr id="2" name="TextBox 1">
            <a:extLst>
              <a:ext uri="{FF2B5EF4-FFF2-40B4-BE49-F238E27FC236}">
                <a16:creationId xmlns:a16="http://schemas.microsoft.com/office/drawing/2014/main" id="{A16A5DAE-D0A6-0C41-ABC5-B0D5F7CF34A3}"/>
              </a:ext>
            </a:extLst>
          </p:cNvPr>
          <p:cNvSpPr txBox="1"/>
          <p:nvPr/>
        </p:nvSpPr>
        <p:spPr>
          <a:xfrm>
            <a:off x="1890784" y="2462399"/>
            <a:ext cx="8797637" cy="4093428"/>
          </a:xfrm>
          <a:prstGeom prst="rect">
            <a:avLst/>
          </a:prstGeom>
          <a:noFill/>
        </p:spPr>
        <p:txBody>
          <a:bodyPr wrap="square" rtlCol="0">
            <a:spAutoFit/>
          </a:bodyPr>
          <a:lstStyle/>
          <a:p>
            <a:r>
              <a:rPr lang="en-BD" b="1" dirty="0"/>
              <a:t>      </a:t>
            </a:r>
            <a:r>
              <a:rPr lang="en-BD" sz="1600" b="1" dirty="0"/>
              <a:t>Global Plagiarism            </a:t>
            </a:r>
            <a:r>
              <a:rPr lang="en-BD" sz="1600" dirty="0"/>
              <a:t>Taking an entire work and presenting </a:t>
            </a:r>
          </a:p>
          <a:p>
            <a:r>
              <a:rPr lang="en-BD" sz="1600" dirty="0"/>
              <a:t>                                                   it as your own.</a:t>
            </a:r>
          </a:p>
          <a:p>
            <a:endParaRPr lang="en-BD" sz="1600" dirty="0"/>
          </a:p>
          <a:p>
            <a:endParaRPr lang="en-BD" sz="1600" dirty="0"/>
          </a:p>
          <a:p>
            <a:endParaRPr lang="en-BD" sz="1600" dirty="0"/>
          </a:p>
          <a:p>
            <a:r>
              <a:rPr lang="en-BD" sz="1600" b="1" dirty="0"/>
              <a:t>Patchwork Plagiarism              </a:t>
            </a:r>
            <a:r>
              <a:rPr lang="en-GB" sz="1600" dirty="0"/>
              <a:t>When a writer pieces together various </a:t>
            </a:r>
          </a:p>
          <a:p>
            <a:r>
              <a:rPr lang="en-GB" sz="1600" dirty="0"/>
              <a:t>                                                   phrases, sentences, or sections from multiple </a:t>
            </a:r>
          </a:p>
          <a:p>
            <a:r>
              <a:rPr lang="en-GB" sz="1600" dirty="0"/>
              <a:t>                                                   sources  without citation and mixes them </a:t>
            </a:r>
          </a:p>
          <a:p>
            <a:r>
              <a:rPr lang="en-GB" sz="1600" dirty="0"/>
              <a:t>                                                   together to create a new work.</a:t>
            </a:r>
            <a:endParaRPr lang="en-BD" sz="1600" dirty="0"/>
          </a:p>
          <a:p>
            <a:endParaRPr lang="en-BD" sz="1600" dirty="0"/>
          </a:p>
          <a:p>
            <a:endParaRPr lang="en-BD" sz="1600" dirty="0"/>
          </a:p>
          <a:p>
            <a:endParaRPr lang="en-BD" sz="1600" dirty="0"/>
          </a:p>
          <a:p>
            <a:r>
              <a:rPr lang="en-BD" sz="1600" b="1" dirty="0"/>
              <a:t>Incremental Plagiarism         </a:t>
            </a:r>
            <a:r>
              <a:rPr lang="en-GB" sz="1600" dirty="0"/>
              <a:t>when a writer uses small portions of someone </a:t>
            </a:r>
          </a:p>
          <a:p>
            <a:r>
              <a:rPr lang="en-GB" sz="1600" dirty="0"/>
              <a:t>                                                  else's work (like phrases, sentences, or ideas)</a:t>
            </a:r>
          </a:p>
          <a:p>
            <a:r>
              <a:rPr lang="en-GB" sz="1600" dirty="0"/>
              <a:t>                                                   but fails to cite them appropriately.</a:t>
            </a:r>
          </a:p>
          <a:p>
            <a:endParaRPr lang="en-BD" dirty="0"/>
          </a:p>
        </p:txBody>
      </p:sp>
      <p:cxnSp>
        <p:nvCxnSpPr>
          <p:cNvPr id="4" name="Straight Connector 3">
            <a:extLst>
              <a:ext uri="{FF2B5EF4-FFF2-40B4-BE49-F238E27FC236}">
                <a16:creationId xmlns:a16="http://schemas.microsoft.com/office/drawing/2014/main" id="{7A6BEA5A-ADB9-184D-AC90-CA19A88C6232}"/>
              </a:ext>
            </a:extLst>
          </p:cNvPr>
          <p:cNvCxnSpPr>
            <a:cxnSpLocks/>
          </p:cNvCxnSpPr>
          <p:nvPr/>
        </p:nvCxnSpPr>
        <p:spPr>
          <a:xfrm>
            <a:off x="4156363" y="1748879"/>
            <a:ext cx="0" cy="477981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F5048AE5-DF70-A747-875C-A81F477B2173}"/>
              </a:ext>
            </a:extLst>
          </p:cNvPr>
          <p:cNvCxnSpPr>
            <a:cxnSpLocks/>
          </p:cNvCxnSpPr>
          <p:nvPr/>
        </p:nvCxnSpPr>
        <p:spPr>
          <a:xfrm>
            <a:off x="8160326" y="1702419"/>
            <a:ext cx="0" cy="477981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FF51ED7-B37E-EE45-8B87-66B8389FF597}"/>
              </a:ext>
            </a:extLst>
          </p:cNvPr>
          <p:cNvCxnSpPr>
            <a:cxnSpLocks/>
          </p:cNvCxnSpPr>
          <p:nvPr/>
        </p:nvCxnSpPr>
        <p:spPr>
          <a:xfrm flipH="1">
            <a:off x="2004050" y="5458692"/>
            <a:ext cx="818389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374AFC4-8AEF-454F-968E-365844F60229}"/>
              </a:ext>
            </a:extLst>
          </p:cNvPr>
          <p:cNvCxnSpPr>
            <a:cxnSpLocks/>
          </p:cNvCxnSpPr>
          <p:nvPr/>
        </p:nvCxnSpPr>
        <p:spPr>
          <a:xfrm flipH="1">
            <a:off x="2004050" y="3429000"/>
            <a:ext cx="818389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7A164D02-F880-994D-99DC-5A673D261B94}"/>
              </a:ext>
            </a:extLst>
          </p:cNvPr>
          <p:cNvCxnSpPr>
            <a:cxnSpLocks/>
          </p:cNvCxnSpPr>
          <p:nvPr/>
        </p:nvCxnSpPr>
        <p:spPr>
          <a:xfrm flipH="1">
            <a:off x="1884218" y="2073398"/>
            <a:ext cx="830373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920128A-B029-3A4C-8A52-B8DB6966EC38}"/>
              </a:ext>
            </a:extLst>
          </p:cNvPr>
          <p:cNvCxnSpPr>
            <a:cxnSpLocks/>
          </p:cNvCxnSpPr>
          <p:nvPr/>
        </p:nvCxnSpPr>
        <p:spPr>
          <a:xfrm flipH="1">
            <a:off x="2004050" y="1717965"/>
            <a:ext cx="818389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5C01AD1E-B76C-2B41-BB83-5C47856C257F}"/>
              </a:ext>
            </a:extLst>
          </p:cNvPr>
          <p:cNvSpPr txBox="1"/>
          <p:nvPr/>
        </p:nvSpPr>
        <p:spPr>
          <a:xfrm>
            <a:off x="8253664" y="2203497"/>
            <a:ext cx="2632364" cy="738664"/>
          </a:xfrm>
          <a:prstGeom prst="rect">
            <a:avLst/>
          </a:prstGeom>
          <a:noFill/>
        </p:spPr>
        <p:txBody>
          <a:bodyPr wrap="square" rtlCol="0">
            <a:spAutoFit/>
          </a:bodyPr>
          <a:lstStyle/>
          <a:p>
            <a:r>
              <a:rPr lang="en-BD" sz="1400" dirty="0"/>
              <a:t>Submitting an essay</a:t>
            </a:r>
          </a:p>
          <a:p>
            <a:r>
              <a:rPr lang="en-BD" sz="1400" dirty="0"/>
              <a:t> you found online as </a:t>
            </a:r>
          </a:p>
          <a:p>
            <a:r>
              <a:rPr lang="en-BD" sz="1400" dirty="0"/>
              <a:t>your own</a:t>
            </a:r>
          </a:p>
        </p:txBody>
      </p:sp>
      <p:sp>
        <p:nvSpPr>
          <p:cNvPr id="24" name="TextBox 23">
            <a:extLst>
              <a:ext uri="{FF2B5EF4-FFF2-40B4-BE49-F238E27FC236}">
                <a16:creationId xmlns:a16="http://schemas.microsoft.com/office/drawing/2014/main" id="{0B2B02CC-D657-D54A-B867-4D2CB55BA9FB}"/>
              </a:ext>
            </a:extLst>
          </p:cNvPr>
          <p:cNvSpPr txBox="1"/>
          <p:nvPr/>
        </p:nvSpPr>
        <p:spPr>
          <a:xfrm>
            <a:off x="8253664" y="3525968"/>
            <a:ext cx="2632364" cy="1477328"/>
          </a:xfrm>
          <a:prstGeom prst="rect">
            <a:avLst/>
          </a:prstGeom>
          <a:noFill/>
        </p:spPr>
        <p:txBody>
          <a:bodyPr wrap="square" rtlCol="0">
            <a:spAutoFit/>
          </a:bodyPr>
          <a:lstStyle/>
          <a:p>
            <a:r>
              <a:rPr lang="en-GB" sz="1500" dirty="0"/>
              <a:t>You write an essay on but take sentences from various articles and put them together with little or no change to the wording, and you don’t properly cite those source</a:t>
            </a:r>
            <a:endParaRPr lang="en-BD" sz="1500" dirty="0"/>
          </a:p>
        </p:txBody>
      </p:sp>
      <p:sp>
        <p:nvSpPr>
          <p:cNvPr id="26" name="TextBox 25">
            <a:extLst>
              <a:ext uri="{FF2B5EF4-FFF2-40B4-BE49-F238E27FC236}">
                <a16:creationId xmlns:a16="http://schemas.microsoft.com/office/drawing/2014/main" id="{DFA4D80A-F7EA-8743-9873-F1F1ACF9FC3D}"/>
              </a:ext>
            </a:extLst>
          </p:cNvPr>
          <p:cNvSpPr txBox="1"/>
          <p:nvPr/>
        </p:nvSpPr>
        <p:spPr>
          <a:xfrm>
            <a:off x="8181469" y="5481274"/>
            <a:ext cx="2632364" cy="1092607"/>
          </a:xfrm>
          <a:prstGeom prst="rect">
            <a:avLst/>
          </a:prstGeom>
          <a:noFill/>
        </p:spPr>
        <p:txBody>
          <a:bodyPr wrap="square" rtlCol="0">
            <a:spAutoFit/>
          </a:bodyPr>
          <a:lstStyle/>
          <a:p>
            <a:r>
              <a:rPr lang="en-GB" sz="1300" dirty="0"/>
              <a:t>You write an essay on but take sentences from various articles and put them together with little or no change to the wording, and you don’t properly cite those source</a:t>
            </a:r>
            <a:endParaRPr lang="en-BD" sz="1300" dirty="0"/>
          </a:p>
        </p:txBody>
      </p:sp>
      <p:sp>
        <p:nvSpPr>
          <p:cNvPr id="27" name="TextBox 26">
            <a:extLst>
              <a:ext uri="{FF2B5EF4-FFF2-40B4-BE49-F238E27FC236}">
                <a16:creationId xmlns:a16="http://schemas.microsoft.com/office/drawing/2014/main" id="{901D7106-D85D-1C4E-8D67-76DF3D9D278D}"/>
              </a:ext>
            </a:extLst>
          </p:cNvPr>
          <p:cNvSpPr txBox="1"/>
          <p:nvPr/>
        </p:nvSpPr>
        <p:spPr>
          <a:xfrm>
            <a:off x="2197654" y="1702419"/>
            <a:ext cx="8183898" cy="369332"/>
          </a:xfrm>
          <a:prstGeom prst="rect">
            <a:avLst/>
          </a:prstGeom>
          <a:noFill/>
        </p:spPr>
        <p:txBody>
          <a:bodyPr wrap="square" rtlCol="0">
            <a:spAutoFit/>
          </a:bodyPr>
          <a:lstStyle/>
          <a:p>
            <a:r>
              <a:rPr lang="en-BD" b="1" dirty="0"/>
              <a:t>Type                                 Definition                                                                Example</a:t>
            </a:r>
          </a:p>
        </p:txBody>
      </p:sp>
    </p:spTree>
    <p:extLst>
      <p:ext uri="{BB962C8B-B14F-4D97-AF65-F5344CB8AC3E}">
        <p14:creationId xmlns:p14="http://schemas.microsoft.com/office/powerpoint/2010/main" val="253769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1404768" y="761916"/>
            <a:ext cx="9543396" cy="1323439"/>
          </a:xfrm>
          <a:prstGeom prst="rect">
            <a:avLst/>
          </a:prstGeom>
          <a:noFill/>
        </p:spPr>
        <p:txBody>
          <a:bodyPr wrap="square" rtlCol="0">
            <a:spAutoFit/>
          </a:bodyPr>
          <a:lstStyle/>
          <a:p>
            <a:pPr algn="ctr"/>
            <a:r>
              <a:rPr lang="en-BD" sz="3600" dirty="0">
                <a:latin typeface="Marker Felt Thin" panose="02000400000000000000" pitchFamily="2" charset="77"/>
              </a:rPr>
              <a:t>Guidelines For Ethical Conduct in Public Speaking</a:t>
            </a:r>
          </a:p>
          <a:p>
            <a:endParaRPr lang="en-BD" sz="4400" dirty="0">
              <a:latin typeface="Marker Felt Thin" panose="02000400000000000000" pitchFamily="2" charset="77"/>
            </a:endParaRPr>
          </a:p>
        </p:txBody>
      </p:sp>
      <p:sp>
        <p:nvSpPr>
          <p:cNvPr id="11" name="TextBox 10">
            <a:extLst>
              <a:ext uri="{FF2B5EF4-FFF2-40B4-BE49-F238E27FC236}">
                <a16:creationId xmlns:a16="http://schemas.microsoft.com/office/drawing/2014/main" id="{7028BD0E-74EF-E949-B965-322D414A8D35}"/>
              </a:ext>
            </a:extLst>
          </p:cNvPr>
          <p:cNvSpPr txBox="1"/>
          <p:nvPr/>
        </p:nvSpPr>
        <p:spPr>
          <a:xfrm>
            <a:off x="1718183" y="1423788"/>
            <a:ext cx="9069049" cy="48965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100" b="1" dirty="0">
                <a:latin typeface="Abadi MT Condensed Light" panose="020B0306030101010103" pitchFamily="34" charset="77"/>
              </a:rPr>
              <a:t>Patchwork plagiarism </a:t>
            </a:r>
            <a:r>
              <a:rPr lang="en-GB" sz="2100" dirty="0">
                <a:latin typeface="Abadi MT Condensed Light" panose="020B0306030101010103" pitchFamily="34" charset="77"/>
              </a:rPr>
              <a:t>involves </a:t>
            </a:r>
            <a:r>
              <a:rPr lang="en-GB" sz="2100" b="1" dirty="0">
                <a:latin typeface="Abadi MT Condensed Light" panose="020B0306030101010103" pitchFamily="34" charset="77"/>
              </a:rPr>
              <a:t>borrowing ideas, phrases, or sentences from multiple sources and combining them into a new work without proper acknowledgment</a:t>
            </a:r>
            <a:r>
              <a:rPr lang="en-GB" sz="2100" dirty="0">
                <a:latin typeface="Abadi MT Condensed Light" panose="020B0306030101010103" pitchFamily="34" charset="77"/>
              </a:rPr>
              <a:t>. Copying from several sources is no less unethical than copying from one. In public speaking, audiences do not expect speakers to present completely original ideas; instead, they expect speakers to research their topic carefully and present information responsibly. Ethical speakers conduct thorough research and give proper credit to the sources they use</a:t>
            </a:r>
            <a:r>
              <a:rPr lang="en-GB" sz="2100" b="1" dirty="0">
                <a:latin typeface="Abadi MT Condensed Light" panose="020B0306030101010103" pitchFamily="34" charset="77"/>
              </a:rPr>
              <a:t>.</a:t>
            </a:r>
            <a:endParaRPr lang="en-BD" sz="2100" b="1" dirty="0">
              <a:latin typeface="Abadi MT Condensed Light" panose="020B0306030101010103" pitchFamily="34" charset="77"/>
            </a:endParaRPr>
          </a:p>
          <a:p>
            <a:pPr marL="342900" indent="-342900">
              <a:lnSpc>
                <a:spcPct val="150000"/>
              </a:lnSpc>
              <a:buFont typeface="Arial" panose="020B0604020202020204" pitchFamily="34" charset="0"/>
              <a:buChar char="•"/>
            </a:pPr>
            <a:r>
              <a:rPr lang="en-GB" sz="2100" b="1" dirty="0">
                <a:latin typeface="Abadi MT Condensed Light" panose="020B0306030101010103" pitchFamily="34" charset="77"/>
              </a:rPr>
              <a:t>Incremental plagiarism </a:t>
            </a:r>
            <a:r>
              <a:rPr lang="en-GB" sz="2100" dirty="0">
                <a:solidFill>
                  <a:srgbClr val="453E0F"/>
                </a:solidFill>
                <a:latin typeface="Abadi MT Condensed Light" panose="020B0306030101010103" pitchFamily="34" charset="77"/>
              </a:rPr>
              <a:t>occurs when a speaker uses small portions of another person’s work—such as phrases, sentences, statistics, or ideas—without appropriate citation. While each instance may seem minor on its own, the repeated use of uncited material still misrepresents the speaker’s work as original.</a:t>
            </a:r>
            <a:endParaRPr lang="en-BD" sz="21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72218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1F95-41B5-EE49-BA88-C3426C9DD5B7}"/>
              </a:ext>
            </a:extLst>
          </p:cNvPr>
          <p:cNvSpPr>
            <a:spLocks noGrp="1"/>
          </p:cNvSpPr>
          <p:nvPr>
            <p:ph type="title"/>
          </p:nvPr>
        </p:nvSpPr>
        <p:spPr/>
        <p:txBody>
          <a:bodyPr/>
          <a:lstStyle/>
          <a:p>
            <a:endParaRPr lang="en-BD"/>
          </a:p>
        </p:txBody>
      </p:sp>
      <p:pic>
        <p:nvPicPr>
          <p:cNvPr id="9" name="Content Placeholder 8">
            <a:extLst>
              <a:ext uri="{FF2B5EF4-FFF2-40B4-BE49-F238E27FC236}">
                <a16:creationId xmlns:a16="http://schemas.microsoft.com/office/drawing/2014/main" id="{57861F29-9836-B44B-B2CA-B8A681CC5618}"/>
              </a:ext>
            </a:extLst>
          </p:cNvPr>
          <p:cNvPicPr>
            <a:picLocks noGrp="1" noChangeAspect="1"/>
          </p:cNvPicPr>
          <p:nvPr>
            <p:ph idx="1"/>
          </p:nvPr>
        </p:nvPicPr>
        <p:blipFill>
          <a:blip r:embed="rId2"/>
          <a:stretch>
            <a:fillRect/>
          </a:stretch>
        </p:blipFill>
        <p:spPr>
          <a:xfrm>
            <a:off x="0" y="0"/>
            <a:ext cx="12192000" cy="6858000"/>
          </a:xfrm>
        </p:spPr>
      </p:pic>
      <p:sp>
        <p:nvSpPr>
          <p:cNvPr id="10" name="TextBox 9">
            <a:extLst>
              <a:ext uri="{FF2B5EF4-FFF2-40B4-BE49-F238E27FC236}">
                <a16:creationId xmlns:a16="http://schemas.microsoft.com/office/drawing/2014/main" id="{F5A66F0C-0FE1-8C4C-A875-D5EA19A3C67D}"/>
              </a:ext>
            </a:extLst>
          </p:cNvPr>
          <p:cNvSpPr txBox="1"/>
          <p:nvPr/>
        </p:nvSpPr>
        <p:spPr>
          <a:xfrm>
            <a:off x="1404768" y="761916"/>
            <a:ext cx="9543396" cy="1323439"/>
          </a:xfrm>
          <a:prstGeom prst="rect">
            <a:avLst/>
          </a:prstGeom>
          <a:noFill/>
        </p:spPr>
        <p:txBody>
          <a:bodyPr wrap="square" rtlCol="0">
            <a:spAutoFit/>
          </a:bodyPr>
          <a:lstStyle/>
          <a:p>
            <a:pPr algn="ctr"/>
            <a:r>
              <a:rPr lang="en-BD" sz="3600" dirty="0">
                <a:latin typeface="Marker Felt Thin" panose="02000400000000000000" pitchFamily="2" charset="77"/>
              </a:rPr>
              <a:t>Guidelines For Ethical Conduct in Public Speaking</a:t>
            </a:r>
          </a:p>
          <a:p>
            <a:endParaRPr lang="en-BD" sz="4400" dirty="0">
              <a:latin typeface="Marker Felt Thin" panose="02000400000000000000" pitchFamily="2" charset="77"/>
            </a:endParaRPr>
          </a:p>
        </p:txBody>
      </p:sp>
      <p:sp>
        <p:nvSpPr>
          <p:cNvPr id="11" name="TextBox 10">
            <a:extLst>
              <a:ext uri="{FF2B5EF4-FFF2-40B4-BE49-F238E27FC236}">
                <a16:creationId xmlns:a16="http://schemas.microsoft.com/office/drawing/2014/main" id="{7028BD0E-74EF-E949-B965-322D414A8D35}"/>
              </a:ext>
            </a:extLst>
          </p:cNvPr>
          <p:cNvSpPr txBox="1"/>
          <p:nvPr/>
        </p:nvSpPr>
        <p:spPr>
          <a:xfrm>
            <a:off x="1718183" y="1423788"/>
            <a:ext cx="9069049" cy="2078326"/>
          </a:xfrm>
          <a:prstGeom prst="rect">
            <a:avLst/>
          </a:prstGeom>
          <a:noFill/>
        </p:spPr>
        <p:txBody>
          <a:bodyPr wrap="square" rtlCol="0">
            <a:spAutoFit/>
          </a:bodyPr>
          <a:lstStyle/>
          <a:p>
            <a:pPr marL="342900" indent="-342900" algn="l">
              <a:lnSpc>
                <a:spcPct val="150000"/>
              </a:lnSpc>
              <a:buFont typeface="Arial" panose="020B0604020202020204" pitchFamily="34" charset="0"/>
              <a:buChar char="•"/>
            </a:pPr>
            <a:r>
              <a:rPr lang="en-BD" sz="2200" dirty="0">
                <a:solidFill>
                  <a:srgbClr val="453E0F"/>
                </a:solidFill>
                <a:latin typeface="Abadi MT Condensed Light" panose="020B0306030101010103" pitchFamily="34" charset="77"/>
              </a:rPr>
              <a:t>One clear way to avoid plagiarism is to</a:t>
            </a:r>
            <a:r>
              <a:rPr lang="en-BD" sz="2200" dirty="0">
                <a:latin typeface="Abadi MT Condensed Light" panose="020B0306030101010103" pitchFamily="34" charset="77"/>
              </a:rPr>
              <a:t> </a:t>
            </a:r>
            <a:r>
              <a:rPr lang="en-GB" sz="2200" dirty="0">
                <a:latin typeface="Abadi MT Condensed Light" panose="020B0306030101010103" pitchFamily="34" charset="77"/>
              </a:rPr>
              <a:t>i</a:t>
            </a:r>
            <a:r>
              <a:rPr lang="en-GB" sz="2200" i="0" dirty="0">
                <a:effectLst/>
                <a:latin typeface="Abadi MT Condensed Light" panose="020B0306030101010103" pitchFamily="34" charset="77"/>
              </a:rPr>
              <a:t>dentify your sources. </a:t>
            </a:r>
            <a:r>
              <a:rPr lang="en-GB" sz="2200" b="0" i="0" dirty="0">
                <a:solidFill>
                  <a:srgbClr val="000000"/>
                </a:solidFill>
                <a:effectLst/>
                <a:latin typeface="Abadi MT Condensed Light" panose="020B0306030101010103" pitchFamily="34" charset="77"/>
              </a:rPr>
              <a:t>The first step of ethical speech preparation is to take notes as you research your speech topic. Careful notes will help you remember where you learned your information. Recalling your sources is important because it enables speaker honesty. </a:t>
            </a:r>
            <a:endParaRPr lang="en-BD" sz="2100" dirty="0">
              <a:solidFill>
                <a:srgbClr val="453E0F"/>
              </a:solidFill>
              <a:latin typeface="Abadi MT Condensed Light" panose="020B0306030101010103" pitchFamily="34" charset="77"/>
            </a:endParaRPr>
          </a:p>
        </p:txBody>
      </p:sp>
    </p:spTree>
    <p:extLst>
      <p:ext uri="{BB962C8B-B14F-4D97-AF65-F5344CB8AC3E}">
        <p14:creationId xmlns:p14="http://schemas.microsoft.com/office/powerpoint/2010/main" val="2726357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1860273" y="150091"/>
            <a:ext cx="8471454" cy="1938992"/>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Conduct in Public Speaking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468320" y="1075911"/>
            <a:ext cx="9019571" cy="6944786"/>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100" b="1" dirty="0">
                <a:latin typeface="Abadi MT Condensed Light" panose="020B0306030101010103" pitchFamily="34" charset="77"/>
                <a:ea typeface="Roboto" pitchFamily="2" charset="0"/>
              </a:rPr>
              <a:t>Ethical communicators show respect </a:t>
            </a:r>
            <a:r>
              <a:rPr lang="en-GB" sz="2100" dirty="0">
                <a:solidFill>
                  <a:srgbClr val="453E0F"/>
                </a:solidFill>
                <a:latin typeface="Abadi MT Condensed Light" panose="020B0306030101010103" pitchFamily="34" charset="77"/>
                <a:ea typeface="Roboto" pitchFamily="2" charset="0"/>
              </a:rPr>
              <a:t>– Ethical communicators demonstrate respect for their audiences and for others by acknowledging the dignity, rights, and viewpoints of all individuals. They avoid language or </a:t>
            </a:r>
            <a:r>
              <a:rPr lang="en-GB" sz="2100" dirty="0" err="1">
                <a:solidFill>
                  <a:srgbClr val="453E0F"/>
                </a:solidFill>
                <a:latin typeface="Abadi MT Condensed Light" panose="020B0306030101010103" pitchFamily="34" charset="77"/>
                <a:ea typeface="Roboto" pitchFamily="2" charset="0"/>
              </a:rPr>
              <a:t>behavior</a:t>
            </a:r>
            <a:r>
              <a:rPr lang="en-GB" sz="2100" dirty="0">
                <a:solidFill>
                  <a:srgbClr val="453E0F"/>
                </a:solidFill>
                <a:latin typeface="Abadi MT Condensed Light" panose="020B0306030101010103" pitchFamily="34" charset="77"/>
                <a:ea typeface="Roboto" pitchFamily="2" charset="0"/>
              </a:rPr>
              <a:t> that devalues, stereotypes, or degrades people or groups based on characteristics such as religion, sexual orientation, ethnicity, gender, or culture. Respectful communicators engage differing perspectives thoughtfully and fairly, even when they strongly disagree. By doing so, they promote understanding, inclusivity, and constructive dialogue rather than division or harm.</a:t>
            </a:r>
          </a:p>
          <a:p>
            <a:pPr>
              <a:lnSpc>
                <a:spcPct val="150000"/>
              </a:lnSpc>
            </a:pPr>
            <a:r>
              <a:rPr lang="en-GB" sz="2100" b="1" dirty="0">
                <a:solidFill>
                  <a:srgbClr val="453E0F"/>
                </a:solidFill>
                <a:latin typeface="Abadi MT Condensed Light" panose="020B0306030101010103" pitchFamily="34" charset="77"/>
                <a:ea typeface="Roboto" pitchFamily="2" charset="0"/>
              </a:rPr>
              <a:t>Example:</a:t>
            </a:r>
            <a:br>
              <a:rPr lang="en-GB" sz="2100" dirty="0">
                <a:solidFill>
                  <a:srgbClr val="453E0F"/>
                </a:solidFill>
                <a:latin typeface="Abadi MT Condensed Light" panose="020B0306030101010103" pitchFamily="34" charset="77"/>
                <a:ea typeface="Roboto" pitchFamily="2" charset="0"/>
              </a:rPr>
            </a:br>
            <a:r>
              <a:rPr lang="en-GB" sz="2100" dirty="0">
                <a:solidFill>
                  <a:srgbClr val="453E0F"/>
                </a:solidFill>
                <a:latin typeface="Abadi MT Condensed Light" panose="020B0306030101010103" pitchFamily="34" charset="77"/>
                <a:ea typeface="Roboto" pitchFamily="2" charset="0"/>
              </a:rPr>
              <a:t>A speaker discussing immigration policy may strongly oppose certain laws, but instead of using derogatory labels or generalizations about immigrants, they focus on factual arguments and policy impacts. By addressing the issue without attacking or stereotyping a group, the speaker shows respect for both the audience and those being discussed.</a:t>
            </a:r>
            <a:endParaRPr lang="en-BD" sz="2100"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endParaRPr lang="en-GB" sz="2300" dirty="0">
              <a:solidFill>
                <a:srgbClr val="453E0F"/>
              </a:solidFill>
              <a:latin typeface="Abadi MT Condensed Light" panose="020B0306030101010103" pitchFamily="34" charset="77"/>
            </a:endParaRP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474914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57220" y="789394"/>
            <a:ext cx="725811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Citation Sources</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587403"/>
            <a:ext cx="8634335" cy="170489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400" dirty="0">
                <a:solidFill>
                  <a:srgbClr val="453E0F"/>
                </a:solidFill>
                <a:latin typeface="Abadi MT Condensed Light" panose="020B0306030101010103" pitchFamily="34" charset="77"/>
                <a:ea typeface="Roboto" pitchFamily="2" charset="0"/>
                <a:hlinkClick r:id="rId3"/>
              </a:rPr>
              <a:t>https://www.bibme.org/mla</a:t>
            </a:r>
            <a:endParaRPr lang="en-GB" sz="2400" dirty="0">
              <a:solidFill>
                <a:srgbClr val="453E0F"/>
              </a:solidFill>
              <a:latin typeface="Abadi MT Condensed Light" panose="020B0306030101010103" pitchFamily="34" charset="77"/>
              <a:ea typeface="Roboto" pitchFamily="2" charset="0"/>
            </a:endParaRPr>
          </a:p>
          <a:p>
            <a:pPr marL="457200" indent="-457200">
              <a:lnSpc>
                <a:spcPct val="150000"/>
              </a:lnSpc>
              <a:buFont typeface="Arial" panose="020B0604020202020204" pitchFamily="34" charset="0"/>
              <a:buChar char="•"/>
            </a:pPr>
            <a:r>
              <a:rPr lang="en-GB" sz="2400" dirty="0">
                <a:solidFill>
                  <a:srgbClr val="453E0F"/>
                </a:solidFill>
                <a:latin typeface="Abadi MT Condensed Light" panose="020B0306030101010103" pitchFamily="34" charset="77"/>
                <a:ea typeface="Roboto" pitchFamily="2" charset="0"/>
                <a:hlinkClick r:id="rId4"/>
              </a:rPr>
              <a:t>https://www.citationmachine.net/</a:t>
            </a:r>
            <a:endParaRPr lang="en-GB" sz="2400" dirty="0">
              <a:solidFill>
                <a:srgbClr val="453E0F"/>
              </a:solidFill>
              <a:latin typeface="Abadi MT Condensed Light" panose="020B0306030101010103" pitchFamily="34" charset="77"/>
              <a:ea typeface="Roboto" pitchFamily="2" charset="0"/>
            </a:endParaRPr>
          </a:p>
          <a:p>
            <a:pPr>
              <a:lnSpc>
                <a:spcPct val="150000"/>
              </a:lnSpc>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320020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783-C4E5-7F44-A786-F95B92973A08}"/>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C100272C-1784-A54B-980D-BD176A033AA0}"/>
              </a:ext>
            </a:extLst>
          </p:cNvPr>
          <p:cNvPicPr>
            <a:picLocks noGrp="1" noChangeAspect="1"/>
          </p:cNvPicPr>
          <p:nvPr>
            <p:ph idx="1"/>
          </p:nvPr>
        </p:nvPicPr>
        <p:blipFill>
          <a:blip r:embed="rId2"/>
          <a:stretch>
            <a:fillRect/>
          </a:stretch>
        </p:blipFill>
        <p:spPr>
          <a:xfrm>
            <a:off x="0" y="-51614"/>
            <a:ext cx="12310946" cy="6961227"/>
          </a:xfrm>
        </p:spPr>
      </p:pic>
      <p:sp>
        <p:nvSpPr>
          <p:cNvPr id="6" name="TextBox 5">
            <a:extLst>
              <a:ext uri="{FF2B5EF4-FFF2-40B4-BE49-F238E27FC236}">
                <a16:creationId xmlns:a16="http://schemas.microsoft.com/office/drawing/2014/main" id="{4B02B145-FC94-7040-9024-6B98D1A20F48}"/>
              </a:ext>
            </a:extLst>
          </p:cNvPr>
          <p:cNvSpPr txBox="1"/>
          <p:nvPr/>
        </p:nvSpPr>
        <p:spPr>
          <a:xfrm>
            <a:off x="2637017" y="2254886"/>
            <a:ext cx="6675559" cy="1754326"/>
          </a:xfrm>
          <a:prstGeom prst="rect">
            <a:avLst/>
          </a:prstGeom>
          <a:noFill/>
        </p:spPr>
        <p:txBody>
          <a:bodyPr wrap="square" rtlCol="0">
            <a:spAutoFit/>
          </a:bodyPr>
          <a:lstStyle/>
          <a:p>
            <a:pPr algn="ctr"/>
            <a:r>
              <a:rPr lang="en-BD" sz="5400" dirty="0">
                <a:latin typeface="Marker Felt Thin" panose="02000400000000000000" pitchFamily="2" charset="77"/>
              </a:rPr>
              <a:t>Guidelines For Ethical</a:t>
            </a:r>
          </a:p>
          <a:p>
            <a:pPr algn="ctr"/>
            <a:r>
              <a:rPr lang="en-BD" sz="5400" dirty="0">
                <a:latin typeface="Marker Felt Thin" panose="02000400000000000000" pitchFamily="2" charset="77"/>
              </a:rPr>
              <a:t>Listening</a:t>
            </a:r>
          </a:p>
        </p:txBody>
      </p:sp>
    </p:spTree>
    <p:extLst>
      <p:ext uri="{BB962C8B-B14F-4D97-AF65-F5344CB8AC3E}">
        <p14:creationId xmlns:p14="http://schemas.microsoft.com/office/powerpoint/2010/main" val="2515157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0" y="603360"/>
            <a:ext cx="11852476"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Ethical Listening Scenario</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706260" y="1122945"/>
            <a:ext cx="9027713" cy="558287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400" dirty="0">
                <a:solidFill>
                  <a:srgbClr val="453E0F"/>
                </a:solidFill>
                <a:latin typeface="Abadi MT Condensed Light" panose="020B0306030101010103" pitchFamily="34" charset="77"/>
              </a:rPr>
              <a:t>Maria was excited to present her research project about renewable energy. She had spent several weeks gathering information and creating her slides. Although she was nervous, she felt prepared. She asked for a show of hands during his introduction, and only a few people acknowledged her. As she began speaking more, she noticed that several students were talking quietly to each other instead of paying attention. A few students were scrolling through social media on their phones. When Maria asked the class a question, only one person responded because most of the class seemed distracted. Several students avoided eye contact and appeared uninterested in what she was saying. As the presentation continued, Maria became more nervous and found it difficult to stay confident.</a:t>
            </a:r>
            <a:endParaRPr lang="en-BD" sz="2400" b="1"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263401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0" y="603360"/>
            <a:ext cx="11852476"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Listening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06260" y="1311631"/>
            <a:ext cx="9027713" cy="572131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BD" sz="2400" b="1" dirty="0">
                <a:latin typeface="Abadi MT Condensed Light" panose="020B0306030101010103" pitchFamily="34" charset="77"/>
                <a:ea typeface="Roboto" pitchFamily="2" charset="0"/>
              </a:rPr>
              <a:t>Be Courteous And Attentive </a:t>
            </a:r>
            <a:r>
              <a:rPr lang="en-BD" sz="2400" dirty="0">
                <a:solidFill>
                  <a:srgbClr val="453E0F"/>
                </a:solidFill>
                <a:latin typeface="Abadi MT Condensed Light" panose="020B0306030101010103" pitchFamily="34" charset="77"/>
                <a:ea typeface="Roboto" pitchFamily="2" charset="0"/>
              </a:rPr>
              <a:t>– </a:t>
            </a:r>
            <a:r>
              <a:rPr lang="en-GB" sz="2200" dirty="0">
                <a:solidFill>
                  <a:srgbClr val="453E0F"/>
                </a:solidFill>
                <a:latin typeface="Abadi MT Condensed Light" panose="020B0306030101010103" pitchFamily="34" charset="77"/>
                <a:ea typeface="Roboto" pitchFamily="2" charset="0"/>
              </a:rPr>
              <a:t>Ethical listening requires the same level of responsibility as ethical speaking. Just as speakers are obligated to prepare, listeners have a duty to be courteous, attentive, and supportive. In a classroom setting, listening is part of a shared learning experience in which students depend on one another. Ethical listeners come to class prepared to listen actively and to learn from their classmates’ speeches.</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Being attentive also means being aware of the verbal and nonverbal feedback sent to the speaker. Facial expressions, eye contact, posture, and reactions can significantly affect a speaker’s confidence and composure. Ethical listeners recognize the influence they have and choose to show encouragement and respect rather than distraction or discouragement.</a:t>
            </a:r>
          </a:p>
          <a:p>
            <a:pPr marL="457200" indent="-457200">
              <a:lnSpc>
                <a:spcPct val="150000"/>
              </a:lnSpc>
              <a:buFont typeface="Arial" panose="020B0604020202020204" pitchFamily="34" charset="0"/>
              <a:buChar char="•"/>
            </a:pPr>
            <a:endParaRPr lang="en-BD" sz="2400" b="1"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192739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0" y="791685"/>
            <a:ext cx="11852476"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Listening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587403"/>
            <a:ext cx="9027713" cy="336681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400" b="1" dirty="0">
                <a:latin typeface="Abadi MT Condensed Light" panose="020B0306030101010103" pitchFamily="34" charset="77"/>
                <a:ea typeface="Roboto" pitchFamily="2" charset="0"/>
              </a:rPr>
              <a:t>Example:</a:t>
            </a:r>
            <a:br>
              <a:rPr lang="en-GB" sz="2400" b="1" dirty="0">
                <a:latin typeface="Abadi MT Condensed Light" panose="020B0306030101010103" pitchFamily="34" charset="77"/>
                <a:ea typeface="Roboto" pitchFamily="2" charset="0"/>
              </a:rPr>
            </a:br>
            <a:r>
              <a:rPr lang="en-GB" sz="2400" dirty="0">
                <a:latin typeface="Abadi MT Condensed Light" panose="020B0306030101010103" pitchFamily="34" charset="77"/>
                <a:ea typeface="Roboto" pitchFamily="2" charset="0"/>
              </a:rPr>
              <a:t>When a classmate is delivering a speech, an ethical listener puts away their phone, maintains eye contact, and avoids side conversations. Even if the speaker appears nervous, the listener nods or smiles to show engagement. This supportive </a:t>
            </a:r>
            <a:r>
              <a:rPr lang="en-GB" sz="2400" dirty="0" err="1">
                <a:latin typeface="Abadi MT Condensed Light" panose="020B0306030101010103" pitchFamily="34" charset="77"/>
                <a:ea typeface="Roboto" pitchFamily="2" charset="0"/>
              </a:rPr>
              <a:t>behavior</a:t>
            </a:r>
            <a:r>
              <a:rPr lang="en-GB" sz="2400" dirty="0">
                <a:latin typeface="Abadi MT Condensed Light" panose="020B0306030101010103" pitchFamily="34" charset="77"/>
                <a:ea typeface="Roboto" pitchFamily="2" charset="0"/>
              </a:rPr>
              <a:t> helps the speaker feel confident and respected, contributing to a positive and ethical speaking environment.</a:t>
            </a:r>
            <a:endParaRPr lang="en-BD" sz="2400" dirty="0">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4025505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57220" y="789394"/>
            <a:ext cx="7258111"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Listening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587403"/>
            <a:ext cx="8634335" cy="521354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BD" sz="2400" b="1" dirty="0">
                <a:latin typeface="Abadi MT Condensed Light" panose="020B0306030101010103" pitchFamily="34" charset="77"/>
                <a:ea typeface="Roboto" pitchFamily="2" charset="0"/>
              </a:rPr>
              <a:t>Maintain Free and Open Expression of Ideas </a:t>
            </a:r>
            <a:r>
              <a:rPr lang="en-BD" sz="2400" dirty="0">
                <a:solidFill>
                  <a:srgbClr val="453E0F"/>
                </a:solidFill>
                <a:latin typeface="Abadi MT Condensed Light" panose="020B0306030101010103" pitchFamily="34" charset="77"/>
                <a:ea typeface="Roboto" pitchFamily="2" charset="0"/>
              </a:rPr>
              <a:t>– </a:t>
            </a:r>
            <a:r>
              <a:rPr lang="en-GB" sz="2200" dirty="0">
                <a:solidFill>
                  <a:srgbClr val="453E0F"/>
                </a:solidFill>
                <a:latin typeface="Abadi MT Condensed Light" panose="020B0306030101010103" pitchFamily="34" charset="77"/>
                <a:ea typeface="Roboto" pitchFamily="2" charset="0"/>
              </a:rPr>
              <a:t>Ethical listening involves being open to a wide range of viewpoints and allowing speakers to express their ideas freely. Listeners should strive to understand a speaker’s perspective, even when it differs from their own beliefs or opinions. Respectful listening does not require agreement; rather, it requires fairness, open-mindedness, and a willingness to consider alternative viewpoints without judgment or hostility.</a:t>
            </a:r>
          </a:p>
          <a:p>
            <a:pPr marL="457200" indent="-457200">
              <a:lnSpc>
                <a:spcPct val="150000"/>
              </a:lnSpc>
              <a:buFont typeface="Arial" panose="020B0604020202020204" pitchFamily="34" charset="0"/>
              <a:buChar char="•"/>
            </a:pPr>
            <a:r>
              <a:rPr lang="en-GB" sz="2200" dirty="0">
                <a:solidFill>
                  <a:srgbClr val="453E0F"/>
                </a:solidFill>
                <a:latin typeface="Abadi MT Condensed Light" panose="020B0306030101010103" pitchFamily="34" charset="77"/>
                <a:ea typeface="Roboto" pitchFamily="2" charset="0"/>
              </a:rPr>
              <a:t>By maintaining an environment where ideas can be shared openly, ethical listeners support meaningful dialogue and learning. Dismissing, interrupting, or mocking a speaker because of differing opinions undermines this ethical responsibility.</a:t>
            </a: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3316375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57220" y="789394"/>
            <a:ext cx="7258111" cy="1323439"/>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Guidelines For Ethical Listening</a:t>
            </a:r>
          </a:p>
          <a:p>
            <a:pPr algn="ctr"/>
            <a:endParaRPr lang="en-BD" sz="4000" dirty="0">
              <a:latin typeface="Marker Felt Thin" panose="02000400000000000000" pitchFamily="2" charset="77"/>
            </a:endParaRP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587403"/>
            <a:ext cx="8634335" cy="3366884"/>
          </a:xfrm>
          <a:prstGeom prst="rect">
            <a:avLst/>
          </a:prstGeom>
          <a:noFill/>
        </p:spPr>
        <p:txBody>
          <a:bodyPr wrap="square" rtlCol="0">
            <a:spAutoFit/>
          </a:bodyPr>
          <a:lstStyle/>
          <a:p>
            <a:pPr>
              <a:lnSpc>
                <a:spcPct val="150000"/>
              </a:lnSpc>
            </a:pPr>
            <a:r>
              <a:rPr lang="en-GB" sz="2400" b="1" dirty="0">
                <a:latin typeface="Abadi MT Condensed Light" panose="020B0306030101010103" pitchFamily="34" charset="77"/>
                <a:ea typeface="Roboto" pitchFamily="2" charset="0"/>
              </a:rPr>
              <a:t>Example:</a:t>
            </a:r>
            <a:br>
              <a:rPr lang="en-GB" sz="2400" dirty="0">
                <a:solidFill>
                  <a:srgbClr val="453E0F"/>
                </a:solidFill>
                <a:latin typeface="Abadi MT Condensed Light" panose="020B0306030101010103" pitchFamily="34" charset="77"/>
                <a:ea typeface="Roboto" pitchFamily="2" charset="0"/>
              </a:rPr>
            </a:br>
            <a:r>
              <a:rPr lang="en-GB" sz="2400" dirty="0">
                <a:solidFill>
                  <a:srgbClr val="453E0F"/>
                </a:solidFill>
                <a:latin typeface="Abadi MT Condensed Light" panose="020B0306030101010103" pitchFamily="34" charset="77"/>
                <a:ea typeface="Roboto" pitchFamily="2" charset="0"/>
              </a:rPr>
              <a:t>During a class discussion on a controversial topic, a student may disagree strongly with a speaker’s position. Instead of interrupting or reacting negatively, the listener allows the speaker to finish, listens carefully, and responds thoughtfully during the discussion period. This </a:t>
            </a:r>
            <a:r>
              <a:rPr lang="en-GB" sz="2400" dirty="0" err="1">
                <a:solidFill>
                  <a:srgbClr val="453E0F"/>
                </a:solidFill>
                <a:latin typeface="Abadi MT Condensed Light" panose="020B0306030101010103" pitchFamily="34" charset="77"/>
                <a:ea typeface="Roboto" pitchFamily="2" charset="0"/>
              </a:rPr>
              <a:t>behavior</a:t>
            </a:r>
            <a:r>
              <a:rPr lang="en-GB" sz="2400" dirty="0">
                <a:solidFill>
                  <a:srgbClr val="453E0F"/>
                </a:solidFill>
                <a:latin typeface="Abadi MT Condensed Light" panose="020B0306030101010103" pitchFamily="34" charset="77"/>
                <a:ea typeface="Roboto" pitchFamily="2" charset="0"/>
              </a:rPr>
              <a:t> respects free expression and promotes constructive and ethical communication.</a:t>
            </a: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2557570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EB3D34-D413-3641-A211-3B7FEA8681AB}"/>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7" name="TextBox 6">
            <a:extLst>
              <a:ext uri="{FF2B5EF4-FFF2-40B4-BE49-F238E27FC236}">
                <a16:creationId xmlns:a16="http://schemas.microsoft.com/office/drawing/2014/main" id="{49AD465A-BEDF-B34F-8009-A193D849C0D9}"/>
              </a:ext>
            </a:extLst>
          </p:cNvPr>
          <p:cNvSpPr txBox="1"/>
          <p:nvPr/>
        </p:nvSpPr>
        <p:spPr>
          <a:xfrm>
            <a:off x="3049859" y="3244334"/>
            <a:ext cx="6099716" cy="369332"/>
          </a:xfrm>
          <a:prstGeom prst="rect">
            <a:avLst/>
          </a:prstGeom>
          <a:noFill/>
        </p:spPr>
        <p:txBody>
          <a:bodyPr wrap="square">
            <a:spAutoFit/>
          </a:bodyPr>
          <a:lstStyle/>
          <a:p>
            <a:endParaRPr lang="en-BD" dirty="0"/>
          </a:p>
        </p:txBody>
      </p:sp>
      <p:sp>
        <p:nvSpPr>
          <p:cNvPr id="9" name="TextBox 8">
            <a:extLst>
              <a:ext uri="{FF2B5EF4-FFF2-40B4-BE49-F238E27FC236}">
                <a16:creationId xmlns:a16="http://schemas.microsoft.com/office/drawing/2014/main" id="{77698134-8252-7E4C-9B70-1B74FD8D05C1}"/>
              </a:ext>
            </a:extLst>
          </p:cNvPr>
          <p:cNvSpPr txBox="1"/>
          <p:nvPr/>
        </p:nvSpPr>
        <p:spPr>
          <a:xfrm>
            <a:off x="3049859" y="3244334"/>
            <a:ext cx="6099716" cy="369332"/>
          </a:xfrm>
          <a:prstGeom prst="rect">
            <a:avLst/>
          </a:prstGeom>
          <a:noFill/>
        </p:spPr>
        <p:txBody>
          <a:bodyPr wrap="square">
            <a:spAutoFit/>
          </a:bodyPr>
          <a:lstStyle/>
          <a:p>
            <a:endParaRPr lang="en-BD" dirty="0"/>
          </a:p>
        </p:txBody>
      </p:sp>
      <p:pic>
        <p:nvPicPr>
          <p:cNvPr id="13" name="Picture 12">
            <a:extLst>
              <a:ext uri="{FF2B5EF4-FFF2-40B4-BE49-F238E27FC236}">
                <a16:creationId xmlns:a16="http://schemas.microsoft.com/office/drawing/2014/main" id="{DA139272-EF67-0547-832E-E8D0322CA85A}"/>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3">
            <a:extLst>
              <a:ext uri="{FF2B5EF4-FFF2-40B4-BE49-F238E27FC236}">
                <a16:creationId xmlns:a16="http://schemas.microsoft.com/office/drawing/2014/main" id="{6CCEB907-9012-3148-AA93-572D0B8AA3E0}"/>
              </a:ext>
            </a:extLst>
          </p:cNvPr>
          <p:cNvSpPr txBox="1"/>
          <p:nvPr/>
        </p:nvSpPr>
        <p:spPr>
          <a:xfrm>
            <a:off x="2557220" y="789394"/>
            <a:ext cx="7258111" cy="707886"/>
          </a:xfrm>
          <a:prstGeom prst="rect">
            <a:avLst/>
          </a:prstGeom>
          <a:noFill/>
          <a:ln w="50800">
            <a:noFill/>
          </a:ln>
        </p:spPr>
        <p:txBody>
          <a:bodyPr wrap="square" rtlCol="0">
            <a:spAutoFit/>
          </a:bodyPr>
          <a:lstStyle/>
          <a:p>
            <a:pPr algn="ctr"/>
            <a:r>
              <a:rPr lang="en-BD" sz="4000" dirty="0">
                <a:latin typeface="Marker Felt Thin" panose="02000400000000000000" pitchFamily="2" charset="77"/>
              </a:rPr>
              <a:t>Works Cited</a:t>
            </a:r>
          </a:p>
        </p:txBody>
      </p:sp>
      <p:sp>
        <p:nvSpPr>
          <p:cNvPr id="15" name="TextBox 14">
            <a:extLst>
              <a:ext uri="{FF2B5EF4-FFF2-40B4-BE49-F238E27FC236}">
                <a16:creationId xmlns:a16="http://schemas.microsoft.com/office/drawing/2014/main" id="{90F39C51-B4C7-A54F-A251-0C0F9FD94E73}"/>
              </a:ext>
            </a:extLst>
          </p:cNvPr>
          <p:cNvSpPr txBox="1"/>
          <p:nvPr/>
        </p:nvSpPr>
        <p:spPr>
          <a:xfrm>
            <a:off x="1778832" y="1587403"/>
            <a:ext cx="8634335" cy="1704890"/>
          </a:xfrm>
          <a:prstGeom prst="rect">
            <a:avLst/>
          </a:prstGeom>
          <a:noFill/>
        </p:spPr>
        <p:txBody>
          <a:bodyPr wrap="square" rtlCol="0">
            <a:spAutoFit/>
          </a:bodyPr>
          <a:lstStyle/>
          <a:p>
            <a:pPr>
              <a:lnSpc>
                <a:spcPct val="150000"/>
              </a:lnSpc>
            </a:pPr>
            <a:r>
              <a:rPr lang="en-GB" sz="2400" dirty="0">
                <a:effectLst/>
              </a:rPr>
              <a:t>Lucas, S. E. (2007). Ethics and Public Speaking. In </a:t>
            </a:r>
            <a:r>
              <a:rPr lang="en-GB" sz="2400" i="1" dirty="0">
                <a:effectLst/>
              </a:rPr>
              <a:t>The Art of Public Speaking</a:t>
            </a:r>
            <a:r>
              <a:rPr lang="en-GB" sz="2400" dirty="0">
                <a:effectLst/>
              </a:rPr>
              <a:t> (pp. 26–43). essay, McGraw-Hill. </a:t>
            </a:r>
          </a:p>
          <a:p>
            <a:pPr marL="457200" indent="-457200">
              <a:lnSpc>
                <a:spcPct val="150000"/>
              </a:lnSpc>
              <a:buFont typeface="Arial" panose="020B0604020202020204" pitchFamily="34" charset="0"/>
              <a:buChar char="•"/>
            </a:pPr>
            <a:endParaRPr lang="en-BD" sz="2400" dirty="0">
              <a:solidFill>
                <a:srgbClr val="453E0F"/>
              </a:solidFill>
              <a:latin typeface="Abadi MT Condensed Light" panose="020B0306030101010103" pitchFamily="34" charset="77"/>
              <a:ea typeface="Roboto" pitchFamily="2" charset="0"/>
            </a:endParaRPr>
          </a:p>
        </p:txBody>
      </p:sp>
    </p:spTree>
    <p:extLst>
      <p:ext uri="{BB962C8B-B14F-4D97-AF65-F5344CB8AC3E}">
        <p14:creationId xmlns:p14="http://schemas.microsoft.com/office/powerpoint/2010/main" val="5227734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A37A-0A1D-5D4F-B0B0-D95CD15379CE}"/>
              </a:ext>
            </a:extLst>
          </p:cNvPr>
          <p:cNvSpPr>
            <a:spLocks noGrp="1"/>
          </p:cNvSpPr>
          <p:nvPr>
            <p:ph type="title"/>
          </p:nvPr>
        </p:nvSpPr>
        <p:spPr/>
        <p:txBody>
          <a:bodyPr/>
          <a:lstStyle/>
          <a:p>
            <a:endParaRPr lang="en-BD"/>
          </a:p>
        </p:txBody>
      </p:sp>
      <p:pic>
        <p:nvPicPr>
          <p:cNvPr id="5" name="Content Placeholder 4">
            <a:extLst>
              <a:ext uri="{FF2B5EF4-FFF2-40B4-BE49-F238E27FC236}">
                <a16:creationId xmlns:a16="http://schemas.microsoft.com/office/drawing/2014/main" id="{DEB8A33C-9B03-3840-83EC-F29CE7C9A01A}"/>
              </a:ext>
            </a:extLst>
          </p:cNvPr>
          <p:cNvPicPr>
            <a:picLocks noGrp="1" noChangeAspect="1"/>
          </p:cNvPicPr>
          <p:nvPr>
            <p:ph idx="1"/>
          </p:nvPr>
        </p:nvPicPr>
        <p:blipFill>
          <a:blip r:embed="rId2"/>
          <a:stretch>
            <a:fillRect/>
          </a:stretch>
        </p:blipFill>
        <p:spPr>
          <a:xfrm>
            <a:off x="0" y="-1"/>
            <a:ext cx="12192000" cy="6858001"/>
          </a:xfrm>
        </p:spPr>
      </p:pic>
      <p:sp>
        <p:nvSpPr>
          <p:cNvPr id="6" name="TextBox 5">
            <a:extLst>
              <a:ext uri="{FF2B5EF4-FFF2-40B4-BE49-F238E27FC236}">
                <a16:creationId xmlns:a16="http://schemas.microsoft.com/office/drawing/2014/main" id="{9976B8AD-90FE-6546-8BE9-586213A02B12}"/>
              </a:ext>
            </a:extLst>
          </p:cNvPr>
          <p:cNvSpPr txBox="1"/>
          <p:nvPr/>
        </p:nvSpPr>
        <p:spPr>
          <a:xfrm>
            <a:off x="2948065" y="2683239"/>
            <a:ext cx="6295869" cy="1193981"/>
          </a:xfrm>
          <a:prstGeom prst="rect">
            <a:avLst/>
          </a:prstGeom>
          <a:noFill/>
        </p:spPr>
        <p:txBody>
          <a:bodyPr wrap="square" rtlCol="0">
            <a:spAutoFit/>
          </a:bodyPr>
          <a:lstStyle/>
          <a:p>
            <a:pPr algn="ctr">
              <a:lnSpc>
                <a:spcPct val="150000"/>
              </a:lnSpc>
            </a:pPr>
            <a:r>
              <a:rPr lang="en-BD" sz="5400" b="1" dirty="0">
                <a:latin typeface="MARKER FELT THIN" panose="02000400000000000000" pitchFamily="2" charset="77"/>
              </a:rPr>
              <a:t>Thank you</a:t>
            </a:r>
          </a:p>
        </p:txBody>
      </p:sp>
    </p:spTree>
    <p:extLst>
      <p:ext uri="{BB962C8B-B14F-4D97-AF65-F5344CB8AC3E}">
        <p14:creationId xmlns:p14="http://schemas.microsoft.com/office/powerpoint/2010/main" val="461488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TotalTime>
  <Words>2496</Words>
  <Application>Microsoft Macintosh PowerPoint</Application>
  <PresentationFormat>Widescreen</PresentationFormat>
  <Paragraphs>99</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Abadi MT Condensed Light</vt:lpstr>
      <vt:lpstr>Arial</vt:lpstr>
      <vt:lpstr>Calibri</vt:lpstr>
      <vt:lpstr>Calibri Light</vt:lpstr>
      <vt:lpstr>Courier New</vt:lpstr>
      <vt:lpstr>MARKER FELT THIN</vt:lpstr>
      <vt:lpstr>MARKER FELT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Sara Chowdhury</cp:lastModifiedBy>
  <cp:revision>46</cp:revision>
  <dcterms:created xsi:type="dcterms:W3CDTF">2023-01-25T08:07:13Z</dcterms:created>
  <dcterms:modified xsi:type="dcterms:W3CDTF">2026-06-13T15:54:27Z</dcterms:modified>
</cp:coreProperties>
</file>