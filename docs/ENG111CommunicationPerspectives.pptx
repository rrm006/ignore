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8" r:id="rId2"/>
    <p:sldId id="256" r:id="rId3"/>
    <p:sldId id="280" r:id="rId4"/>
    <p:sldId id="300" r:id="rId5"/>
    <p:sldId id="260" r:id="rId6"/>
    <p:sldId id="301" r:id="rId7"/>
    <p:sldId id="263" r:id="rId8"/>
    <p:sldId id="267" r:id="rId9"/>
    <p:sldId id="264" r:id="rId10"/>
    <p:sldId id="272" r:id="rId11"/>
    <p:sldId id="297" r:id="rId12"/>
    <p:sldId id="298" r:id="rId13"/>
    <p:sldId id="266" r:id="rId14"/>
    <p:sldId id="271" r:id="rId15"/>
    <p:sldId id="273" r:id="rId16"/>
    <p:sldId id="303" r:id="rId17"/>
    <p:sldId id="276" r:id="rId18"/>
    <p:sldId id="278" r:id="rId19"/>
    <p:sldId id="294" r:id="rId20"/>
    <p:sldId id="295" r:id="rId21"/>
    <p:sldId id="279" r:id="rId22"/>
  </p:sldIdLst>
  <p:sldSz cx="12192000" cy="6858000"/>
  <p:notesSz cx="6858000" cy="9144000"/>
  <p:defaultTextStyle>
    <a:defPPr>
      <a:defRPr lang="en-B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453E0F"/>
    <a:srgbClr val="AB794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2924"/>
    <p:restoredTop sz="94697"/>
  </p:normalViewPr>
  <p:slideViewPr>
    <p:cSldViewPr snapToGrid="0" snapToObjects="1">
      <p:cViewPr varScale="1">
        <p:scale>
          <a:sx n="106" d="100"/>
          <a:sy n="106" d="100"/>
        </p:scale>
        <p:origin x="216" y="46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EFAB44-378C-AF4E-9FEC-A0E11AD66AC7}"/>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BD"/>
          </a:p>
        </p:txBody>
      </p:sp>
      <p:sp>
        <p:nvSpPr>
          <p:cNvPr id="3" name="Subtitle 2">
            <a:extLst>
              <a:ext uri="{FF2B5EF4-FFF2-40B4-BE49-F238E27FC236}">
                <a16:creationId xmlns:a16="http://schemas.microsoft.com/office/drawing/2014/main" id="{8FDDCD0C-7428-0C4A-9CA6-BBCEA3F17DE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BD"/>
          </a:p>
        </p:txBody>
      </p:sp>
      <p:sp>
        <p:nvSpPr>
          <p:cNvPr id="4" name="Date Placeholder 3">
            <a:extLst>
              <a:ext uri="{FF2B5EF4-FFF2-40B4-BE49-F238E27FC236}">
                <a16:creationId xmlns:a16="http://schemas.microsoft.com/office/drawing/2014/main" id="{9A7349C2-2965-4D45-AD77-741AF2F0ACD4}"/>
              </a:ext>
            </a:extLst>
          </p:cNvPr>
          <p:cNvSpPr>
            <a:spLocks noGrp="1"/>
          </p:cNvSpPr>
          <p:nvPr>
            <p:ph type="dt" sz="half" idx="10"/>
          </p:nvPr>
        </p:nvSpPr>
        <p:spPr/>
        <p:txBody>
          <a:bodyPr/>
          <a:lstStyle/>
          <a:p>
            <a:fld id="{17E98600-AFAC-DC44-88C7-E66A53905F06}" type="datetimeFigureOut">
              <a:rPr lang="en-BD" smtClean="0"/>
              <a:t>8/6/26</a:t>
            </a:fld>
            <a:endParaRPr lang="en-BD"/>
          </a:p>
        </p:txBody>
      </p:sp>
      <p:sp>
        <p:nvSpPr>
          <p:cNvPr id="5" name="Footer Placeholder 4">
            <a:extLst>
              <a:ext uri="{FF2B5EF4-FFF2-40B4-BE49-F238E27FC236}">
                <a16:creationId xmlns:a16="http://schemas.microsoft.com/office/drawing/2014/main" id="{09168A46-4F4D-394C-A0E9-EEB3FF6F3989}"/>
              </a:ext>
            </a:extLst>
          </p:cNvPr>
          <p:cNvSpPr>
            <a:spLocks noGrp="1"/>
          </p:cNvSpPr>
          <p:nvPr>
            <p:ph type="ftr" sz="quarter" idx="11"/>
          </p:nvPr>
        </p:nvSpPr>
        <p:spPr/>
        <p:txBody>
          <a:bodyPr/>
          <a:lstStyle/>
          <a:p>
            <a:endParaRPr lang="en-BD"/>
          </a:p>
        </p:txBody>
      </p:sp>
      <p:sp>
        <p:nvSpPr>
          <p:cNvPr id="6" name="Slide Number Placeholder 5">
            <a:extLst>
              <a:ext uri="{FF2B5EF4-FFF2-40B4-BE49-F238E27FC236}">
                <a16:creationId xmlns:a16="http://schemas.microsoft.com/office/drawing/2014/main" id="{E1A31C38-F1A8-D243-A070-6A5626EFB773}"/>
              </a:ext>
            </a:extLst>
          </p:cNvPr>
          <p:cNvSpPr>
            <a:spLocks noGrp="1"/>
          </p:cNvSpPr>
          <p:nvPr>
            <p:ph type="sldNum" sz="quarter" idx="12"/>
          </p:nvPr>
        </p:nvSpPr>
        <p:spPr/>
        <p:txBody>
          <a:bodyPr/>
          <a:lstStyle/>
          <a:p>
            <a:fld id="{B1AC5EE3-9BFA-814A-AFA6-F29E72D033EB}" type="slidenum">
              <a:rPr lang="en-BD" smtClean="0"/>
              <a:t>‹#›</a:t>
            </a:fld>
            <a:endParaRPr lang="en-BD"/>
          </a:p>
        </p:txBody>
      </p:sp>
    </p:spTree>
    <p:extLst>
      <p:ext uri="{BB962C8B-B14F-4D97-AF65-F5344CB8AC3E}">
        <p14:creationId xmlns:p14="http://schemas.microsoft.com/office/powerpoint/2010/main" val="28189563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8AE166-B7A8-F34C-8B3C-F2EC696DAFA2}"/>
              </a:ext>
            </a:extLst>
          </p:cNvPr>
          <p:cNvSpPr>
            <a:spLocks noGrp="1"/>
          </p:cNvSpPr>
          <p:nvPr>
            <p:ph type="title"/>
          </p:nvPr>
        </p:nvSpPr>
        <p:spPr/>
        <p:txBody>
          <a:bodyPr/>
          <a:lstStyle/>
          <a:p>
            <a:r>
              <a:rPr lang="en-GB"/>
              <a:t>Click to edit Master title style</a:t>
            </a:r>
            <a:endParaRPr lang="en-BD"/>
          </a:p>
        </p:txBody>
      </p:sp>
      <p:sp>
        <p:nvSpPr>
          <p:cNvPr id="3" name="Content Placeholder 2">
            <a:extLst>
              <a:ext uri="{FF2B5EF4-FFF2-40B4-BE49-F238E27FC236}">
                <a16:creationId xmlns:a16="http://schemas.microsoft.com/office/drawing/2014/main" id="{DA6240CD-1FB9-9146-85BB-907EB6A5B071}"/>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BD"/>
          </a:p>
        </p:txBody>
      </p:sp>
      <p:sp>
        <p:nvSpPr>
          <p:cNvPr id="4" name="Date Placeholder 3">
            <a:extLst>
              <a:ext uri="{FF2B5EF4-FFF2-40B4-BE49-F238E27FC236}">
                <a16:creationId xmlns:a16="http://schemas.microsoft.com/office/drawing/2014/main" id="{588B0F59-4006-9B4C-9370-48F5C8D27F79}"/>
              </a:ext>
            </a:extLst>
          </p:cNvPr>
          <p:cNvSpPr>
            <a:spLocks noGrp="1"/>
          </p:cNvSpPr>
          <p:nvPr>
            <p:ph type="dt" sz="half" idx="10"/>
          </p:nvPr>
        </p:nvSpPr>
        <p:spPr/>
        <p:txBody>
          <a:bodyPr/>
          <a:lstStyle/>
          <a:p>
            <a:fld id="{17E98600-AFAC-DC44-88C7-E66A53905F06}" type="datetimeFigureOut">
              <a:rPr lang="en-BD" smtClean="0"/>
              <a:t>8/6/26</a:t>
            </a:fld>
            <a:endParaRPr lang="en-BD"/>
          </a:p>
        </p:txBody>
      </p:sp>
      <p:sp>
        <p:nvSpPr>
          <p:cNvPr id="5" name="Footer Placeholder 4">
            <a:extLst>
              <a:ext uri="{FF2B5EF4-FFF2-40B4-BE49-F238E27FC236}">
                <a16:creationId xmlns:a16="http://schemas.microsoft.com/office/drawing/2014/main" id="{775541E1-6684-1845-A71F-3A11F07E3FAB}"/>
              </a:ext>
            </a:extLst>
          </p:cNvPr>
          <p:cNvSpPr>
            <a:spLocks noGrp="1"/>
          </p:cNvSpPr>
          <p:nvPr>
            <p:ph type="ftr" sz="quarter" idx="11"/>
          </p:nvPr>
        </p:nvSpPr>
        <p:spPr/>
        <p:txBody>
          <a:bodyPr/>
          <a:lstStyle/>
          <a:p>
            <a:endParaRPr lang="en-BD"/>
          </a:p>
        </p:txBody>
      </p:sp>
      <p:sp>
        <p:nvSpPr>
          <p:cNvPr id="6" name="Slide Number Placeholder 5">
            <a:extLst>
              <a:ext uri="{FF2B5EF4-FFF2-40B4-BE49-F238E27FC236}">
                <a16:creationId xmlns:a16="http://schemas.microsoft.com/office/drawing/2014/main" id="{AEBB0A7A-602D-B943-AB02-B0CE82D6F5CC}"/>
              </a:ext>
            </a:extLst>
          </p:cNvPr>
          <p:cNvSpPr>
            <a:spLocks noGrp="1"/>
          </p:cNvSpPr>
          <p:nvPr>
            <p:ph type="sldNum" sz="quarter" idx="12"/>
          </p:nvPr>
        </p:nvSpPr>
        <p:spPr/>
        <p:txBody>
          <a:bodyPr/>
          <a:lstStyle/>
          <a:p>
            <a:fld id="{B1AC5EE3-9BFA-814A-AFA6-F29E72D033EB}" type="slidenum">
              <a:rPr lang="en-BD" smtClean="0"/>
              <a:t>‹#›</a:t>
            </a:fld>
            <a:endParaRPr lang="en-BD"/>
          </a:p>
        </p:txBody>
      </p:sp>
    </p:spTree>
    <p:extLst>
      <p:ext uri="{BB962C8B-B14F-4D97-AF65-F5344CB8AC3E}">
        <p14:creationId xmlns:p14="http://schemas.microsoft.com/office/powerpoint/2010/main" val="346267733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05BE15-C01B-8A4F-ABE3-E298053E2E3B}"/>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BD"/>
          </a:p>
        </p:txBody>
      </p:sp>
      <p:sp>
        <p:nvSpPr>
          <p:cNvPr id="3" name="Text Placeholder 2">
            <a:extLst>
              <a:ext uri="{FF2B5EF4-FFF2-40B4-BE49-F238E27FC236}">
                <a16:creationId xmlns:a16="http://schemas.microsoft.com/office/drawing/2014/main" id="{5380D0E3-8EAE-8043-8EAF-CD22702E9AB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72704FCD-E933-4D41-BEB9-F4122A565B02}"/>
              </a:ext>
            </a:extLst>
          </p:cNvPr>
          <p:cNvSpPr>
            <a:spLocks noGrp="1"/>
          </p:cNvSpPr>
          <p:nvPr>
            <p:ph type="dt" sz="half" idx="10"/>
          </p:nvPr>
        </p:nvSpPr>
        <p:spPr/>
        <p:txBody>
          <a:bodyPr/>
          <a:lstStyle/>
          <a:p>
            <a:fld id="{17E98600-AFAC-DC44-88C7-E66A53905F06}" type="datetimeFigureOut">
              <a:rPr lang="en-BD" smtClean="0"/>
              <a:t>8/6/26</a:t>
            </a:fld>
            <a:endParaRPr lang="en-BD"/>
          </a:p>
        </p:txBody>
      </p:sp>
      <p:sp>
        <p:nvSpPr>
          <p:cNvPr id="5" name="Footer Placeholder 4">
            <a:extLst>
              <a:ext uri="{FF2B5EF4-FFF2-40B4-BE49-F238E27FC236}">
                <a16:creationId xmlns:a16="http://schemas.microsoft.com/office/drawing/2014/main" id="{0D1E315D-1187-BA41-80A4-1CDBBC15E6FF}"/>
              </a:ext>
            </a:extLst>
          </p:cNvPr>
          <p:cNvSpPr>
            <a:spLocks noGrp="1"/>
          </p:cNvSpPr>
          <p:nvPr>
            <p:ph type="ftr" sz="quarter" idx="11"/>
          </p:nvPr>
        </p:nvSpPr>
        <p:spPr/>
        <p:txBody>
          <a:bodyPr/>
          <a:lstStyle/>
          <a:p>
            <a:endParaRPr lang="en-BD"/>
          </a:p>
        </p:txBody>
      </p:sp>
      <p:sp>
        <p:nvSpPr>
          <p:cNvPr id="6" name="Slide Number Placeholder 5">
            <a:extLst>
              <a:ext uri="{FF2B5EF4-FFF2-40B4-BE49-F238E27FC236}">
                <a16:creationId xmlns:a16="http://schemas.microsoft.com/office/drawing/2014/main" id="{F3D0D6D9-54E3-8647-B4E8-423629A808CE}"/>
              </a:ext>
            </a:extLst>
          </p:cNvPr>
          <p:cNvSpPr>
            <a:spLocks noGrp="1"/>
          </p:cNvSpPr>
          <p:nvPr>
            <p:ph type="sldNum" sz="quarter" idx="12"/>
          </p:nvPr>
        </p:nvSpPr>
        <p:spPr/>
        <p:txBody>
          <a:bodyPr/>
          <a:lstStyle/>
          <a:p>
            <a:fld id="{B1AC5EE3-9BFA-814A-AFA6-F29E72D033EB}" type="slidenum">
              <a:rPr lang="en-BD" smtClean="0"/>
              <a:t>‹#›</a:t>
            </a:fld>
            <a:endParaRPr lang="en-BD"/>
          </a:p>
        </p:txBody>
      </p:sp>
    </p:spTree>
    <p:extLst>
      <p:ext uri="{BB962C8B-B14F-4D97-AF65-F5344CB8AC3E}">
        <p14:creationId xmlns:p14="http://schemas.microsoft.com/office/powerpoint/2010/main" val="304764500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3E6B7B-4089-ED42-97E0-254827F905FA}"/>
              </a:ext>
            </a:extLst>
          </p:cNvPr>
          <p:cNvSpPr>
            <a:spLocks noGrp="1"/>
          </p:cNvSpPr>
          <p:nvPr>
            <p:ph type="title"/>
          </p:nvPr>
        </p:nvSpPr>
        <p:spPr/>
        <p:txBody>
          <a:bodyPr/>
          <a:lstStyle/>
          <a:p>
            <a:r>
              <a:rPr lang="en-GB"/>
              <a:t>Click to edit Master title style</a:t>
            </a:r>
            <a:endParaRPr lang="en-BD"/>
          </a:p>
        </p:txBody>
      </p:sp>
      <p:sp>
        <p:nvSpPr>
          <p:cNvPr id="3" name="Content Placeholder 2">
            <a:extLst>
              <a:ext uri="{FF2B5EF4-FFF2-40B4-BE49-F238E27FC236}">
                <a16:creationId xmlns:a16="http://schemas.microsoft.com/office/drawing/2014/main" id="{021DC87B-C3F8-9749-BDFF-5D8991341FAA}"/>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BD"/>
          </a:p>
        </p:txBody>
      </p:sp>
      <p:sp>
        <p:nvSpPr>
          <p:cNvPr id="4" name="Content Placeholder 3">
            <a:extLst>
              <a:ext uri="{FF2B5EF4-FFF2-40B4-BE49-F238E27FC236}">
                <a16:creationId xmlns:a16="http://schemas.microsoft.com/office/drawing/2014/main" id="{B946839A-F000-914F-8067-011A98623CDA}"/>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BD"/>
          </a:p>
        </p:txBody>
      </p:sp>
      <p:sp>
        <p:nvSpPr>
          <p:cNvPr id="5" name="Date Placeholder 4">
            <a:extLst>
              <a:ext uri="{FF2B5EF4-FFF2-40B4-BE49-F238E27FC236}">
                <a16:creationId xmlns:a16="http://schemas.microsoft.com/office/drawing/2014/main" id="{0A0E4E5F-B82D-1749-A554-A318ED392B2E}"/>
              </a:ext>
            </a:extLst>
          </p:cNvPr>
          <p:cNvSpPr>
            <a:spLocks noGrp="1"/>
          </p:cNvSpPr>
          <p:nvPr>
            <p:ph type="dt" sz="half" idx="10"/>
          </p:nvPr>
        </p:nvSpPr>
        <p:spPr/>
        <p:txBody>
          <a:bodyPr/>
          <a:lstStyle/>
          <a:p>
            <a:fld id="{17E98600-AFAC-DC44-88C7-E66A53905F06}" type="datetimeFigureOut">
              <a:rPr lang="en-BD" smtClean="0"/>
              <a:t>8/6/26</a:t>
            </a:fld>
            <a:endParaRPr lang="en-BD"/>
          </a:p>
        </p:txBody>
      </p:sp>
      <p:sp>
        <p:nvSpPr>
          <p:cNvPr id="6" name="Footer Placeholder 5">
            <a:extLst>
              <a:ext uri="{FF2B5EF4-FFF2-40B4-BE49-F238E27FC236}">
                <a16:creationId xmlns:a16="http://schemas.microsoft.com/office/drawing/2014/main" id="{8C4161DA-00DB-8743-8165-EC6065F0A6EA}"/>
              </a:ext>
            </a:extLst>
          </p:cNvPr>
          <p:cNvSpPr>
            <a:spLocks noGrp="1"/>
          </p:cNvSpPr>
          <p:nvPr>
            <p:ph type="ftr" sz="quarter" idx="11"/>
          </p:nvPr>
        </p:nvSpPr>
        <p:spPr/>
        <p:txBody>
          <a:bodyPr/>
          <a:lstStyle/>
          <a:p>
            <a:endParaRPr lang="en-BD"/>
          </a:p>
        </p:txBody>
      </p:sp>
      <p:sp>
        <p:nvSpPr>
          <p:cNvPr id="7" name="Slide Number Placeholder 6">
            <a:extLst>
              <a:ext uri="{FF2B5EF4-FFF2-40B4-BE49-F238E27FC236}">
                <a16:creationId xmlns:a16="http://schemas.microsoft.com/office/drawing/2014/main" id="{AC99F5CA-E97D-6D4A-9CDB-A909FBEE3D89}"/>
              </a:ext>
            </a:extLst>
          </p:cNvPr>
          <p:cNvSpPr>
            <a:spLocks noGrp="1"/>
          </p:cNvSpPr>
          <p:nvPr>
            <p:ph type="sldNum" sz="quarter" idx="12"/>
          </p:nvPr>
        </p:nvSpPr>
        <p:spPr/>
        <p:txBody>
          <a:bodyPr/>
          <a:lstStyle/>
          <a:p>
            <a:fld id="{B1AC5EE3-9BFA-814A-AFA6-F29E72D033EB}" type="slidenum">
              <a:rPr lang="en-BD" smtClean="0"/>
              <a:t>‹#›</a:t>
            </a:fld>
            <a:endParaRPr lang="en-BD"/>
          </a:p>
        </p:txBody>
      </p:sp>
    </p:spTree>
    <p:extLst>
      <p:ext uri="{BB962C8B-B14F-4D97-AF65-F5344CB8AC3E}">
        <p14:creationId xmlns:p14="http://schemas.microsoft.com/office/powerpoint/2010/main" val="411577852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AD00EE-C442-A448-93D6-8F98D36A9A33}"/>
              </a:ext>
            </a:extLst>
          </p:cNvPr>
          <p:cNvSpPr>
            <a:spLocks noGrp="1"/>
          </p:cNvSpPr>
          <p:nvPr>
            <p:ph type="title"/>
          </p:nvPr>
        </p:nvSpPr>
        <p:spPr>
          <a:xfrm>
            <a:off x="839788" y="365125"/>
            <a:ext cx="10515600" cy="1325563"/>
          </a:xfrm>
        </p:spPr>
        <p:txBody>
          <a:bodyPr/>
          <a:lstStyle/>
          <a:p>
            <a:r>
              <a:rPr lang="en-GB"/>
              <a:t>Click to edit Master title style</a:t>
            </a:r>
            <a:endParaRPr lang="en-BD"/>
          </a:p>
        </p:txBody>
      </p:sp>
      <p:sp>
        <p:nvSpPr>
          <p:cNvPr id="3" name="Text Placeholder 2">
            <a:extLst>
              <a:ext uri="{FF2B5EF4-FFF2-40B4-BE49-F238E27FC236}">
                <a16:creationId xmlns:a16="http://schemas.microsoft.com/office/drawing/2014/main" id="{45E79038-533D-6B4C-B760-F19AEF75D1C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16332461-6AA3-6449-BD5A-14F0738135D2}"/>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BD"/>
          </a:p>
        </p:txBody>
      </p:sp>
      <p:sp>
        <p:nvSpPr>
          <p:cNvPr id="5" name="Text Placeholder 4">
            <a:extLst>
              <a:ext uri="{FF2B5EF4-FFF2-40B4-BE49-F238E27FC236}">
                <a16:creationId xmlns:a16="http://schemas.microsoft.com/office/drawing/2014/main" id="{D25B736D-167E-6B4B-B15D-B815CC372EF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B8B7575C-9142-7441-99AE-C75C69D2EC62}"/>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BD"/>
          </a:p>
        </p:txBody>
      </p:sp>
      <p:sp>
        <p:nvSpPr>
          <p:cNvPr id="7" name="Date Placeholder 6">
            <a:extLst>
              <a:ext uri="{FF2B5EF4-FFF2-40B4-BE49-F238E27FC236}">
                <a16:creationId xmlns:a16="http://schemas.microsoft.com/office/drawing/2014/main" id="{A91C35B1-CBD2-6640-BBDE-698C66D17601}"/>
              </a:ext>
            </a:extLst>
          </p:cNvPr>
          <p:cNvSpPr>
            <a:spLocks noGrp="1"/>
          </p:cNvSpPr>
          <p:nvPr>
            <p:ph type="dt" sz="half" idx="10"/>
          </p:nvPr>
        </p:nvSpPr>
        <p:spPr/>
        <p:txBody>
          <a:bodyPr/>
          <a:lstStyle/>
          <a:p>
            <a:fld id="{17E98600-AFAC-DC44-88C7-E66A53905F06}" type="datetimeFigureOut">
              <a:rPr lang="en-BD" smtClean="0"/>
              <a:t>8/6/26</a:t>
            </a:fld>
            <a:endParaRPr lang="en-BD"/>
          </a:p>
        </p:txBody>
      </p:sp>
      <p:sp>
        <p:nvSpPr>
          <p:cNvPr id="8" name="Footer Placeholder 7">
            <a:extLst>
              <a:ext uri="{FF2B5EF4-FFF2-40B4-BE49-F238E27FC236}">
                <a16:creationId xmlns:a16="http://schemas.microsoft.com/office/drawing/2014/main" id="{AD965A8B-B9CB-AF4D-A1E6-EA9F80C44FDB}"/>
              </a:ext>
            </a:extLst>
          </p:cNvPr>
          <p:cNvSpPr>
            <a:spLocks noGrp="1"/>
          </p:cNvSpPr>
          <p:nvPr>
            <p:ph type="ftr" sz="quarter" idx="11"/>
          </p:nvPr>
        </p:nvSpPr>
        <p:spPr/>
        <p:txBody>
          <a:bodyPr/>
          <a:lstStyle/>
          <a:p>
            <a:endParaRPr lang="en-BD"/>
          </a:p>
        </p:txBody>
      </p:sp>
      <p:sp>
        <p:nvSpPr>
          <p:cNvPr id="9" name="Slide Number Placeholder 8">
            <a:extLst>
              <a:ext uri="{FF2B5EF4-FFF2-40B4-BE49-F238E27FC236}">
                <a16:creationId xmlns:a16="http://schemas.microsoft.com/office/drawing/2014/main" id="{8AE8146C-AED0-5142-A61D-F0737206EDD4}"/>
              </a:ext>
            </a:extLst>
          </p:cNvPr>
          <p:cNvSpPr>
            <a:spLocks noGrp="1"/>
          </p:cNvSpPr>
          <p:nvPr>
            <p:ph type="sldNum" sz="quarter" idx="12"/>
          </p:nvPr>
        </p:nvSpPr>
        <p:spPr/>
        <p:txBody>
          <a:bodyPr/>
          <a:lstStyle/>
          <a:p>
            <a:fld id="{B1AC5EE3-9BFA-814A-AFA6-F29E72D033EB}" type="slidenum">
              <a:rPr lang="en-BD" smtClean="0"/>
              <a:t>‹#›</a:t>
            </a:fld>
            <a:endParaRPr lang="en-BD"/>
          </a:p>
        </p:txBody>
      </p:sp>
    </p:spTree>
    <p:extLst>
      <p:ext uri="{BB962C8B-B14F-4D97-AF65-F5344CB8AC3E}">
        <p14:creationId xmlns:p14="http://schemas.microsoft.com/office/powerpoint/2010/main" val="402401063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4988CD-4395-4247-BE48-BAD286AA21BE}"/>
              </a:ext>
            </a:extLst>
          </p:cNvPr>
          <p:cNvSpPr>
            <a:spLocks noGrp="1"/>
          </p:cNvSpPr>
          <p:nvPr>
            <p:ph type="title"/>
          </p:nvPr>
        </p:nvSpPr>
        <p:spPr/>
        <p:txBody>
          <a:bodyPr/>
          <a:lstStyle/>
          <a:p>
            <a:r>
              <a:rPr lang="en-GB"/>
              <a:t>Click to edit Master title style</a:t>
            </a:r>
            <a:endParaRPr lang="en-BD"/>
          </a:p>
        </p:txBody>
      </p:sp>
      <p:sp>
        <p:nvSpPr>
          <p:cNvPr id="3" name="Date Placeholder 2">
            <a:extLst>
              <a:ext uri="{FF2B5EF4-FFF2-40B4-BE49-F238E27FC236}">
                <a16:creationId xmlns:a16="http://schemas.microsoft.com/office/drawing/2014/main" id="{2F0B4B32-39E3-094B-B731-8933CCCB2317}"/>
              </a:ext>
            </a:extLst>
          </p:cNvPr>
          <p:cNvSpPr>
            <a:spLocks noGrp="1"/>
          </p:cNvSpPr>
          <p:nvPr>
            <p:ph type="dt" sz="half" idx="10"/>
          </p:nvPr>
        </p:nvSpPr>
        <p:spPr/>
        <p:txBody>
          <a:bodyPr/>
          <a:lstStyle/>
          <a:p>
            <a:fld id="{17E98600-AFAC-DC44-88C7-E66A53905F06}" type="datetimeFigureOut">
              <a:rPr lang="en-BD" smtClean="0"/>
              <a:t>8/6/26</a:t>
            </a:fld>
            <a:endParaRPr lang="en-BD"/>
          </a:p>
        </p:txBody>
      </p:sp>
      <p:sp>
        <p:nvSpPr>
          <p:cNvPr id="4" name="Footer Placeholder 3">
            <a:extLst>
              <a:ext uri="{FF2B5EF4-FFF2-40B4-BE49-F238E27FC236}">
                <a16:creationId xmlns:a16="http://schemas.microsoft.com/office/drawing/2014/main" id="{7CDA0018-2461-CA4B-95D3-86E36DF08630}"/>
              </a:ext>
            </a:extLst>
          </p:cNvPr>
          <p:cNvSpPr>
            <a:spLocks noGrp="1"/>
          </p:cNvSpPr>
          <p:nvPr>
            <p:ph type="ftr" sz="quarter" idx="11"/>
          </p:nvPr>
        </p:nvSpPr>
        <p:spPr/>
        <p:txBody>
          <a:bodyPr/>
          <a:lstStyle/>
          <a:p>
            <a:endParaRPr lang="en-BD"/>
          </a:p>
        </p:txBody>
      </p:sp>
      <p:sp>
        <p:nvSpPr>
          <p:cNvPr id="5" name="Slide Number Placeholder 4">
            <a:extLst>
              <a:ext uri="{FF2B5EF4-FFF2-40B4-BE49-F238E27FC236}">
                <a16:creationId xmlns:a16="http://schemas.microsoft.com/office/drawing/2014/main" id="{6E703B91-0F56-7F40-930D-E7FC3A705A7C}"/>
              </a:ext>
            </a:extLst>
          </p:cNvPr>
          <p:cNvSpPr>
            <a:spLocks noGrp="1"/>
          </p:cNvSpPr>
          <p:nvPr>
            <p:ph type="sldNum" sz="quarter" idx="12"/>
          </p:nvPr>
        </p:nvSpPr>
        <p:spPr/>
        <p:txBody>
          <a:bodyPr/>
          <a:lstStyle/>
          <a:p>
            <a:fld id="{B1AC5EE3-9BFA-814A-AFA6-F29E72D033EB}" type="slidenum">
              <a:rPr lang="en-BD" smtClean="0"/>
              <a:t>‹#›</a:t>
            </a:fld>
            <a:endParaRPr lang="en-BD"/>
          </a:p>
        </p:txBody>
      </p:sp>
    </p:spTree>
    <p:extLst>
      <p:ext uri="{BB962C8B-B14F-4D97-AF65-F5344CB8AC3E}">
        <p14:creationId xmlns:p14="http://schemas.microsoft.com/office/powerpoint/2010/main" val="286301973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2B1DFC4-314C-D245-811F-FA76C87EA8AE}"/>
              </a:ext>
            </a:extLst>
          </p:cNvPr>
          <p:cNvSpPr>
            <a:spLocks noGrp="1"/>
          </p:cNvSpPr>
          <p:nvPr>
            <p:ph type="dt" sz="half" idx="10"/>
          </p:nvPr>
        </p:nvSpPr>
        <p:spPr/>
        <p:txBody>
          <a:bodyPr/>
          <a:lstStyle/>
          <a:p>
            <a:fld id="{17E98600-AFAC-DC44-88C7-E66A53905F06}" type="datetimeFigureOut">
              <a:rPr lang="en-BD" smtClean="0"/>
              <a:t>8/6/26</a:t>
            </a:fld>
            <a:endParaRPr lang="en-BD"/>
          </a:p>
        </p:txBody>
      </p:sp>
      <p:sp>
        <p:nvSpPr>
          <p:cNvPr id="3" name="Footer Placeholder 2">
            <a:extLst>
              <a:ext uri="{FF2B5EF4-FFF2-40B4-BE49-F238E27FC236}">
                <a16:creationId xmlns:a16="http://schemas.microsoft.com/office/drawing/2014/main" id="{1320DA26-EAD2-3541-9A24-53097AF80168}"/>
              </a:ext>
            </a:extLst>
          </p:cNvPr>
          <p:cNvSpPr>
            <a:spLocks noGrp="1"/>
          </p:cNvSpPr>
          <p:nvPr>
            <p:ph type="ftr" sz="quarter" idx="11"/>
          </p:nvPr>
        </p:nvSpPr>
        <p:spPr/>
        <p:txBody>
          <a:bodyPr/>
          <a:lstStyle/>
          <a:p>
            <a:endParaRPr lang="en-BD"/>
          </a:p>
        </p:txBody>
      </p:sp>
      <p:sp>
        <p:nvSpPr>
          <p:cNvPr id="4" name="Slide Number Placeholder 3">
            <a:extLst>
              <a:ext uri="{FF2B5EF4-FFF2-40B4-BE49-F238E27FC236}">
                <a16:creationId xmlns:a16="http://schemas.microsoft.com/office/drawing/2014/main" id="{D54E63CC-4D5C-1447-BF6C-5B20755BDF28}"/>
              </a:ext>
            </a:extLst>
          </p:cNvPr>
          <p:cNvSpPr>
            <a:spLocks noGrp="1"/>
          </p:cNvSpPr>
          <p:nvPr>
            <p:ph type="sldNum" sz="quarter" idx="12"/>
          </p:nvPr>
        </p:nvSpPr>
        <p:spPr/>
        <p:txBody>
          <a:bodyPr/>
          <a:lstStyle/>
          <a:p>
            <a:fld id="{B1AC5EE3-9BFA-814A-AFA6-F29E72D033EB}" type="slidenum">
              <a:rPr lang="en-BD" smtClean="0"/>
              <a:t>‹#›</a:t>
            </a:fld>
            <a:endParaRPr lang="en-BD"/>
          </a:p>
        </p:txBody>
      </p:sp>
    </p:spTree>
    <p:extLst>
      <p:ext uri="{BB962C8B-B14F-4D97-AF65-F5344CB8AC3E}">
        <p14:creationId xmlns:p14="http://schemas.microsoft.com/office/powerpoint/2010/main" val="402213710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EAD67F-36FF-3E49-830F-49BC06030F3F}"/>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BD"/>
          </a:p>
        </p:txBody>
      </p:sp>
      <p:sp>
        <p:nvSpPr>
          <p:cNvPr id="3" name="Content Placeholder 2">
            <a:extLst>
              <a:ext uri="{FF2B5EF4-FFF2-40B4-BE49-F238E27FC236}">
                <a16:creationId xmlns:a16="http://schemas.microsoft.com/office/drawing/2014/main" id="{367C9C5F-9DAA-5847-A9B4-4260F9608A0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BD"/>
          </a:p>
        </p:txBody>
      </p:sp>
      <p:sp>
        <p:nvSpPr>
          <p:cNvPr id="4" name="Text Placeholder 3">
            <a:extLst>
              <a:ext uri="{FF2B5EF4-FFF2-40B4-BE49-F238E27FC236}">
                <a16:creationId xmlns:a16="http://schemas.microsoft.com/office/drawing/2014/main" id="{E58F3684-A553-C846-B992-CF01603B7D8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EBBDF455-CA18-A043-BB4C-DADC24921C9D}"/>
              </a:ext>
            </a:extLst>
          </p:cNvPr>
          <p:cNvSpPr>
            <a:spLocks noGrp="1"/>
          </p:cNvSpPr>
          <p:nvPr>
            <p:ph type="dt" sz="half" idx="10"/>
          </p:nvPr>
        </p:nvSpPr>
        <p:spPr/>
        <p:txBody>
          <a:bodyPr/>
          <a:lstStyle/>
          <a:p>
            <a:fld id="{17E98600-AFAC-DC44-88C7-E66A53905F06}" type="datetimeFigureOut">
              <a:rPr lang="en-BD" smtClean="0"/>
              <a:t>8/6/26</a:t>
            </a:fld>
            <a:endParaRPr lang="en-BD"/>
          </a:p>
        </p:txBody>
      </p:sp>
      <p:sp>
        <p:nvSpPr>
          <p:cNvPr id="6" name="Footer Placeholder 5">
            <a:extLst>
              <a:ext uri="{FF2B5EF4-FFF2-40B4-BE49-F238E27FC236}">
                <a16:creationId xmlns:a16="http://schemas.microsoft.com/office/drawing/2014/main" id="{168B12DD-9A58-BE44-BFB2-D258FF15F7C8}"/>
              </a:ext>
            </a:extLst>
          </p:cNvPr>
          <p:cNvSpPr>
            <a:spLocks noGrp="1"/>
          </p:cNvSpPr>
          <p:nvPr>
            <p:ph type="ftr" sz="quarter" idx="11"/>
          </p:nvPr>
        </p:nvSpPr>
        <p:spPr/>
        <p:txBody>
          <a:bodyPr/>
          <a:lstStyle/>
          <a:p>
            <a:endParaRPr lang="en-BD"/>
          </a:p>
        </p:txBody>
      </p:sp>
      <p:sp>
        <p:nvSpPr>
          <p:cNvPr id="7" name="Slide Number Placeholder 6">
            <a:extLst>
              <a:ext uri="{FF2B5EF4-FFF2-40B4-BE49-F238E27FC236}">
                <a16:creationId xmlns:a16="http://schemas.microsoft.com/office/drawing/2014/main" id="{5493DCD0-65E2-5F4E-A86F-1BF472D835C0}"/>
              </a:ext>
            </a:extLst>
          </p:cNvPr>
          <p:cNvSpPr>
            <a:spLocks noGrp="1"/>
          </p:cNvSpPr>
          <p:nvPr>
            <p:ph type="sldNum" sz="quarter" idx="12"/>
          </p:nvPr>
        </p:nvSpPr>
        <p:spPr/>
        <p:txBody>
          <a:bodyPr/>
          <a:lstStyle/>
          <a:p>
            <a:fld id="{B1AC5EE3-9BFA-814A-AFA6-F29E72D033EB}" type="slidenum">
              <a:rPr lang="en-BD" smtClean="0"/>
              <a:t>‹#›</a:t>
            </a:fld>
            <a:endParaRPr lang="en-BD"/>
          </a:p>
        </p:txBody>
      </p:sp>
    </p:spTree>
    <p:extLst>
      <p:ext uri="{BB962C8B-B14F-4D97-AF65-F5344CB8AC3E}">
        <p14:creationId xmlns:p14="http://schemas.microsoft.com/office/powerpoint/2010/main" val="27753109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912FD1-6CA3-B64C-B177-A350552067F0}"/>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BD"/>
          </a:p>
        </p:txBody>
      </p:sp>
      <p:sp>
        <p:nvSpPr>
          <p:cNvPr id="3" name="Picture Placeholder 2">
            <a:extLst>
              <a:ext uri="{FF2B5EF4-FFF2-40B4-BE49-F238E27FC236}">
                <a16:creationId xmlns:a16="http://schemas.microsoft.com/office/drawing/2014/main" id="{8DDA3396-8761-DB4C-9838-43BB2654B4B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BD"/>
          </a:p>
        </p:txBody>
      </p:sp>
      <p:sp>
        <p:nvSpPr>
          <p:cNvPr id="4" name="Text Placeholder 3">
            <a:extLst>
              <a:ext uri="{FF2B5EF4-FFF2-40B4-BE49-F238E27FC236}">
                <a16:creationId xmlns:a16="http://schemas.microsoft.com/office/drawing/2014/main" id="{834A510F-7A36-7F40-9F38-F5F390F87B0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E470E89D-14B4-364F-92CF-D89C25192112}"/>
              </a:ext>
            </a:extLst>
          </p:cNvPr>
          <p:cNvSpPr>
            <a:spLocks noGrp="1"/>
          </p:cNvSpPr>
          <p:nvPr>
            <p:ph type="dt" sz="half" idx="10"/>
          </p:nvPr>
        </p:nvSpPr>
        <p:spPr/>
        <p:txBody>
          <a:bodyPr/>
          <a:lstStyle/>
          <a:p>
            <a:fld id="{17E98600-AFAC-DC44-88C7-E66A53905F06}" type="datetimeFigureOut">
              <a:rPr lang="en-BD" smtClean="0"/>
              <a:t>8/6/26</a:t>
            </a:fld>
            <a:endParaRPr lang="en-BD"/>
          </a:p>
        </p:txBody>
      </p:sp>
      <p:sp>
        <p:nvSpPr>
          <p:cNvPr id="6" name="Footer Placeholder 5">
            <a:extLst>
              <a:ext uri="{FF2B5EF4-FFF2-40B4-BE49-F238E27FC236}">
                <a16:creationId xmlns:a16="http://schemas.microsoft.com/office/drawing/2014/main" id="{6351FD21-7501-7C43-AF54-F32EB3A3D17D}"/>
              </a:ext>
            </a:extLst>
          </p:cNvPr>
          <p:cNvSpPr>
            <a:spLocks noGrp="1"/>
          </p:cNvSpPr>
          <p:nvPr>
            <p:ph type="ftr" sz="quarter" idx="11"/>
          </p:nvPr>
        </p:nvSpPr>
        <p:spPr/>
        <p:txBody>
          <a:bodyPr/>
          <a:lstStyle/>
          <a:p>
            <a:endParaRPr lang="en-BD"/>
          </a:p>
        </p:txBody>
      </p:sp>
      <p:sp>
        <p:nvSpPr>
          <p:cNvPr id="7" name="Slide Number Placeholder 6">
            <a:extLst>
              <a:ext uri="{FF2B5EF4-FFF2-40B4-BE49-F238E27FC236}">
                <a16:creationId xmlns:a16="http://schemas.microsoft.com/office/drawing/2014/main" id="{5D7D6E13-9E08-784E-A134-0314D6EE3AC2}"/>
              </a:ext>
            </a:extLst>
          </p:cNvPr>
          <p:cNvSpPr>
            <a:spLocks noGrp="1"/>
          </p:cNvSpPr>
          <p:nvPr>
            <p:ph type="sldNum" sz="quarter" idx="12"/>
          </p:nvPr>
        </p:nvSpPr>
        <p:spPr/>
        <p:txBody>
          <a:bodyPr/>
          <a:lstStyle/>
          <a:p>
            <a:fld id="{B1AC5EE3-9BFA-814A-AFA6-F29E72D033EB}" type="slidenum">
              <a:rPr lang="en-BD" smtClean="0"/>
              <a:t>‹#›</a:t>
            </a:fld>
            <a:endParaRPr lang="en-BD"/>
          </a:p>
        </p:txBody>
      </p:sp>
    </p:spTree>
    <p:extLst>
      <p:ext uri="{BB962C8B-B14F-4D97-AF65-F5344CB8AC3E}">
        <p14:creationId xmlns:p14="http://schemas.microsoft.com/office/powerpoint/2010/main" val="257572615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F63292-E5F5-F141-A8E8-BB6E0FCB94F5}"/>
              </a:ext>
            </a:extLst>
          </p:cNvPr>
          <p:cNvSpPr>
            <a:spLocks noGrp="1"/>
          </p:cNvSpPr>
          <p:nvPr>
            <p:ph type="title"/>
          </p:nvPr>
        </p:nvSpPr>
        <p:spPr/>
        <p:txBody>
          <a:bodyPr/>
          <a:lstStyle/>
          <a:p>
            <a:r>
              <a:rPr lang="en-GB"/>
              <a:t>Click to edit Master title style</a:t>
            </a:r>
            <a:endParaRPr lang="en-BD"/>
          </a:p>
        </p:txBody>
      </p:sp>
      <p:sp>
        <p:nvSpPr>
          <p:cNvPr id="3" name="Vertical Text Placeholder 2">
            <a:extLst>
              <a:ext uri="{FF2B5EF4-FFF2-40B4-BE49-F238E27FC236}">
                <a16:creationId xmlns:a16="http://schemas.microsoft.com/office/drawing/2014/main" id="{27D4EB22-0A2D-3F4D-AED2-64917AE8F762}"/>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BD"/>
          </a:p>
        </p:txBody>
      </p:sp>
      <p:sp>
        <p:nvSpPr>
          <p:cNvPr id="4" name="Date Placeholder 3">
            <a:extLst>
              <a:ext uri="{FF2B5EF4-FFF2-40B4-BE49-F238E27FC236}">
                <a16:creationId xmlns:a16="http://schemas.microsoft.com/office/drawing/2014/main" id="{93E047F9-A0C3-1A45-86AF-30603E974CA8}"/>
              </a:ext>
            </a:extLst>
          </p:cNvPr>
          <p:cNvSpPr>
            <a:spLocks noGrp="1"/>
          </p:cNvSpPr>
          <p:nvPr>
            <p:ph type="dt" sz="half" idx="10"/>
          </p:nvPr>
        </p:nvSpPr>
        <p:spPr/>
        <p:txBody>
          <a:bodyPr/>
          <a:lstStyle/>
          <a:p>
            <a:fld id="{17E98600-AFAC-DC44-88C7-E66A53905F06}" type="datetimeFigureOut">
              <a:rPr lang="en-BD" smtClean="0"/>
              <a:t>8/6/26</a:t>
            </a:fld>
            <a:endParaRPr lang="en-BD"/>
          </a:p>
        </p:txBody>
      </p:sp>
      <p:sp>
        <p:nvSpPr>
          <p:cNvPr id="5" name="Footer Placeholder 4">
            <a:extLst>
              <a:ext uri="{FF2B5EF4-FFF2-40B4-BE49-F238E27FC236}">
                <a16:creationId xmlns:a16="http://schemas.microsoft.com/office/drawing/2014/main" id="{58FB9519-10A3-8F4F-9995-FBA84982D4EE}"/>
              </a:ext>
            </a:extLst>
          </p:cNvPr>
          <p:cNvSpPr>
            <a:spLocks noGrp="1"/>
          </p:cNvSpPr>
          <p:nvPr>
            <p:ph type="ftr" sz="quarter" idx="11"/>
          </p:nvPr>
        </p:nvSpPr>
        <p:spPr/>
        <p:txBody>
          <a:bodyPr/>
          <a:lstStyle/>
          <a:p>
            <a:endParaRPr lang="en-BD"/>
          </a:p>
        </p:txBody>
      </p:sp>
      <p:sp>
        <p:nvSpPr>
          <p:cNvPr id="6" name="Slide Number Placeholder 5">
            <a:extLst>
              <a:ext uri="{FF2B5EF4-FFF2-40B4-BE49-F238E27FC236}">
                <a16:creationId xmlns:a16="http://schemas.microsoft.com/office/drawing/2014/main" id="{3662A4A9-36F6-A54C-94A2-56CDDE4667B8}"/>
              </a:ext>
            </a:extLst>
          </p:cNvPr>
          <p:cNvSpPr>
            <a:spLocks noGrp="1"/>
          </p:cNvSpPr>
          <p:nvPr>
            <p:ph type="sldNum" sz="quarter" idx="12"/>
          </p:nvPr>
        </p:nvSpPr>
        <p:spPr/>
        <p:txBody>
          <a:bodyPr/>
          <a:lstStyle/>
          <a:p>
            <a:fld id="{B1AC5EE3-9BFA-814A-AFA6-F29E72D033EB}" type="slidenum">
              <a:rPr lang="en-BD" smtClean="0"/>
              <a:t>‹#›</a:t>
            </a:fld>
            <a:endParaRPr lang="en-BD"/>
          </a:p>
        </p:txBody>
      </p:sp>
    </p:spTree>
    <p:extLst>
      <p:ext uri="{BB962C8B-B14F-4D97-AF65-F5344CB8AC3E}">
        <p14:creationId xmlns:p14="http://schemas.microsoft.com/office/powerpoint/2010/main" val="90699833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DD25953-5754-8044-9716-84BB0A090F5F}"/>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BD"/>
          </a:p>
        </p:txBody>
      </p:sp>
      <p:sp>
        <p:nvSpPr>
          <p:cNvPr id="3" name="Vertical Text Placeholder 2">
            <a:extLst>
              <a:ext uri="{FF2B5EF4-FFF2-40B4-BE49-F238E27FC236}">
                <a16:creationId xmlns:a16="http://schemas.microsoft.com/office/drawing/2014/main" id="{18E1A135-86C5-4E4D-BD93-186AAE16ECA5}"/>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BD"/>
          </a:p>
        </p:txBody>
      </p:sp>
      <p:sp>
        <p:nvSpPr>
          <p:cNvPr id="4" name="Date Placeholder 3">
            <a:extLst>
              <a:ext uri="{FF2B5EF4-FFF2-40B4-BE49-F238E27FC236}">
                <a16:creationId xmlns:a16="http://schemas.microsoft.com/office/drawing/2014/main" id="{5ACFA120-BDB7-D848-AC90-9FE83FEDB9A1}"/>
              </a:ext>
            </a:extLst>
          </p:cNvPr>
          <p:cNvSpPr>
            <a:spLocks noGrp="1"/>
          </p:cNvSpPr>
          <p:nvPr>
            <p:ph type="dt" sz="half" idx="10"/>
          </p:nvPr>
        </p:nvSpPr>
        <p:spPr/>
        <p:txBody>
          <a:bodyPr/>
          <a:lstStyle/>
          <a:p>
            <a:fld id="{17E98600-AFAC-DC44-88C7-E66A53905F06}" type="datetimeFigureOut">
              <a:rPr lang="en-BD" smtClean="0"/>
              <a:t>8/6/26</a:t>
            </a:fld>
            <a:endParaRPr lang="en-BD"/>
          </a:p>
        </p:txBody>
      </p:sp>
      <p:sp>
        <p:nvSpPr>
          <p:cNvPr id="5" name="Footer Placeholder 4">
            <a:extLst>
              <a:ext uri="{FF2B5EF4-FFF2-40B4-BE49-F238E27FC236}">
                <a16:creationId xmlns:a16="http://schemas.microsoft.com/office/drawing/2014/main" id="{8F4B1F53-94C1-5642-A4B0-645D6C7BC535}"/>
              </a:ext>
            </a:extLst>
          </p:cNvPr>
          <p:cNvSpPr>
            <a:spLocks noGrp="1"/>
          </p:cNvSpPr>
          <p:nvPr>
            <p:ph type="ftr" sz="quarter" idx="11"/>
          </p:nvPr>
        </p:nvSpPr>
        <p:spPr/>
        <p:txBody>
          <a:bodyPr/>
          <a:lstStyle/>
          <a:p>
            <a:endParaRPr lang="en-BD"/>
          </a:p>
        </p:txBody>
      </p:sp>
      <p:sp>
        <p:nvSpPr>
          <p:cNvPr id="6" name="Slide Number Placeholder 5">
            <a:extLst>
              <a:ext uri="{FF2B5EF4-FFF2-40B4-BE49-F238E27FC236}">
                <a16:creationId xmlns:a16="http://schemas.microsoft.com/office/drawing/2014/main" id="{113FAE7A-FDBF-5749-8760-71E7D40F819A}"/>
              </a:ext>
            </a:extLst>
          </p:cNvPr>
          <p:cNvSpPr>
            <a:spLocks noGrp="1"/>
          </p:cNvSpPr>
          <p:nvPr>
            <p:ph type="sldNum" sz="quarter" idx="12"/>
          </p:nvPr>
        </p:nvSpPr>
        <p:spPr/>
        <p:txBody>
          <a:bodyPr/>
          <a:lstStyle/>
          <a:p>
            <a:fld id="{B1AC5EE3-9BFA-814A-AFA6-F29E72D033EB}" type="slidenum">
              <a:rPr lang="en-BD" smtClean="0"/>
              <a:t>‹#›</a:t>
            </a:fld>
            <a:endParaRPr lang="en-BD"/>
          </a:p>
        </p:txBody>
      </p:sp>
    </p:spTree>
    <p:extLst>
      <p:ext uri="{BB962C8B-B14F-4D97-AF65-F5344CB8AC3E}">
        <p14:creationId xmlns:p14="http://schemas.microsoft.com/office/powerpoint/2010/main" val="22702781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BD19406-1135-0340-A833-9B69FEB1191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BD"/>
          </a:p>
        </p:txBody>
      </p:sp>
      <p:sp>
        <p:nvSpPr>
          <p:cNvPr id="3" name="Text Placeholder 2">
            <a:extLst>
              <a:ext uri="{FF2B5EF4-FFF2-40B4-BE49-F238E27FC236}">
                <a16:creationId xmlns:a16="http://schemas.microsoft.com/office/drawing/2014/main" id="{670A2CBC-F636-CB4B-9707-5D6EF8EB12F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BD"/>
          </a:p>
        </p:txBody>
      </p:sp>
      <p:sp>
        <p:nvSpPr>
          <p:cNvPr id="4" name="Date Placeholder 3">
            <a:extLst>
              <a:ext uri="{FF2B5EF4-FFF2-40B4-BE49-F238E27FC236}">
                <a16:creationId xmlns:a16="http://schemas.microsoft.com/office/drawing/2014/main" id="{2C02B79E-02C1-2C4C-BDFD-58FF97C8E76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7E98600-AFAC-DC44-88C7-E66A53905F06}" type="datetimeFigureOut">
              <a:rPr lang="en-BD" smtClean="0"/>
              <a:t>8/6/26</a:t>
            </a:fld>
            <a:endParaRPr lang="en-BD"/>
          </a:p>
        </p:txBody>
      </p:sp>
      <p:sp>
        <p:nvSpPr>
          <p:cNvPr id="5" name="Footer Placeholder 4">
            <a:extLst>
              <a:ext uri="{FF2B5EF4-FFF2-40B4-BE49-F238E27FC236}">
                <a16:creationId xmlns:a16="http://schemas.microsoft.com/office/drawing/2014/main" id="{00863286-949C-5848-80E5-BF557F12871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BD"/>
          </a:p>
        </p:txBody>
      </p:sp>
      <p:sp>
        <p:nvSpPr>
          <p:cNvPr id="6" name="Slide Number Placeholder 5">
            <a:extLst>
              <a:ext uri="{FF2B5EF4-FFF2-40B4-BE49-F238E27FC236}">
                <a16:creationId xmlns:a16="http://schemas.microsoft.com/office/drawing/2014/main" id="{368EFE41-DE11-CD49-87AD-EAB64EAA68A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1AC5EE3-9BFA-814A-AFA6-F29E72D033EB}" type="slidenum">
              <a:rPr lang="en-BD" smtClean="0"/>
              <a:t>‹#›</a:t>
            </a:fld>
            <a:endParaRPr lang="en-BD"/>
          </a:p>
        </p:txBody>
      </p:sp>
    </p:spTree>
    <p:extLst>
      <p:ext uri="{BB962C8B-B14F-4D97-AF65-F5344CB8AC3E}">
        <p14:creationId xmlns:p14="http://schemas.microsoft.com/office/powerpoint/2010/main" val="189670848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B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emf"/><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229783-C4E5-7F44-A786-F95B92973A08}"/>
              </a:ext>
            </a:extLst>
          </p:cNvPr>
          <p:cNvSpPr>
            <a:spLocks noGrp="1"/>
          </p:cNvSpPr>
          <p:nvPr>
            <p:ph type="title"/>
          </p:nvPr>
        </p:nvSpPr>
        <p:spPr/>
        <p:txBody>
          <a:bodyPr/>
          <a:lstStyle/>
          <a:p>
            <a:endParaRPr lang="en-BD"/>
          </a:p>
        </p:txBody>
      </p:sp>
      <p:pic>
        <p:nvPicPr>
          <p:cNvPr id="5" name="Content Placeholder 4">
            <a:extLst>
              <a:ext uri="{FF2B5EF4-FFF2-40B4-BE49-F238E27FC236}">
                <a16:creationId xmlns:a16="http://schemas.microsoft.com/office/drawing/2014/main" id="{C100272C-1784-A54B-980D-BD176A033AA0}"/>
              </a:ext>
            </a:extLst>
          </p:cNvPr>
          <p:cNvPicPr>
            <a:picLocks noGrp="1" noChangeAspect="1"/>
          </p:cNvPicPr>
          <p:nvPr>
            <p:ph idx="1"/>
          </p:nvPr>
        </p:nvPicPr>
        <p:blipFill>
          <a:blip r:embed="rId2"/>
          <a:stretch>
            <a:fillRect/>
          </a:stretch>
        </p:blipFill>
        <p:spPr>
          <a:xfrm>
            <a:off x="-59473" y="0"/>
            <a:ext cx="12310946" cy="6961227"/>
          </a:xfrm>
        </p:spPr>
      </p:pic>
      <p:sp>
        <p:nvSpPr>
          <p:cNvPr id="6" name="TextBox 5">
            <a:extLst>
              <a:ext uri="{FF2B5EF4-FFF2-40B4-BE49-F238E27FC236}">
                <a16:creationId xmlns:a16="http://schemas.microsoft.com/office/drawing/2014/main" id="{4B02B145-FC94-7040-9024-6B98D1A20F48}"/>
              </a:ext>
            </a:extLst>
          </p:cNvPr>
          <p:cNvSpPr txBox="1"/>
          <p:nvPr/>
        </p:nvSpPr>
        <p:spPr>
          <a:xfrm>
            <a:off x="2758220" y="1786404"/>
            <a:ext cx="6675559" cy="4801314"/>
          </a:xfrm>
          <a:prstGeom prst="rect">
            <a:avLst/>
          </a:prstGeom>
          <a:noFill/>
        </p:spPr>
        <p:txBody>
          <a:bodyPr wrap="square" rtlCol="0">
            <a:spAutoFit/>
          </a:bodyPr>
          <a:lstStyle/>
          <a:p>
            <a:pPr algn="ctr">
              <a:lnSpc>
                <a:spcPct val="150000"/>
              </a:lnSpc>
            </a:pPr>
            <a:r>
              <a:rPr lang="en-BD" sz="5400" b="1" dirty="0">
                <a:latin typeface="MARKER FELT THIN" panose="02000400000000000000" pitchFamily="2" charset="77"/>
              </a:rPr>
              <a:t>Communication Perspectives</a:t>
            </a:r>
          </a:p>
          <a:p>
            <a:pPr algn="ctr">
              <a:lnSpc>
                <a:spcPct val="150000"/>
              </a:lnSpc>
            </a:pPr>
            <a:r>
              <a:rPr lang="en-BD" sz="3600" dirty="0">
                <a:latin typeface="Marker Felt Thin" panose="02000400000000000000" pitchFamily="2" charset="77"/>
              </a:rPr>
              <a:t>Chapter 1</a:t>
            </a:r>
          </a:p>
          <a:p>
            <a:pPr algn="ctr">
              <a:lnSpc>
                <a:spcPct val="150000"/>
              </a:lnSpc>
            </a:pPr>
            <a:r>
              <a:rPr lang="en-BD" sz="2400" dirty="0">
                <a:latin typeface="Marker Felt Thin" panose="02000400000000000000" pitchFamily="2" charset="77"/>
              </a:rPr>
              <a:t> NCA</a:t>
            </a:r>
          </a:p>
          <a:p>
            <a:pPr algn="ctr"/>
            <a:endParaRPr lang="en-BD" sz="5400" dirty="0">
              <a:latin typeface="Marker Felt Thin" panose="02000400000000000000" pitchFamily="2" charset="77"/>
            </a:endParaRPr>
          </a:p>
        </p:txBody>
      </p:sp>
    </p:spTree>
    <p:extLst>
      <p:ext uri="{BB962C8B-B14F-4D97-AF65-F5344CB8AC3E}">
        <p14:creationId xmlns:p14="http://schemas.microsoft.com/office/powerpoint/2010/main" val="191798722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F9EB3D34-D413-3641-A211-3B7FEA8681AB}"/>
              </a:ext>
            </a:extLst>
          </p:cNvPr>
          <p:cNvSpPr txBox="1"/>
          <p:nvPr/>
        </p:nvSpPr>
        <p:spPr>
          <a:xfrm>
            <a:off x="3049859" y="3244334"/>
            <a:ext cx="6099716" cy="369332"/>
          </a:xfrm>
          <a:prstGeom prst="rect">
            <a:avLst/>
          </a:prstGeom>
          <a:noFill/>
        </p:spPr>
        <p:txBody>
          <a:bodyPr wrap="square">
            <a:spAutoFit/>
          </a:bodyPr>
          <a:lstStyle/>
          <a:p>
            <a:endParaRPr lang="en-BD" dirty="0"/>
          </a:p>
        </p:txBody>
      </p:sp>
      <p:sp>
        <p:nvSpPr>
          <p:cNvPr id="7" name="TextBox 6">
            <a:extLst>
              <a:ext uri="{FF2B5EF4-FFF2-40B4-BE49-F238E27FC236}">
                <a16:creationId xmlns:a16="http://schemas.microsoft.com/office/drawing/2014/main" id="{49AD465A-BEDF-B34F-8009-A193D849C0D9}"/>
              </a:ext>
            </a:extLst>
          </p:cNvPr>
          <p:cNvSpPr txBox="1"/>
          <p:nvPr/>
        </p:nvSpPr>
        <p:spPr>
          <a:xfrm>
            <a:off x="3049859" y="3244334"/>
            <a:ext cx="6099716" cy="369332"/>
          </a:xfrm>
          <a:prstGeom prst="rect">
            <a:avLst/>
          </a:prstGeom>
          <a:noFill/>
        </p:spPr>
        <p:txBody>
          <a:bodyPr wrap="square">
            <a:spAutoFit/>
          </a:bodyPr>
          <a:lstStyle/>
          <a:p>
            <a:endParaRPr lang="en-BD" dirty="0"/>
          </a:p>
        </p:txBody>
      </p:sp>
      <p:sp>
        <p:nvSpPr>
          <p:cNvPr id="9" name="TextBox 8">
            <a:extLst>
              <a:ext uri="{FF2B5EF4-FFF2-40B4-BE49-F238E27FC236}">
                <a16:creationId xmlns:a16="http://schemas.microsoft.com/office/drawing/2014/main" id="{77698134-8252-7E4C-9B70-1B74FD8D05C1}"/>
              </a:ext>
            </a:extLst>
          </p:cNvPr>
          <p:cNvSpPr txBox="1"/>
          <p:nvPr/>
        </p:nvSpPr>
        <p:spPr>
          <a:xfrm>
            <a:off x="3049859" y="3244334"/>
            <a:ext cx="6099716" cy="369332"/>
          </a:xfrm>
          <a:prstGeom prst="rect">
            <a:avLst/>
          </a:prstGeom>
          <a:noFill/>
        </p:spPr>
        <p:txBody>
          <a:bodyPr wrap="square">
            <a:spAutoFit/>
          </a:bodyPr>
          <a:lstStyle/>
          <a:p>
            <a:endParaRPr lang="en-BD" dirty="0"/>
          </a:p>
        </p:txBody>
      </p:sp>
      <p:pic>
        <p:nvPicPr>
          <p:cNvPr id="13" name="Picture 12">
            <a:extLst>
              <a:ext uri="{FF2B5EF4-FFF2-40B4-BE49-F238E27FC236}">
                <a16:creationId xmlns:a16="http://schemas.microsoft.com/office/drawing/2014/main" id="{DA139272-EF67-0547-832E-E8D0322CA85A}"/>
              </a:ext>
            </a:extLst>
          </p:cNvPr>
          <p:cNvPicPr>
            <a:picLocks noChangeAspect="1"/>
          </p:cNvPicPr>
          <p:nvPr/>
        </p:nvPicPr>
        <p:blipFill>
          <a:blip r:embed="rId2"/>
          <a:stretch>
            <a:fillRect/>
          </a:stretch>
        </p:blipFill>
        <p:spPr>
          <a:xfrm>
            <a:off x="0" y="0"/>
            <a:ext cx="12192000" cy="6858000"/>
          </a:xfrm>
          <a:prstGeom prst="rect">
            <a:avLst/>
          </a:prstGeom>
        </p:spPr>
      </p:pic>
      <p:sp>
        <p:nvSpPr>
          <p:cNvPr id="14" name="TextBox 13">
            <a:extLst>
              <a:ext uri="{FF2B5EF4-FFF2-40B4-BE49-F238E27FC236}">
                <a16:creationId xmlns:a16="http://schemas.microsoft.com/office/drawing/2014/main" id="{6CCEB907-9012-3148-AA93-572D0B8AA3E0}"/>
              </a:ext>
            </a:extLst>
          </p:cNvPr>
          <p:cNvSpPr txBox="1"/>
          <p:nvPr/>
        </p:nvSpPr>
        <p:spPr>
          <a:xfrm>
            <a:off x="3445727" y="947854"/>
            <a:ext cx="5051502" cy="707886"/>
          </a:xfrm>
          <a:prstGeom prst="rect">
            <a:avLst/>
          </a:prstGeom>
          <a:noFill/>
          <a:ln w="50800">
            <a:noFill/>
          </a:ln>
        </p:spPr>
        <p:txBody>
          <a:bodyPr wrap="square" rtlCol="0">
            <a:spAutoFit/>
          </a:bodyPr>
          <a:lstStyle/>
          <a:p>
            <a:pPr algn="ctr"/>
            <a:r>
              <a:rPr lang="en-BD" sz="4000" dirty="0">
                <a:latin typeface="Marker Felt Thin" panose="02000400000000000000" pitchFamily="2" charset="77"/>
              </a:rPr>
              <a:t>Learning Objectives</a:t>
            </a:r>
          </a:p>
        </p:txBody>
      </p:sp>
      <p:sp>
        <p:nvSpPr>
          <p:cNvPr id="15" name="TextBox 14">
            <a:extLst>
              <a:ext uri="{FF2B5EF4-FFF2-40B4-BE49-F238E27FC236}">
                <a16:creationId xmlns:a16="http://schemas.microsoft.com/office/drawing/2014/main" id="{90F39C51-B4C7-A54F-A251-0C0F9FD94E73}"/>
              </a:ext>
            </a:extLst>
          </p:cNvPr>
          <p:cNvSpPr txBox="1"/>
          <p:nvPr/>
        </p:nvSpPr>
        <p:spPr>
          <a:xfrm>
            <a:off x="1948720" y="1828800"/>
            <a:ext cx="8634335" cy="2981009"/>
          </a:xfrm>
          <a:prstGeom prst="rect">
            <a:avLst/>
          </a:prstGeom>
          <a:noFill/>
        </p:spPr>
        <p:txBody>
          <a:bodyPr wrap="square" rtlCol="0">
            <a:spAutoFit/>
          </a:bodyPr>
          <a:lstStyle/>
          <a:p>
            <a:pPr marL="285750" indent="-285750">
              <a:lnSpc>
                <a:spcPct val="150000"/>
              </a:lnSpc>
              <a:buFont typeface="Courier New" panose="02070309020205020404" pitchFamily="49" charset="0"/>
              <a:buChar char="o"/>
            </a:pPr>
            <a:r>
              <a:rPr lang="en-BD" sz="3200" b="1" dirty="0">
                <a:solidFill>
                  <a:srgbClr val="453E0F"/>
                </a:solidFill>
                <a:latin typeface="Abadi MT Condensed Light" panose="020B0306030101010103" pitchFamily="34" charset="77"/>
                <a:ea typeface="Roboto" pitchFamily="2" charset="0"/>
              </a:rPr>
              <a:t>Understanding the nature of communication: encoding, decoding &amp; canned plans.</a:t>
            </a:r>
          </a:p>
          <a:p>
            <a:pPr marL="285750" indent="-285750">
              <a:lnSpc>
                <a:spcPct val="150000"/>
              </a:lnSpc>
              <a:buFont typeface="Courier New" panose="02070309020205020404" pitchFamily="49" charset="0"/>
              <a:buChar char="o"/>
            </a:pPr>
            <a:r>
              <a:rPr lang="en-BD" sz="3200" b="1">
                <a:solidFill>
                  <a:srgbClr val="453E0F"/>
                </a:solidFill>
                <a:latin typeface="Abadi MT Condensed Light" panose="020B0306030101010103" pitchFamily="34" charset="77"/>
                <a:ea typeface="Roboto" pitchFamily="2" charset="0"/>
              </a:rPr>
              <a:t>Five types of Communication </a:t>
            </a:r>
            <a:r>
              <a:rPr lang="en-BD" sz="3200" b="1" dirty="0">
                <a:solidFill>
                  <a:srgbClr val="453E0F"/>
                </a:solidFill>
                <a:latin typeface="Abadi MT Condensed Light" panose="020B0306030101010103" pitchFamily="34" charset="77"/>
                <a:ea typeface="Roboto" pitchFamily="2" charset="0"/>
              </a:rPr>
              <a:t>Contexts</a:t>
            </a:r>
          </a:p>
          <a:p>
            <a:pPr marL="285750" indent="-285750">
              <a:lnSpc>
                <a:spcPct val="150000"/>
              </a:lnSpc>
              <a:buFont typeface="Courier New" panose="02070309020205020404" pitchFamily="49" charset="0"/>
              <a:buChar char="o"/>
            </a:pPr>
            <a:r>
              <a:rPr lang="en-BD" sz="3200" b="1" dirty="0">
                <a:solidFill>
                  <a:srgbClr val="453E0F"/>
                </a:solidFill>
                <a:latin typeface="Abadi MT Condensed Light" panose="020B0306030101010103" pitchFamily="34" charset="77"/>
                <a:ea typeface="Roboto" pitchFamily="2" charset="0"/>
              </a:rPr>
              <a:t>Characteristics of communication</a:t>
            </a:r>
          </a:p>
        </p:txBody>
      </p:sp>
    </p:spTree>
    <p:extLst>
      <p:ext uri="{BB962C8B-B14F-4D97-AF65-F5344CB8AC3E}">
        <p14:creationId xmlns:p14="http://schemas.microsoft.com/office/powerpoint/2010/main" val="185432165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5BA37A-0A1D-5D4F-B0B0-D95CD15379CE}"/>
              </a:ext>
            </a:extLst>
          </p:cNvPr>
          <p:cNvSpPr>
            <a:spLocks noGrp="1"/>
          </p:cNvSpPr>
          <p:nvPr>
            <p:ph type="title"/>
          </p:nvPr>
        </p:nvSpPr>
        <p:spPr/>
        <p:txBody>
          <a:bodyPr/>
          <a:lstStyle/>
          <a:p>
            <a:endParaRPr lang="en-BD"/>
          </a:p>
        </p:txBody>
      </p:sp>
      <p:pic>
        <p:nvPicPr>
          <p:cNvPr id="5" name="Content Placeholder 4">
            <a:extLst>
              <a:ext uri="{FF2B5EF4-FFF2-40B4-BE49-F238E27FC236}">
                <a16:creationId xmlns:a16="http://schemas.microsoft.com/office/drawing/2014/main" id="{DEB8A33C-9B03-3840-83EC-F29CE7C9A01A}"/>
              </a:ext>
            </a:extLst>
          </p:cNvPr>
          <p:cNvPicPr>
            <a:picLocks noGrp="1" noChangeAspect="1"/>
          </p:cNvPicPr>
          <p:nvPr>
            <p:ph idx="1"/>
          </p:nvPr>
        </p:nvPicPr>
        <p:blipFill>
          <a:blip r:embed="rId2"/>
          <a:stretch>
            <a:fillRect/>
          </a:stretch>
        </p:blipFill>
        <p:spPr>
          <a:xfrm>
            <a:off x="0" y="-1"/>
            <a:ext cx="12192000" cy="6858001"/>
          </a:xfrm>
        </p:spPr>
      </p:pic>
      <p:sp>
        <p:nvSpPr>
          <p:cNvPr id="6" name="TextBox 5">
            <a:extLst>
              <a:ext uri="{FF2B5EF4-FFF2-40B4-BE49-F238E27FC236}">
                <a16:creationId xmlns:a16="http://schemas.microsoft.com/office/drawing/2014/main" id="{9976B8AD-90FE-6546-8BE9-586213A02B12}"/>
              </a:ext>
            </a:extLst>
          </p:cNvPr>
          <p:cNvSpPr txBox="1"/>
          <p:nvPr/>
        </p:nvSpPr>
        <p:spPr>
          <a:xfrm>
            <a:off x="2728146" y="2208761"/>
            <a:ext cx="6295869" cy="2440476"/>
          </a:xfrm>
          <a:prstGeom prst="rect">
            <a:avLst/>
          </a:prstGeom>
          <a:noFill/>
        </p:spPr>
        <p:txBody>
          <a:bodyPr wrap="square" rtlCol="0">
            <a:spAutoFit/>
          </a:bodyPr>
          <a:lstStyle/>
          <a:p>
            <a:pPr algn="ctr">
              <a:lnSpc>
                <a:spcPct val="150000"/>
              </a:lnSpc>
            </a:pPr>
            <a:r>
              <a:rPr lang="en-BD" sz="5400" b="1" dirty="0">
                <a:latin typeface="MARKER FELT THIN" panose="02000400000000000000" pitchFamily="2" charset="77"/>
              </a:rPr>
              <a:t>What is communication?</a:t>
            </a:r>
          </a:p>
        </p:txBody>
      </p:sp>
    </p:spTree>
    <p:extLst>
      <p:ext uri="{BB962C8B-B14F-4D97-AF65-F5344CB8AC3E}">
        <p14:creationId xmlns:p14="http://schemas.microsoft.com/office/powerpoint/2010/main" val="89133805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F9EB3D34-D413-3641-A211-3B7FEA8681AB}"/>
              </a:ext>
            </a:extLst>
          </p:cNvPr>
          <p:cNvSpPr txBox="1"/>
          <p:nvPr/>
        </p:nvSpPr>
        <p:spPr>
          <a:xfrm>
            <a:off x="3049859" y="3244334"/>
            <a:ext cx="6099716" cy="369332"/>
          </a:xfrm>
          <a:prstGeom prst="rect">
            <a:avLst/>
          </a:prstGeom>
          <a:noFill/>
        </p:spPr>
        <p:txBody>
          <a:bodyPr wrap="square">
            <a:spAutoFit/>
          </a:bodyPr>
          <a:lstStyle/>
          <a:p>
            <a:endParaRPr lang="en-BD" dirty="0"/>
          </a:p>
        </p:txBody>
      </p:sp>
      <p:sp>
        <p:nvSpPr>
          <p:cNvPr id="7" name="TextBox 6">
            <a:extLst>
              <a:ext uri="{FF2B5EF4-FFF2-40B4-BE49-F238E27FC236}">
                <a16:creationId xmlns:a16="http://schemas.microsoft.com/office/drawing/2014/main" id="{49AD465A-BEDF-B34F-8009-A193D849C0D9}"/>
              </a:ext>
            </a:extLst>
          </p:cNvPr>
          <p:cNvSpPr txBox="1"/>
          <p:nvPr/>
        </p:nvSpPr>
        <p:spPr>
          <a:xfrm>
            <a:off x="3049859" y="3244334"/>
            <a:ext cx="6099716" cy="369332"/>
          </a:xfrm>
          <a:prstGeom prst="rect">
            <a:avLst/>
          </a:prstGeom>
          <a:noFill/>
        </p:spPr>
        <p:txBody>
          <a:bodyPr wrap="square">
            <a:spAutoFit/>
          </a:bodyPr>
          <a:lstStyle/>
          <a:p>
            <a:endParaRPr lang="en-BD" dirty="0"/>
          </a:p>
        </p:txBody>
      </p:sp>
      <p:sp>
        <p:nvSpPr>
          <p:cNvPr id="9" name="TextBox 8">
            <a:extLst>
              <a:ext uri="{FF2B5EF4-FFF2-40B4-BE49-F238E27FC236}">
                <a16:creationId xmlns:a16="http://schemas.microsoft.com/office/drawing/2014/main" id="{77698134-8252-7E4C-9B70-1B74FD8D05C1}"/>
              </a:ext>
            </a:extLst>
          </p:cNvPr>
          <p:cNvSpPr txBox="1"/>
          <p:nvPr/>
        </p:nvSpPr>
        <p:spPr>
          <a:xfrm>
            <a:off x="3049859" y="3244334"/>
            <a:ext cx="6099716" cy="369332"/>
          </a:xfrm>
          <a:prstGeom prst="rect">
            <a:avLst/>
          </a:prstGeom>
          <a:noFill/>
        </p:spPr>
        <p:txBody>
          <a:bodyPr wrap="square">
            <a:spAutoFit/>
          </a:bodyPr>
          <a:lstStyle/>
          <a:p>
            <a:endParaRPr lang="en-BD" dirty="0"/>
          </a:p>
        </p:txBody>
      </p:sp>
      <p:pic>
        <p:nvPicPr>
          <p:cNvPr id="13" name="Picture 12">
            <a:extLst>
              <a:ext uri="{FF2B5EF4-FFF2-40B4-BE49-F238E27FC236}">
                <a16:creationId xmlns:a16="http://schemas.microsoft.com/office/drawing/2014/main" id="{DA139272-EF67-0547-832E-E8D0322CA85A}"/>
              </a:ext>
            </a:extLst>
          </p:cNvPr>
          <p:cNvPicPr>
            <a:picLocks noChangeAspect="1"/>
          </p:cNvPicPr>
          <p:nvPr/>
        </p:nvPicPr>
        <p:blipFill>
          <a:blip r:embed="rId2"/>
          <a:stretch>
            <a:fillRect/>
          </a:stretch>
        </p:blipFill>
        <p:spPr>
          <a:xfrm>
            <a:off x="0" y="0"/>
            <a:ext cx="12192000" cy="6858000"/>
          </a:xfrm>
          <a:prstGeom prst="rect">
            <a:avLst/>
          </a:prstGeom>
        </p:spPr>
      </p:pic>
      <p:sp>
        <p:nvSpPr>
          <p:cNvPr id="14" name="TextBox 13">
            <a:extLst>
              <a:ext uri="{FF2B5EF4-FFF2-40B4-BE49-F238E27FC236}">
                <a16:creationId xmlns:a16="http://schemas.microsoft.com/office/drawing/2014/main" id="{6CCEB907-9012-3148-AA93-572D0B8AA3E0}"/>
              </a:ext>
            </a:extLst>
          </p:cNvPr>
          <p:cNvSpPr txBox="1"/>
          <p:nvPr/>
        </p:nvSpPr>
        <p:spPr>
          <a:xfrm>
            <a:off x="3240127" y="567304"/>
            <a:ext cx="5503401" cy="1323439"/>
          </a:xfrm>
          <a:prstGeom prst="rect">
            <a:avLst/>
          </a:prstGeom>
          <a:noFill/>
          <a:ln w="50800">
            <a:noFill/>
          </a:ln>
        </p:spPr>
        <p:txBody>
          <a:bodyPr wrap="square" rtlCol="0">
            <a:spAutoFit/>
          </a:bodyPr>
          <a:lstStyle/>
          <a:p>
            <a:pPr algn="ctr"/>
            <a:r>
              <a:rPr lang="en-BD" sz="4000" dirty="0">
                <a:latin typeface="Marker Felt Thin" panose="02000400000000000000" pitchFamily="2" charset="77"/>
              </a:rPr>
              <a:t>What is Communication?</a:t>
            </a:r>
          </a:p>
          <a:p>
            <a:pPr algn="ctr"/>
            <a:endParaRPr lang="en-BD" sz="4000" dirty="0">
              <a:latin typeface="Marker Felt Thin" panose="02000400000000000000" pitchFamily="2" charset="77"/>
            </a:endParaRPr>
          </a:p>
        </p:txBody>
      </p:sp>
      <p:sp>
        <p:nvSpPr>
          <p:cNvPr id="15" name="TextBox 14">
            <a:extLst>
              <a:ext uri="{FF2B5EF4-FFF2-40B4-BE49-F238E27FC236}">
                <a16:creationId xmlns:a16="http://schemas.microsoft.com/office/drawing/2014/main" id="{90F39C51-B4C7-A54F-A251-0C0F9FD94E73}"/>
              </a:ext>
            </a:extLst>
          </p:cNvPr>
          <p:cNvSpPr txBox="1"/>
          <p:nvPr/>
        </p:nvSpPr>
        <p:spPr>
          <a:xfrm>
            <a:off x="1778832" y="1128247"/>
            <a:ext cx="8846727" cy="5929059"/>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BD" sz="2100" dirty="0">
                <a:solidFill>
                  <a:srgbClr val="453E0F"/>
                </a:solidFill>
                <a:latin typeface="Abadi MT Condensed Light" panose="020B0306030101010103" pitchFamily="34" charset="77"/>
              </a:rPr>
              <a:t>Communication is a complex process through which we </a:t>
            </a:r>
            <a:r>
              <a:rPr lang="en-BD" sz="2100" b="1" dirty="0">
                <a:latin typeface="Abadi MT Condensed Light" panose="020B0306030101010103" pitchFamily="34" charset="77"/>
              </a:rPr>
              <a:t>express, interpret, and coordinate messages </a:t>
            </a:r>
            <a:r>
              <a:rPr lang="en-BD" sz="2100" dirty="0">
                <a:solidFill>
                  <a:srgbClr val="453E0F"/>
                </a:solidFill>
                <a:latin typeface="Abadi MT Condensed Light" panose="020B0306030101010103" pitchFamily="34" charset="77"/>
              </a:rPr>
              <a:t>with others to create shared meaning, meet social goals, manage personal identity and carry out our relationships. At its core, </a:t>
            </a:r>
            <a:r>
              <a:rPr lang="en-BD" sz="2100" b="1" dirty="0">
                <a:latin typeface="Abadi MT Condensed Light" panose="020B0306030101010103" pitchFamily="34" charset="77"/>
              </a:rPr>
              <a:t>communication is about messages.</a:t>
            </a:r>
          </a:p>
          <a:p>
            <a:pPr marL="285750" indent="-285750">
              <a:lnSpc>
                <a:spcPct val="150000"/>
              </a:lnSpc>
              <a:buFont typeface="Arial" panose="020B0604020202020204" pitchFamily="34" charset="0"/>
              <a:buChar char="•"/>
            </a:pPr>
            <a:r>
              <a:rPr lang="en-BD" sz="2100" dirty="0">
                <a:solidFill>
                  <a:srgbClr val="453E0F"/>
                </a:solidFill>
                <a:latin typeface="Abadi MT Condensed Light" panose="020B0306030101010103" pitchFamily="34" charset="77"/>
              </a:rPr>
              <a:t>Messages are the </a:t>
            </a:r>
            <a:r>
              <a:rPr lang="en-BD" sz="2100" b="1" dirty="0">
                <a:latin typeface="Abadi MT Condensed Light" panose="020B0306030101010103" pitchFamily="34" charset="77"/>
              </a:rPr>
              <a:t>verbal utterances, visual images, and nonverbal behaviours </a:t>
            </a:r>
            <a:r>
              <a:rPr lang="en-BD" sz="2100" dirty="0">
                <a:solidFill>
                  <a:srgbClr val="453E0F"/>
                </a:solidFill>
                <a:latin typeface="Abadi MT Condensed Light" panose="020B0306030101010103" pitchFamily="34" charset="77"/>
              </a:rPr>
              <a:t>used to convey </a:t>
            </a:r>
            <a:r>
              <a:rPr lang="en-BD" sz="2100" b="1" dirty="0">
                <a:latin typeface="Abadi MT Condensed Light" panose="020B0306030101010103" pitchFamily="34" charset="77"/>
              </a:rPr>
              <a:t>thoughts and feelings.</a:t>
            </a:r>
          </a:p>
          <a:p>
            <a:pPr marL="285750" indent="-285750">
              <a:lnSpc>
                <a:spcPct val="150000"/>
              </a:lnSpc>
              <a:buFont typeface="Arial" panose="020B0604020202020204" pitchFamily="34" charset="0"/>
              <a:buChar char="•"/>
            </a:pPr>
            <a:r>
              <a:rPr lang="en-BD" sz="2100" dirty="0">
                <a:solidFill>
                  <a:srgbClr val="453E0F"/>
                </a:solidFill>
                <a:latin typeface="Abadi MT Condensed Light" panose="020B0306030101010103" pitchFamily="34" charset="77"/>
              </a:rPr>
              <a:t>We refer to the process of putting our </a:t>
            </a:r>
            <a:r>
              <a:rPr lang="en-BD" sz="2100" b="1" dirty="0">
                <a:latin typeface="Abadi MT Condensed Light" panose="020B0306030101010103" pitchFamily="34" charset="77"/>
              </a:rPr>
              <a:t>thoughts and feelings into words and nonverbal behaviours</a:t>
            </a:r>
            <a:r>
              <a:rPr lang="en-BD" sz="2100" dirty="0">
                <a:solidFill>
                  <a:srgbClr val="453E0F"/>
                </a:solidFill>
                <a:latin typeface="Abadi MT Condensed Light" panose="020B0306030101010103" pitchFamily="34" charset="77"/>
              </a:rPr>
              <a:t> as </a:t>
            </a:r>
            <a:r>
              <a:rPr lang="en-BD" sz="2100" b="1" dirty="0">
                <a:latin typeface="Abadi MT Condensed Light" panose="020B0306030101010103" pitchFamily="34" charset="77"/>
              </a:rPr>
              <a:t>encoding. </a:t>
            </a:r>
            <a:r>
              <a:rPr lang="en-GB" sz="2100" b="1" dirty="0">
                <a:latin typeface="Abadi MT Condensed Light" panose="020B0306030101010103" pitchFamily="34" charset="77"/>
              </a:rPr>
              <a:t>Encoding is how you package meaning. Effective speakers design messages with the audience’s decoding in mind.</a:t>
            </a:r>
            <a:endParaRPr lang="en-BD" sz="2100" b="1" dirty="0">
              <a:latin typeface="Abadi MT Condensed Light" panose="020B0306030101010103" pitchFamily="34" charset="77"/>
            </a:endParaRPr>
          </a:p>
          <a:p>
            <a:pPr marL="285750" indent="-285750">
              <a:lnSpc>
                <a:spcPct val="150000"/>
              </a:lnSpc>
              <a:buFont typeface="Arial" panose="020B0604020202020204" pitchFamily="34" charset="0"/>
              <a:buChar char="•"/>
            </a:pPr>
            <a:r>
              <a:rPr lang="en-BD" sz="2100" dirty="0">
                <a:solidFill>
                  <a:srgbClr val="453E0F"/>
                </a:solidFill>
                <a:latin typeface="Abadi MT Condensed Light" panose="020B0306030101010103" pitchFamily="34" charset="77"/>
              </a:rPr>
              <a:t>We refer to the process of </a:t>
            </a:r>
            <a:r>
              <a:rPr lang="en-BD" sz="2100" b="1" dirty="0">
                <a:latin typeface="Abadi MT Condensed Light" panose="020B0306030101010103" pitchFamily="34" charset="77"/>
              </a:rPr>
              <a:t>interpreting another person’s message </a:t>
            </a:r>
            <a:r>
              <a:rPr lang="en-BD" sz="2100" dirty="0">
                <a:solidFill>
                  <a:srgbClr val="453E0F"/>
                </a:solidFill>
                <a:latin typeface="Abadi MT Condensed Light" panose="020B0306030101010103" pitchFamily="34" charset="77"/>
              </a:rPr>
              <a:t>as </a:t>
            </a:r>
            <a:r>
              <a:rPr lang="en-BD" sz="2100" b="1" dirty="0">
                <a:latin typeface="Abadi MT Condensed Light" panose="020B0306030101010103" pitchFamily="34" charset="77"/>
              </a:rPr>
              <a:t>decoding. </a:t>
            </a:r>
            <a:r>
              <a:rPr lang="en-GB" sz="2100" b="1" dirty="0">
                <a:latin typeface="Abadi MT Condensed Light" panose="020B0306030101010103" pitchFamily="34" charset="77"/>
              </a:rPr>
              <a:t>People don’t decode messages the way you intended—they decode based on their frame.</a:t>
            </a:r>
            <a:endParaRPr lang="en-BD" sz="2100" b="1" dirty="0">
              <a:latin typeface="Abadi MT Condensed Light" panose="020B0306030101010103" pitchFamily="34" charset="77"/>
            </a:endParaRPr>
          </a:p>
          <a:p>
            <a:pPr marL="285750" indent="-285750">
              <a:lnSpc>
                <a:spcPct val="150000"/>
              </a:lnSpc>
              <a:buFont typeface="Arial" panose="020B0604020202020204" pitchFamily="34" charset="0"/>
              <a:buChar char="•"/>
            </a:pPr>
            <a:r>
              <a:rPr lang="en-GB" sz="2100" dirty="0">
                <a:solidFill>
                  <a:srgbClr val="453E0F"/>
                </a:solidFill>
                <a:latin typeface="Abadi MT Condensed Light" panose="020B0306030101010103" pitchFamily="34" charset="77"/>
              </a:rPr>
              <a:t>Who decides what a message means</a:t>
            </a:r>
            <a:r>
              <a:rPr lang="en-GB" sz="2100" b="1" dirty="0">
                <a:latin typeface="Abadi MT Condensed Light" panose="020B0306030101010103" pitchFamily="34" charset="77"/>
              </a:rPr>
              <a:t>—the sender or the receiver?</a:t>
            </a:r>
            <a:endParaRPr lang="en-BD" sz="2100" b="1" dirty="0">
              <a:latin typeface="Abadi MT Condensed Light" panose="020B0306030101010103" pitchFamily="34" charset="77"/>
            </a:endParaRPr>
          </a:p>
          <a:p>
            <a:pPr>
              <a:lnSpc>
                <a:spcPct val="150000"/>
              </a:lnSpc>
            </a:pPr>
            <a:endParaRPr lang="en-BD" sz="2400" b="1" dirty="0">
              <a:latin typeface="Abadi MT Condensed Light" panose="020B0306030101010103" pitchFamily="34" charset="77"/>
              <a:ea typeface="Roboto" pitchFamily="2" charset="0"/>
            </a:endParaRPr>
          </a:p>
        </p:txBody>
      </p:sp>
    </p:spTree>
    <p:extLst>
      <p:ext uri="{BB962C8B-B14F-4D97-AF65-F5344CB8AC3E}">
        <p14:creationId xmlns:p14="http://schemas.microsoft.com/office/powerpoint/2010/main" val="378640303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EC7877-DA56-FC4D-AA34-3F3FBCF81C1F}"/>
              </a:ext>
            </a:extLst>
          </p:cNvPr>
          <p:cNvSpPr>
            <a:spLocks noGrp="1"/>
          </p:cNvSpPr>
          <p:nvPr>
            <p:ph type="title"/>
          </p:nvPr>
        </p:nvSpPr>
        <p:spPr/>
        <p:txBody>
          <a:bodyPr/>
          <a:lstStyle/>
          <a:p>
            <a:endParaRPr lang="en-BD"/>
          </a:p>
        </p:txBody>
      </p:sp>
      <p:pic>
        <p:nvPicPr>
          <p:cNvPr id="5" name="Content Placeholder 4">
            <a:extLst>
              <a:ext uri="{FF2B5EF4-FFF2-40B4-BE49-F238E27FC236}">
                <a16:creationId xmlns:a16="http://schemas.microsoft.com/office/drawing/2014/main" id="{C1DC56D9-AFC5-8A47-AB89-754E71AF1A1F}"/>
              </a:ext>
            </a:extLst>
          </p:cNvPr>
          <p:cNvPicPr>
            <a:picLocks noGrp="1" noChangeAspect="1"/>
          </p:cNvPicPr>
          <p:nvPr>
            <p:ph idx="1"/>
          </p:nvPr>
        </p:nvPicPr>
        <p:blipFill>
          <a:blip r:embed="rId2"/>
          <a:stretch>
            <a:fillRect/>
          </a:stretch>
        </p:blipFill>
        <p:spPr>
          <a:xfrm>
            <a:off x="0" y="0"/>
            <a:ext cx="12192000" cy="6858000"/>
          </a:xfrm>
        </p:spPr>
      </p:pic>
      <p:pic>
        <p:nvPicPr>
          <p:cNvPr id="7" name="Picture 6">
            <a:extLst>
              <a:ext uri="{FF2B5EF4-FFF2-40B4-BE49-F238E27FC236}">
                <a16:creationId xmlns:a16="http://schemas.microsoft.com/office/drawing/2014/main" id="{4E2DAAD4-A2C6-1D4B-A960-60DE427ED3CC}"/>
              </a:ext>
            </a:extLst>
          </p:cNvPr>
          <p:cNvPicPr>
            <a:picLocks noChangeAspect="1"/>
          </p:cNvPicPr>
          <p:nvPr/>
        </p:nvPicPr>
        <p:blipFill>
          <a:blip r:embed="rId3"/>
          <a:stretch>
            <a:fillRect/>
          </a:stretch>
        </p:blipFill>
        <p:spPr>
          <a:xfrm>
            <a:off x="1471377" y="734519"/>
            <a:ext cx="7546403" cy="5606348"/>
          </a:xfrm>
          <a:prstGeom prst="rect">
            <a:avLst/>
          </a:prstGeom>
        </p:spPr>
      </p:pic>
    </p:spTree>
    <p:extLst>
      <p:ext uri="{BB962C8B-B14F-4D97-AF65-F5344CB8AC3E}">
        <p14:creationId xmlns:p14="http://schemas.microsoft.com/office/powerpoint/2010/main" val="389565384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F9EB3D34-D413-3641-A211-3B7FEA8681AB}"/>
              </a:ext>
            </a:extLst>
          </p:cNvPr>
          <p:cNvSpPr txBox="1"/>
          <p:nvPr/>
        </p:nvSpPr>
        <p:spPr>
          <a:xfrm>
            <a:off x="3049859" y="3244334"/>
            <a:ext cx="6099716" cy="369332"/>
          </a:xfrm>
          <a:prstGeom prst="rect">
            <a:avLst/>
          </a:prstGeom>
          <a:noFill/>
        </p:spPr>
        <p:txBody>
          <a:bodyPr wrap="square">
            <a:spAutoFit/>
          </a:bodyPr>
          <a:lstStyle/>
          <a:p>
            <a:endParaRPr lang="en-BD" dirty="0"/>
          </a:p>
        </p:txBody>
      </p:sp>
      <p:sp>
        <p:nvSpPr>
          <p:cNvPr id="7" name="TextBox 6">
            <a:extLst>
              <a:ext uri="{FF2B5EF4-FFF2-40B4-BE49-F238E27FC236}">
                <a16:creationId xmlns:a16="http://schemas.microsoft.com/office/drawing/2014/main" id="{49AD465A-BEDF-B34F-8009-A193D849C0D9}"/>
              </a:ext>
            </a:extLst>
          </p:cNvPr>
          <p:cNvSpPr txBox="1"/>
          <p:nvPr/>
        </p:nvSpPr>
        <p:spPr>
          <a:xfrm>
            <a:off x="3049859" y="3244334"/>
            <a:ext cx="6099716" cy="369332"/>
          </a:xfrm>
          <a:prstGeom prst="rect">
            <a:avLst/>
          </a:prstGeom>
          <a:noFill/>
        </p:spPr>
        <p:txBody>
          <a:bodyPr wrap="square">
            <a:spAutoFit/>
          </a:bodyPr>
          <a:lstStyle/>
          <a:p>
            <a:endParaRPr lang="en-BD" dirty="0"/>
          </a:p>
        </p:txBody>
      </p:sp>
      <p:sp>
        <p:nvSpPr>
          <p:cNvPr id="9" name="TextBox 8">
            <a:extLst>
              <a:ext uri="{FF2B5EF4-FFF2-40B4-BE49-F238E27FC236}">
                <a16:creationId xmlns:a16="http://schemas.microsoft.com/office/drawing/2014/main" id="{77698134-8252-7E4C-9B70-1B74FD8D05C1}"/>
              </a:ext>
            </a:extLst>
          </p:cNvPr>
          <p:cNvSpPr txBox="1"/>
          <p:nvPr/>
        </p:nvSpPr>
        <p:spPr>
          <a:xfrm>
            <a:off x="3049859" y="3244334"/>
            <a:ext cx="6099716" cy="369332"/>
          </a:xfrm>
          <a:prstGeom prst="rect">
            <a:avLst/>
          </a:prstGeom>
          <a:noFill/>
        </p:spPr>
        <p:txBody>
          <a:bodyPr wrap="square">
            <a:spAutoFit/>
          </a:bodyPr>
          <a:lstStyle/>
          <a:p>
            <a:endParaRPr lang="en-BD" dirty="0"/>
          </a:p>
        </p:txBody>
      </p:sp>
      <p:pic>
        <p:nvPicPr>
          <p:cNvPr id="13" name="Picture 12">
            <a:extLst>
              <a:ext uri="{FF2B5EF4-FFF2-40B4-BE49-F238E27FC236}">
                <a16:creationId xmlns:a16="http://schemas.microsoft.com/office/drawing/2014/main" id="{DA139272-EF67-0547-832E-E8D0322CA85A}"/>
              </a:ext>
            </a:extLst>
          </p:cNvPr>
          <p:cNvPicPr>
            <a:picLocks noChangeAspect="1"/>
          </p:cNvPicPr>
          <p:nvPr/>
        </p:nvPicPr>
        <p:blipFill>
          <a:blip r:embed="rId2"/>
          <a:stretch>
            <a:fillRect/>
          </a:stretch>
        </p:blipFill>
        <p:spPr>
          <a:xfrm>
            <a:off x="0" y="0"/>
            <a:ext cx="12192000" cy="6858000"/>
          </a:xfrm>
          <a:prstGeom prst="rect">
            <a:avLst/>
          </a:prstGeom>
        </p:spPr>
      </p:pic>
      <p:sp>
        <p:nvSpPr>
          <p:cNvPr id="14" name="TextBox 13">
            <a:extLst>
              <a:ext uri="{FF2B5EF4-FFF2-40B4-BE49-F238E27FC236}">
                <a16:creationId xmlns:a16="http://schemas.microsoft.com/office/drawing/2014/main" id="{6CCEB907-9012-3148-AA93-572D0B8AA3E0}"/>
              </a:ext>
            </a:extLst>
          </p:cNvPr>
          <p:cNvSpPr txBox="1"/>
          <p:nvPr/>
        </p:nvSpPr>
        <p:spPr>
          <a:xfrm>
            <a:off x="2897416" y="466527"/>
            <a:ext cx="6397168" cy="1323439"/>
          </a:xfrm>
          <a:prstGeom prst="rect">
            <a:avLst/>
          </a:prstGeom>
          <a:noFill/>
          <a:ln w="50800">
            <a:noFill/>
          </a:ln>
        </p:spPr>
        <p:txBody>
          <a:bodyPr wrap="square" rtlCol="0">
            <a:spAutoFit/>
          </a:bodyPr>
          <a:lstStyle/>
          <a:p>
            <a:pPr algn="ctr"/>
            <a:r>
              <a:rPr lang="en-BD" sz="4000" dirty="0">
                <a:latin typeface="Marker Felt Thin" panose="02000400000000000000" pitchFamily="2" charset="77"/>
              </a:rPr>
              <a:t>Canned Plans and Scripts</a:t>
            </a:r>
          </a:p>
          <a:p>
            <a:pPr algn="ctr"/>
            <a:endParaRPr lang="en-BD" sz="4000" dirty="0">
              <a:latin typeface="Marker Felt Thin" panose="02000400000000000000" pitchFamily="2" charset="77"/>
            </a:endParaRPr>
          </a:p>
        </p:txBody>
      </p:sp>
      <p:sp>
        <p:nvSpPr>
          <p:cNvPr id="15" name="TextBox 14">
            <a:extLst>
              <a:ext uri="{FF2B5EF4-FFF2-40B4-BE49-F238E27FC236}">
                <a16:creationId xmlns:a16="http://schemas.microsoft.com/office/drawing/2014/main" id="{90F39C51-B4C7-A54F-A251-0C0F9FD94E73}"/>
              </a:ext>
            </a:extLst>
          </p:cNvPr>
          <p:cNvSpPr txBox="1"/>
          <p:nvPr/>
        </p:nvSpPr>
        <p:spPr>
          <a:xfrm>
            <a:off x="1778832" y="1128247"/>
            <a:ext cx="8846727" cy="5354094"/>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GB" sz="2300" dirty="0">
                <a:solidFill>
                  <a:srgbClr val="453E0F"/>
                </a:solidFill>
                <a:latin typeface="Abadi MT Condensed Light" panose="020B0306030101010103" pitchFamily="34" charset="77"/>
              </a:rPr>
              <a:t>A canned plan is a </a:t>
            </a:r>
            <a:r>
              <a:rPr lang="en-GB" sz="2300" b="1" dirty="0">
                <a:latin typeface="Abadi MT Condensed Light" panose="020B0306030101010103" pitchFamily="34" charset="77"/>
              </a:rPr>
              <a:t>“mental library” of scripts </a:t>
            </a:r>
            <a:r>
              <a:rPr lang="en-GB" sz="2300" dirty="0">
                <a:solidFill>
                  <a:srgbClr val="453E0F"/>
                </a:solidFill>
                <a:latin typeface="Abadi MT Condensed Light" panose="020B0306030101010103" pitchFamily="34" charset="77"/>
              </a:rPr>
              <a:t>each of us draws from to </a:t>
            </a:r>
            <a:r>
              <a:rPr lang="en-GB" sz="2300" b="1" dirty="0">
                <a:latin typeface="Abadi MT Condensed Light" panose="020B0306030101010103" pitchFamily="34" charset="77"/>
              </a:rPr>
              <a:t>create messages </a:t>
            </a:r>
            <a:r>
              <a:rPr lang="en-GB" sz="2300" dirty="0">
                <a:solidFill>
                  <a:srgbClr val="453E0F"/>
                </a:solidFill>
                <a:latin typeface="Abadi MT Condensed Light" panose="020B0306030101010103" pitchFamily="34" charset="77"/>
              </a:rPr>
              <a:t>based on what worked for us in the past or that we have heard or used numerous times in similar situations. In other words, a canned plan is </a:t>
            </a:r>
            <a:r>
              <a:rPr lang="en-GB" sz="2300" b="1" dirty="0">
                <a:latin typeface="Abadi MT Condensed Light" panose="020B0306030101010103" pitchFamily="34" charset="77"/>
              </a:rPr>
              <a:t>a learned communication strategy for a specific type of situation</a:t>
            </a:r>
            <a:r>
              <a:rPr lang="en-GB" sz="2300" dirty="0">
                <a:solidFill>
                  <a:srgbClr val="453E0F"/>
                </a:solidFill>
                <a:latin typeface="Abadi MT Condensed Light" panose="020B0306030101010103" pitchFamily="34" charset="77"/>
              </a:rPr>
              <a:t>. </a:t>
            </a:r>
          </a:p>
          <a:p>
            <a:pPr marL="285750" indent="-285750">
              <a:lnSpc>
                <a:spcPct val="150000"/>
              </a:lnSpc>
              <a:buFont typeface="Arial" panose="020B0604020202020204" pitchFamily="34" charset="0"/>
              <a:buChar char="•"/>
            </a:pPr>
            <a:r>
              <a:rPr lang="en-GB" sz="2300" dirty="0">
                <a:solidFill>
                  <a:srgbClr val="453E0F"/>
                </a:solidFill>
                <a:latin typeface="Abadi MT Condensed Light" panose="020B0306030101010103" pitchFamily="34" charset="77"/>
              </a:rPr>
              <a:t> Canned plans include </a:t>
            </a:r>
            <a:r>
              <a:rPr lang="en-GB" sz="2300" b="1" dirty="0">
                <a:latin typeface="Abadi MT Condensed Light" panose="020B0306030101010103" pitchFamily="34" charset="77"/>
              </a:rPr>
              <a:t>scripts</a:t>
            </a:r>
            <a:r>
              <a:rPr lang="en-GB" sz="2300" dirty="0">
                <a:solidFill>
                  <a:srgbClr val="453E0F"/>
                </a:solidFill>
                <a:latin typeface="Abadi MT Condensed Light" panose="020B0306030101010103" pitchFamily="34" charset="77"/>
              </a:rPr>
              <a:t>, which are </a:t>
            </a:r>
            <a:r>
              <a:rPr lang="en-GB" sz="2300" b="1" dirty="0">
                <a:latin typeface="Abadi MT Condensed Light" panose="020B0306030101010103" pitchFamily="34" charset="77"/>
              </a:rPr>
              <a:t>sequences of communication behaviours or specific messages</a:t>
            </a:r>
            <a:r>
              <a:rPr lang="en-GB" sz="2300" dirty="0">
                <a:solidFill>
                  <a:srgbClr val="453E0F"/>
                </a:solidFill>
                <a:latin typeface="Abadi MT Condensed Light" panose="020B0306030101010103" pitchFamily="34" charset="77"/>
              </a:rPr>
              <a:t> that are designed to carry out a plan. Put differently, </a:t>
            </a:r>
            <a:r>
              <a:rPr lang="en-GB" sz="2300" b="1" dirty="0">
                <a:latin typeface="Abadi MT Condensed Light" panose="020B0306030101010103" pitchFamily="34" charset="77"/>
              </a:rPr>
              <a:t>a script is an actual text of what to say and do in a specific situation.</a:t>
            </a:r>
          </a:p>
          <a:p>
            <a:pPr marL="285750" indent="-285750">
              <a:lnSpc>
                <a:spcPct val="150000"/>
              </a:lnSpc>
              <a:buFont typeface="Arial" panose="020B0604020202020204" pitchFamily="34" charset="0"/>
              <a:buChar char="•"/>
            </a:pPr>
            <a:r>
              <a:rPr lang="en-GB" sz="2300" dirty="0">
                <a:solidFill>
                  <a:srgbClr val="453E0F"/>
                </a:solidFill>
                <a:latin typeface="Abadi MT Condensed Light" panose="020B0306030101010103" pitchFamily="34" charset="77"/>
              </a:rPr>
              <a:t>We have canned plans and scripts for </a:t>
            </a:r>
            <a:r>
              <a:rPr lang="en-GB" sz="2300" b="1" dirty="0">
                <a:latin typeface="Abadi MT Condensed Light" panose="020B0306030101010103" pitchFamily="34" charset="77"/>
              </a:rPr>
              <a:t>a wide variety of typical interactions</a:t>
            </a:r>
            <a:r>
              <a:rPr lang="en-GB" sz="2300" dirty="0">
                <a:solidFill>
                  <a:srgbClr val="453E0F"/>
                </a:solidFill>
                <a:latin typeface="Abadi MT Condensed Light" panose="020B0306030101010103" pitchFamily="34" charset="77"/>
              </a:rPr>
              <a:t>, such as greeting people, making small talk, giving advice, complimenting or persuading others.</a:t>
            </a:r>
            <a:endParaRPr lang="en-BD" sz="2300" b="1" dirty="0">
              <a:latin typeface="Abadi MT Condensed Light" panose="020B0306030101010103" pitchFamily="34" charset="77"/>
              <a:ea typeface="Roboto" pitchFamily="2" charset="0"/>
            </a:endParaRPr>
          </a:p>
        </p:txBody>
      </p:sp>
    </p:spTree>
    <p:extLst>
      <p:ext uri="{BB962C8B-B14F-4D97-AF65-F5344CB8AC3E}">
        <p14:creationId xmlns:p14="http://schemas.microsoft.com/office/powerpoint/2010/main" val="293538652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991F95-41B5-EE49-BA88-C3426C9DD5B7}"/>
              </a:ext>
            </a:extLst>
          </p:cNvPr>
          <p:cNvSpPr>
            <a:spLocks noGrp="1"/>
          </p:cNvSpPr>
          <p:nvPr>
            <p:ph type="title"/>
          </p:nvPr>
        </p:nvSpPr>
        <p:spPr/>
        <p:txBody>
          <a:bodyPr/>
          <a:lstStyle/>
          <a:p>
            <a:endParaRPr lang="en-BD"/>
          </a:p>
        </p:txBody>
      </p:sp>
      <p:pic>
        <p:nvPicPr>
          <p:cNvPr id="9" name="Content Placeholder 8">
            <a:extLst>
              <a:ext uri="{FF2B5EF4-FFF2-40B4-BE49-F238E27FC236}">
                <a16:creationId xmlns:a16="http://schemas.microsoft.com/office/drawing/2014/main" id="{57861F29-9836-B44B-B2CA-B8A681CC5618}"/>
              </a:ext>
            </a:extLst>
          </p:cNvPr>
          <p:cNvPicPr>
            <a:picLocks noGrp="1" noChangeAspect="1"/>
          </p:cNvPicPr>
          <p:nvPr>
            <p:ph idx="1"/>
          </p:nvPr>
        </p:nvPicPr>
        <p:blipFill>
          <a:blip r:embed="rId2"/>
          <a:stretch>
            <a:fillRect/>
          </a:stretch>
        </p:blipFill>
        <p:spPr>
          <a:xfrm>
            <a:off x="0" y="0"/>
            <a:ext cx="12192000" cy="6858000"/>
          </a:xfrm>
        </p:spPr>
      </p:pic>
      <p:sp>
        <p:nvSpPr>
          <p:cNvPr id="10" name="TextBox 9">
            <a:extLst>
              <a:ext uri="{FF2B5EF4-FFF2-40B4-BE49-F238E27FC236}">
                <a16:creationId xmlns:a16="http://schemas.microsoft.com/office/drawing/2014/main" id="{F5A66F0C-0FE1-8C4C-A875-D5EA19A3C67D}"/>
              </a:ext>
            </a:extLst>
          </p:cNvPr>
          <p:cNvSpPr txBox="1"/>
          <p:nvPr/>
        </p:nvSpPr>
        <p:spPr>
          <a:xfrm>
            <a:off x="3507698" y="472062"/>
            <a:ext cx="6340839" cy="769441"/>
          </a:xfrm>
          <a:prstGeom prst="rect">
            <a:avLst/>
          </a:prstGeom>
          <a:noFill/>
        </p:spPr>
        <p:txBody>
          <a:bodyPr wrap="square" rtlCol="0">
            <a:spAutoFit/>
          </a:bodyPr>
          <a:lstStyle/>
          <a:p>
            <a:r>
              <a:rPr lang="en-BD" sz="4400" dirty="0">
                <a:latin typeface="Marker Felt Thin" panose="02000400000000000000" pitchFamily="2" charset="77"/>
              </a:rPr>
              <a:t>Canned Plans and Scripts</a:t>
            </a:r>
          </a:p>
        </p:txBody>
      </p:sp>
      <p:sp>
        <p:nvSpPr>
          <p:cNvPr id="11" name="TextBox 10">
            <a:extLst>
              <a:ext uri="{FF2B5EF4-FFF2-40B4-BE49-F238E27FC236}">
                <a16:creationId xmlns:a16="http://schemas.microsoft.com/office/drawing/2014/main" id="{7028BD0E-74EF-E949-B965-322D414A8D35}"/>
              </a:ext>
            </a:extLst>
          </p:cNvPr>
          <p:cNvSpPr txBox="1"/>
          <p:nvPr/>
        </p:nvSpPr>
        <p:spPr>
          <a:xfrm>
            <a:off x="1753850" y="1473233"/>
            <a:ext cx="9069049" cy="5291000"/>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GB" sz="2300" dirty="0">
                <a:solidFill>
                  <a:srgbClr val="453E0F"/>
                </a:solidFill>
                <a:latin typeface="Abadi MT Condensed Light" panose="020B0306030101010103" pitchFamily="34" charset="77"/>
              </a:rPr>
              <a:t>The point is that we don’t usually start from scratch to form messages. Instead, we </a:t>
            </a:r>
            <a:r>
              <a:rPr lang="en-GB" sz="2300" b="1" dirty="0">
                <a:latin typeface="Abadi MT Condensed Light" panose="020B0306030101010103" pitchFamily="34" charset="77"/>
              </a:rPr>
              <a:t>recognize</a:t>
            </a:r>
            <a:r>
              <a:rPr lang="en-GB" sz="2300" dirty="0">
                <a:solidFill>
                  <a:srgbClr val="453E0F"/>
                </a:solidFill>
                <a:latin typeface="Abadi MT Condensed Light" panose="020B0306030101010103" pitchFamily="34" charset="77"/>
              </a:rPr>
              <a:t> what type of message we want to form, </a:t>
            </a:r>
            <a:r>
              <a:rPr lang="en-GB" sz="2300" b="1" dirty="0">
                <a:latin typeface="Abadi MT Condensed Light" panose="020B0306030101010103" pitchFamily="34" charset="77"/>
              </a:rPr>
              <a:t>search our mental canned plan library for an appropriate script, and then customize it to fit the unique parts of any situation</a:t>
            </a:r>
            <a:r>
              <a:rPr lang="en-GB" sz="2300" dirty="0">
                <a:solidFill>
                  <a:srgbClr val="453E0F"/>
                </a:solidFill>
                <a:latin typeface="Abadi MT Condensed Light" panose="020B0306030101010103" pitchFamily="34" charset="77"/>
              </a:rPr>
              <a:t>.</a:t>
            </a:r>
          </a:p>
          <a:p>
            <a:pPr marL="285750" indent="-285750">
              <a:lnSpc>
                <a:spcPct val="150000"/>
              </a:lnSpc>
              <a:buFont typeface="Arial" panose="020B0604020202020204" pitchFamily="34" charset="0"/>
              <a:buChar char="•"/>
            </a:pPr>
            <a:r>
              <a:rPr lang="en-GB" sz="2300" dirty="0">
                <a:solidFill>
                  <a:srgbClr val="453E0F"/>
                </a:solidFill>
                <a:latin typeface="Abadi MT Condensed Light" panose="020B0306030101010103" pitchFamily="34" charset="77"/>
              </a:rPr>
              <a:t>All of this mental choosing happens in </a:t>
            </a:r>
            <a:r>
              <a:rPr lang="en-GB" sz="2300" b="1" dirty="0">
                <a:latin typeface="Abadi MT Condensed Light" panose="020B0306030101010103" pitchFamily="34" charset="77"/>
              </a:rPr>
              <a:t>nanoseconds and somewhat automatically</a:t>
            </a:r>
            <a:r>
              <a:rPr lang="en-GB" sz="2300" dirty="0">
                <a:solidFill>
                  <a:srgbClr val="453E0F"/>
                </a:solidFill>
                <a:latin typeface="Abadi MT Condensed Light" panose="020B0306030101010103" pitchFamily="34" charset="77"/>
              </a:rPr>
              <a:t>. We also use our canned plans and scripts when we </a:t>
            </a:r>
            <a:r>
              <a:rPr lang="en-GB" sz="2300" b="1" dirty="0">
                <a:latin typeface="Abadi MT Condensed Light" panose="020B0306030101010103" pitchFamily="34" charset="77"/>
              </a:rPr>
              <a:t>interpret messages from others</a:t>
            </a:r>
            <a:r>
              <a:rPr lang="en-GB" sz="2300" dirty="0">
                <a:solidFill>
                  <a:srgbClr val="453E0F"/>
                </a:solidFill>
                <a:latin typeface="Abadi MT Condensed Light" panose="020B0306030101010103" pitchFamily="34" charset="77"/>
              </a:rPr>
              <a:t>. </a:t>
            </a:r>
          </a:p>
          <a:p>
            <a:pPr marL="285750" indent="-285750">
              <a:lnSpc>
                <a:spcPct val="150000"/>
              </a:lnSpc>
              <a:buFont typeface="Arial" panose="020B0604020202020204" pitchFamily="34" charset="0"/>
              <a:buChar char="•"/>
            </a:pPr>
            <a:r>
              <a:rPr lang="en-GB" sz="2300" dirty="0">
                <a:solidFill>
                  <a:srgbClr val="453E0F"/>
                </a:solidFill>
                <a:latin typeface="Abadi MT Condensed Light" panose="020B0306030101010103" pitchFamily="34" charset="77"/>
              </a:rPr>
              <a:t>So, the larger your canned plan library and the more scripts you have, </a:t>
            </a:r>
            <a:r>
              <a:rPr lang="en-GB" sz="2300" b="1" dirty="0">
                <a:latin typeface="Abadi MT Condensed Light" panose="020B0306030101010103" pitchFamily="34" charset="77"/>
              </a:rPr>
              <a:t>the more likely </a:t>
            </a:r>
            <a:r>
              <a:rPr lang="en-GB" sz="2300" dirty="0">
                <a:solidFill>
                  <a:srgbClr val="453E0F"/>
                </a:solidFill>
                <a:latin typeface="Abadi MT Condensed Light" panose="020B0306030101010103" pitchFamily="34" charset="77"/>
              </a:rPr>
              <a:t>you’ll be able </a:t>
            </a:r>
            <a:r>
              <a:rPr lang="en-GB" sz="2300" b="1" dirty="0">
                <a:latin typeface="Abadi MT Condensed Light" panose="020B0306030101010103" pitchFamily="34" charset="77"/>
              </a:rPr>
              <a:t>to form appropriate and effective messages</a:t>
            </a:r>
            <a:r>
              <a:rPr lang="en-GB" sz="2300" dirty="0">
                <a:solidFill>
                  <a:srgbClr val="453E0F"/>
                </a:solidFill>
                <a:latin typeface="Abadi MT Condensed Light" panose="020B0306030101010103" pitchFamily="34" charset="77"/>
              </a:rPr>
              <a:t>, as well as to </a:t>
            </a:r>
            <a:r>
              <a:rPr lang="en-GB" sz="2300" b="1" dirty="0">
                <a:latin typeface="Abadi MT Condensed Light" panose="020B0306030101010103" pitchFamily="34" charset="77"/>
              </a:rPr>
              <a:t>understand and respond appropriately to the messages of others. </a:t>
            </a:r>
          </a:p>
          <a:p>
            <a:pPr marL="285750" indent="-285750">
              <a:lnSpc>
                <a:spcPct val="150000"/>
              </a:lnSpc>
              <a:buFont typeface="Arial" panose="020B0604020202020204" pitchFamily="34" charset="0"/>
              <a:buChar char="•"/>
            </a:pPr>
            <a:endParaRPr lang="en-BD" sz="2000" dirty="0">
              <a:solidFill>
                <a:srgbClr val="453E0F"/>
              </a:solidFill>
              <a:latin typeface="Abadi MT Condensed Light" panose="020B0306030101010103" pitchFamily="34" charset="77"/>
            </a:endParaRPr>
          </a:p>
        </p:txBody>
      </p:sp>
    </p:spTree>
    <p:extLst>
      <p:ext uri="{BB962C8B-B14F-4D97-AF65-F5344CB8AC3E}">
        <p14:creationId xmlns:p14="http://schemas.microsoft.com/office/powerpoint/2010/main" val="126603560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229783-C4E5-7F44-A786-F95B92973A08}"/>
              </a:ext>
            </a:extLst>
          </p:cNvPr>
          <p:cNvSpPr>
            <a:spLocks noGrp="1"/>
          </p:cNvSpPr>
          <p:nvPr>
            <p:ph type="title"/>
          </p:nvPr>
        </p:nvSpPr>
        <p:spPr/>
        <p:txBody>
          <a:bodyPr/>
          <a:lstStyle/>
          <a:p>
            <a:endParaRPr lang="en-BD"/>
          </a:p>
        </p:txBody>
      </p:sp>
      <p:pic>
        <p:nvPicPr>
          <p:cNvPr id="5" name="Content Placeholder 4">
            <a:extLst>
              <a:ext uri="{FF2B5EF4-FFF2-40B4-BE49-F238E27FC236}">
                <a16:creationId xmlns:a16="http://schemas.microsoft.com/office/drawing/2014/main" id="{C100272C-1784-A54B-980D-BD176A033AA0}"/>
              </a:ext>
            </a:extLst>
          </p:cNvPr>
          <p:cNvPicPr>
            <a:picLocks noGrp="1" noChangeAspect="1"/>
          </p:cNvPicPr>
          <p:nvPr>
            <p:ph idx="1"/>
          </p:nvPr>
        </p:nvPicPr>
        <p:blipFill>
          <a:blip r:embed="rId2"/>
          <a:stretch>
            <a:fillRect/>
          </a:stretch>
        </p:blipFill>
        <p:spPr>
          <a:xfrm>
            <a:off x="-118946" y="0"/>
            <a:ext cx="12310946" cy="6961227"/>
          </a:xfrm>
        </p:spPr>
      </p:pic>
      <p:sp>
        <p:nvSpPr>
          <p:cNvPr id="6" name="TextBox 5">
            <a:extLst>
              <a:ext uri="{FF2B5EF4-FFF2-40B4-BE49-F238E27FC236}">
                <a16:creationId xmlns:a16="http://schemas.microsoft.com/office/drawing/2014/main" id="{4B02B145-FC94-7040-9024-6B98D1A20F48}"/>
              </a:ext>
            </a:extLst>
          </p:cNvPr>
          <p:cNvSpPr txBox="1"/>
          <p:nvPr/>
        </p:nvSpPr>
        <p:spPr>
          <a:xfrm>
            <a:off x="2446842" y="1528643"/>
            <a:ext cx="6675559" cy="4662815"/>
          </a:xfrm>
          <a:prstGeom prst="rect">
            <a:avLst/>
          </a:prstGeom>
          <a:noFill/>
        </p:spPr>
        <p:txBody>
          <a:bodyPr wrap="square" rtlCol="0">
            <a:spAutoFit/>
          </a:bodyPr>
          <a:lstStyle/>
          <a:p>
            <a:pPr algn="ctr">
              <a:lnSpc>
                <a:spcPct val="150000"/>
              </a:lnSpc>
            </a:pPr>
            <a:r>
              <a:rPr lang="en-BD" sz="5400" b="1" dirty="0">
                <a:latin typeface="MARKER FELT THIN" panose="02000400000000000000" pitchFamily="2" charset="77"/>
              </a:rPr>
              <a:t>What are Communication Contexts?</a:t>
            </a:r>
          </a:p>
          <a:p>
            <a:pPr algn="ctr"/>
            <a:endParaRPr lang="en-BD" sz="5400" dirty="0">
              <a:latin typeface="Marker Felt Thin" panose="02000400000000000000" pitchFamily="2" charset="77"/>
            </a:endParaRPr>
          </a:p>
        </p:txBody>
      </p:sp>
    </p:spTree>
    <p:extLst>
      <p:ext uri="{BB962C8B-B14F-4D97-AF65-F5344CB8AC3E}">
        <p14:creationId xmlns:p14="http://schemas.microsoft.com/office/powerpoint/2010/main" val="83416042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F9EB3D34-D413-3641-A211-3B7FEA8681AB}"/>
              </a:ext>
            </a:extLst>
          </p:cNvPr>
          <p:cNvSpPr txBox="1"/>
          <p:nvPr/>
        </p:nvSpPr>
        <p:spPr>
          <a:xfrm>
            <a:off x="3049859" y="3244334"/>
            <a:ext cx="6099716" cy="369332"/>
          </a:xfrm>
          <a:prstGeom prst="rect">
            <a:avLst/>
          </a:prstGeom>
          <a:noFill/>
        </p:spPr>
        <p:txBody>
          <a:bodyPr wrap="square">
            <a:spAutoFit/>
          </a:bodyPr>
          <a:lstStyle/>
          <a:p>
            <a:endParaRPr lang="en-BD" dirty="0"/>
          </a:p>
        </p:txBody>
      </p:sp>
      <p:sp>
        <p:nvSpPr>
          <p:cNvPr id="7" name="TextBox 6">
            <a:extLst>
              <a:ext uri="{FF2B5EF4-FFF2-40B4-BE49-F238E27FC236}">
                <a16:creationId xmlns:a16="http://schemas.microsoft.com/office/drawing/2014/main" id="{49AD465A-BEDF-B34F-8009-A193D849C0D9}"/>
              </a:ext>
            </a:extLst>
          </p:cNvPr>
          <p:cNvSpPr txBox="1"/>
          <p:nvPr/>
        </p:nvSpPr>
        <p:spPr>
          <a:xfrm>
            <a:off x="3049859" y="3244334"/>
            <a:ext cx="6099716" cy="369332"/>
          </a:xfrm>
          <a:prstGeom prst="rect">
            <a:avLst/>
          </a:prstGeom>
          <a:noFill/>
        </p:spPr>
        <p:txBody>
          <a:bodyPr wrap="square">
            <a:spAutoFit/>
          </a:bodyPr>
          <a:lstStyle/>
          <a:p>
            <a:endParaRPr lang="en-BD" dirty="0"/>
          </a:p>
        </p:txBody>
      </p:sp>
      <p:sp>
        <p:nvSpPr>
          <p:cNvPr id="9" name="TextBox 8">
            <a:extLst>
              <a:ext uri="{FF2B5EF4-FFF2-40B4-BE49-F238E27FC236}">
                <a16:creationId xmlns:a16="http://schemas.microsoft.com/office/drawing/2014/main" id="{77698134-8252-7E4C-9B70-1B74FD8D05C1}"/>
              </a:ext>
            </a:extLst>
          </p:cNvPr>
          <p:cNvSpPr txBox="1"/>
          <p:nvPr/>
        </p:nvSpPr>
        <p:spPr>
          <a:xfrm>
            <a:off x="3049859" y="3244334"/>
            <a:ext cx="6099716" cy="369332"/>
          </a:xfrm>
          <a:prstGeom prst="rect">
            <a:avLst/>
          </a:prstGeom>
          <a:noFill/>
        </p:spPr>
        <p:txBody>
          <a:bodyPr wrap="square">
            <a:spAutoFit/>
          </a:bodyPr>
          <a:lstStyle/>
          <a:p>
            <a:endParaRPr lang="en-BD" dirty="0"/>
          </a:p>
        </p:txBody>
      </p:sp>
      <p:pic>
        <p:nvPicPr>
          <p:cNvPr id="13" name="Picture 12">
            <a:extLst>
              <a:ext uri="{FF2B5EF4-FFF2-40B4-BE49-F238E27FC236}">
                <a16:creationId xmlns:a16="http://schemas.microsoft.com/office/drawing/2014/main" id="{DA139272-EF67-0547-832E-E8D0322CA85A}"/>
              </a:ext>
            </a:extLst>
          </p:cNvPr>
          <p:cNvPicPr>
            <a:picLocks noChangeAspect="1"/>
          </p:cNvPicPr>
          <p:nvPr/>
        </p:nvPicPr>
        <p:blipFill>
          <a:blip r:embed="rId2"/>
          <a:stretch>
            <a:fillRect/>
          </a:stretch>
        </p:blipFill>
        <p:spPr>
          <a:xfrm>
            <a:off x="-1" y="0"/>
            <a:ext cx="12192000" cy="6858000"/>
          </a:xfrm>
          <a:prstGeom prst="rect">
            <a:avLst/>
          </a:prstGeom>
        </p:spPr>
      </p:pic>
      <p:sp>
        <p:nvSpPr>
          <p:cNvPr id="14" name="TextBox 13">
            <a:extLst>
              <a:ext uri="{FF2B5EF4-FFF2-40B4-BE49-F238E27FC236}">
                <a16:creationId xmlns:a16="http://schemas.microsoft.com/office/drawing/2014/main" id="{6CCEB907-9012-3148-AA93-572D0B8AA3E0}"/>
              </a:ext>
            </a:extLst>
          </p:cNvPr>
          <p:cNvSpPr txBox="1"/>
          <p:nvPr/>
        </p:nvSpPr>
        <p:spPr>
          <a:xfrm>
            <a:off x="3240127" y="567304"/>
            <a:ext cx="5503401" cy="707886"/>
          </a:xfrm>
          <a:prstGeom prst="rect">
            <a:avLst/>
          </a:prstGeom>
          <a:noFill/>
          <a:ln w="50800">
            <a:noFill/>
          </a:ln>
        </p:spPr>
        <p:txBody>
          <a:bodyPr wrap="square" rtlCol="0">
            <a:spAutoFit/>
          </a:bodyPr>
          <a:lstStyle/>
          <a:p>
            <a:pPr algn="ctr"/>
            <a:r>
              <a:rPr lang="en-BD" sz="4000" dirty="0">
                <a:latin typeface="Marker Felt Thin" panose="02000400000000000000" pitchFamily="2" charset="77"/>
              </a:rPr>
              <a:t>Communication Contexts</a:t>
            </a:r>
          </a:p>
        </p:txBody>
      </p:sp>
      <p:sp>
        <p:nvSpPr>
          <p:cNvPr id="15" name="TextBox 14">
            <a:extLst>
              <a:ext uri="{FF2B5EF4-FFF2-40B4-BE49-F238E27FC236}">
                <a16:creationId xmlns:a16="http://schemas.microsoft.com/office/drawing/2014/main" id="{90F39C51-B4C7-A54F-A251-0C0F9FD94E73}"/>
              </a:ext>
            </a:extLst>
          </p:cNvPr>
          <p:cNvSpPr txBox="1"/>
          <p:nvPr/>
        </p:nvSpPr>
        <p:spPr>
          <a:xfrm>
            <a:off x="1626336" y="738359"/>
            <a:ext cx="8939325" cy="5381281"/>
          </a:xfrm>
          <a:prstGeom prst="rect">
            <a:avLst/>
          </a:prstGeom>
          <a:noFill/>
        </p:spPr>
        <p:txBody>
          <a:bodyPr wrap="square" rtlCol="0">
            <a:spAutoFit/>
          </a:bodyPr>
          <a:lstStyle/>
          <a:p>
            <a:pPr marL="457200" indent="-457200">
              <a:lnSpc>
                <a:spcPct val="150000"/>
              </a:lnSpc>
              <a:buFont typeface="Arial" panose="020B0604020202020204" pitchFamily="34" charset="0"/>
              <a:buChar char="•"/>
            </a:pPr>
            <a:endParaRPr lang="en-GB" sz="2100" dirty="0">
              <a:solidFill>
                <a:srgbClr val="453E0F"/>
              </a:solidFill>
              <a:latin typeface="Abadi MT Condensed Light" panose="020B0306030101010103" pitchFamily="34" charset="77"/>
              <a:ea typeface="Roboto" pitchFamily="2" charset="0"/>
            </a:endParaRPr>
          </a:p>
          <a:p>
            <a:pPr marL="457200" indent="-457200">
              <a:lnSpc>
                <a:spcPct val="150000"/>
              </a:lnSpc>
              <a:buFont typeface="Arial" panose="020B0604020202020204" pitchFamily="34" charset="0"/>
              <a:buChar char="•"/>
            </a:pPr>
            <a:r>
              <a:rPr lang="en-GB" sz="2100" dirty="0">
                <a:solidFill>
                  <a:srgbClr val="453E0F"/>
                </a:solidFill>
                <a:latin typeface="Abadi MT Condensed Light" panose="020B0306030101010103" pitchFamily="34" charset="77"/>
                <a:ea typeface="Roboto" pitchFamily="2" charset="0"/>
              </a:rPr>
              <a:t>Communication contexts refer to the different situations or environments in which communication takes place. These contexts influence how messages are </a:t>
            </a:r>
            <a:r>
              <a:rPr lang="en-GB" sz="2100" b="1" dirty="0">
                <a:latin typeface="Abadi MT Condensed Light" panose="020B0306030101010103" pitchFamily="34" charset="77"/>
                <a:ea typeface="Roboto" pitchFamily="2" charset="0"/>
              </a:rPr>
              <a:t>delivered, interpreted, and understood</a:t>
            </a:r>
            <a:r>
              <a:rPr lang="en-GB" sz="2100" dirty="0">
                <a:solidFill>
                  <a:srgbClr val="453E0F"/>
                </a:solidFill>
                <a:latin typeface="Abadi MT Condensed Light" panose="020B0306030101010103" pitchFamily="34" charset="77"/>
                <a:ea typeface="Roboto" pitchFamily="2" charset="0"/>
              </a:rPr>
              <a:t>. Context </a:t>
            </a:r>
            <a:r>
              <a:rPr lang="en-BD" sz="2100" b="1" dirty="0">
                <a:latin typeface="Abadi MT Condensed Light" panose="020B0306030101010103" pitchFamily="34" charset="77"/>
                <a:ea typeface="Roboto" pitchFamily="2" charset="0"/>
              </a:rPr>
              <a:t>influences the meaning these participants derive, and their subsequent behaviour and is </a:t>
            </a:r>
            <a:r>
              <a:rPr lang="en-GB" sz="2100" b="1" dirty="0">
                <a:latin typeface="Abadi MT Condensed Light" panose="020B0306030101010103" pitchFamily="34" charset="77"/>
                <a:ea typeface="Roboto" pitchFamily="2" charset="0"/>
              </a:rPr>
              <a:t>important because it gives meaning to the communication.</a:t>
            </a:r>
            <a:endParaRPr lang="en-BD" sz="2100" b="1" dirty="0">
              <a:latin typeface="Abadi MT Condensed Light" panose="020B0306030101010103" pitchFamily="34" charset="77"/>
              <a:ea typeface="Roboto" pitchFamily="2" charset="0"/>
            </a:endParaRPr>
          </a:p>
          <a:p>
            <a:pPr marL="457200" indent="-457200">
              <a:lnSpc>
                <a:spcPct val="150000"/>
              </a:lnSpc>
              <a:buFont typeface="Arial" panose="020B0604020202020204" pitchFamily="34" charset="0"/>
              <a:buChar char="•"/>
            </a:pPr>
            <a:r>
              <a:rPr lang="en-GB" sz="2100" dirty="0">
                <a:solidFill>
                  <a:srgbClr val="453E0F"/>
                </a:solidFill>
                <a:latin typeface="Abadi MT Condensed Light" panose="020B0306030101010103" pitchFamily="34" charset="77"/>
                <a:ea typeface="Roboto" pitchFamily="2" charset="0"/>
              </a:rPr>
              <a:t>I</a:t>
            </a:r>
            <a:r>
              <a:rPr lang="en-BD" sz="2100" dirty="0">
                <a:solidFill>
                  <a:srgbClr val="453E0F"/>
                </a:solidFill>
                <a:latin typeface="Abadi MT Condensed Light" panose="020B0306030101010103" pitchFamily="34" charset="77"/>
                <a:ea typeface="Roboto" pitchFamily="2" charset="0"/>
              </a:rPr>
              <a:t>n other words, </a:t>
            </a:r>
            <a:r>
              <a:rPr lang="en-GB" sz="2100" dirty="0">
                <a:solidFill>
                  <a:srgbClr val="453E0F"/>
                </a:solidFill>
                <a:latin typeface="Abadi MT Condensed Light" panose="020B0306030101010103" pitchFamily="34" charset="77"/>
                <a:ea typeface="Roboto" pitchFamily="2" charset="0"/>
              </a:rPr>
              <a:t>communication context is </a:t>
            </a:r>
            <a:r>
              <a:rPr lang="en-GB" sz="2100" b="1" dirty="0">
                <a:latin typeface="Abadi MT Condensed Light" panose="020B0306030101010103" pitchFamily="34" charset="77"/>
                <a:ea typeface="Roboto" pitchFamily="2" charset="0"/>
              </a:rPr>
              <a:t>background conditions surrounding the interaction that takes place between people.</a:t>
            </a:r>
            <a:endParaRPr lang="en-BD" sz="2100" b="1" dirty="0">
              <a:latin typeface="Abadi MT Condensed Light" panose="020B0306030101010103" pitchFamily="34" charset="77"/>
              <a:ea typeface="Roboto" pitchFamily="2" charset="0"/>
            </a:endParaRPr>
          </a:p>
          <a:p>
            <a:pPr marL="457200" indent="-457200">
              <a:lnSpc>
                <a:spcPct val="150000"/>
              </a:lnSpc>
              <a:buFont typeface="Arial" panose="020B0604020202020204" pitchFamily="34" charset="0"/>
              <a:buChar char="•"/>
            </a:pPr>
            <a:r>
              <a:rPr lang="en-BD" sz="2100" dirty="0">
                <a:solidFill>
                  <a:srgbClr val="453E0F"/>
                </a:solidFill>
                <a:latin typeface="Abadi MT Condensed Light" panose="020B0306030101010103" pitchFamily="34" charset="77"/>
                <a:ea typeface="Roboto" pitchFamily="2" charset="0"/>
              </a:rPr>
              <a:t>The communication context is made up of </a:t>
            </a:r>
            <a:r>
              <a:rPr lang="en-BD" sz="2100" b="1" dirty="0">
                <a:latin typeface="Abadi MT Condensed Light" panose="020B0306030101010103" pitchFamily="34" charset="77"/>
                <a:ea typeface="Roboto" pitchFamily="2" charset="0"/>
              </a:rPr>
              <a:t>physical, social, historical, psychological and cultural context</a:t>
            </a:r>
            <a:r>
              <a:rPr lang="en-BD" sz="2100" b="1" dirty="0">
                <a:solidFill>
                  <a:srgbClr val="453E0F"/>
                </a:solidFill>
                <a:latin typeface="Abadi MT Condensed Light" panose="020B0306030101010103" pitchFamily="34" charset="77"/>
                <a:ea typeface="Roboto" pitchFamily="2" charset="0"/>
              </a:rPr>
              <a:t> </a:t>
            </a:r>
            <a:r>
              <a:rPr lang="en-BD" sz="2100" dirty="0">
                <a:solidFill>
                  <a:srgbClr val="453E0F"/>
                </a:solidFill>
                <a:latin typeface="Abadi MT Condensed Light" panose="020B0306030101010103" pitchFamily="34" charset="77"/>
                <a:ea typeface="Roboto" pitchFamily="2" charset="0"/>
              </a:rPr>
              <a:t>that surround a communication event. </a:t>
            </a:r>
            <a:r>
              <a:rPr lang="en-GB" sz="2100" dirty="0">
                <a:solidFill>
                  <a:srgbClr val="453E0F"/>
                </a:solidFill>
                <a:latin typeface="Abadi MT Condensed Light" panose="020B0306030101010103" pitchFamily="34" charset="77"/>
                <a:ea typeface="Roboto" pitchFamily="2" charset="0"/>
              </a:rPr>
              <a:t>To be an effective communicator, </a:t>
            </a:r>
            <a:r>
              <a:rPr lang="en-GB" sz="2100" b="1" dirty="0">
                <a:latin typeface="Abadi MT Condensed Light" panose="020B0306030101010103" pitchFamily="34" charset="77"/>
                <a:ea typeface="Roboto" pitchFamily="2" charset="0"/>
              </a:rPr>
              <a:t>individuals must be able to understand the context and adjust when needed.</a:t>
            </a:r>
            <a:endParaRPr lang="en-BD" sz="2100" b="1" dirty="0">
              <a:latin typeface="Abadi MT Condensed Light" panose="020B0306030101010103" pitchFamily="34" charset="77"/>
              <a:ea typeface="Roboto" pitchFamily="2" charset="0"/>
            </a:endParaRPr>
          </a:p>
        </p:txBody>
      </p:sp>
    </p:spTree>
    <p:extLst>
      <p:ext uri="{BB962C8B-B14F-4D97-AF65-F5344CB8AC3E}">
        <p14:creationId xmlns:p14="http://schemas.microsoft.com/office/powerpoint/2010/main" val="99839212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5BA37A-0A1D-5D4F-B0B0-D95CD15379CE}"/>
              </a:ext>
            </a:extLst>
          </p:cNvPr>
          <p:cNvSpPr>
            <a:spLocks noGrp="1"/>
          </p:cNvSpPr>
          <p:nvPr>
            <p:ph type="title"/>
          </p:nvPr>
        </p:nvSpPr>
        <p:spPr/>
        <p:txBody>
          <a:bodyPr/>
          <a:lstStyle/>
          <a:p>
            <a:endParaRPr lang="en-BD"/>
          </a:p>
        </p:txBody>
      </p:sp>
      <p:pic>
        <p:nvPicPr>
          <p:cNvPr id="5" name="Content Placeholder 4">
            <a:extLst>
              <a:ext uri="{FF2B5EF4-FFF2-40B4-BE49-F238E27FC236}">
                <a16:creationId xmlns:a16="http://schemas.microsoft.com/office/drawing/2014/main" id="{DEB8A33C-9B03-3840-83EC-F29CE7C9A01A}"/>
              </a:ext>
            </a:extLst>
          </p:cNvPr>
          <p:cNvPicPr>
            <a:picLocks noGrp="1" noChangeAspect="1"/>
          </p:cNvPicPr>
          <p:nvPr>
            <p:ph idx="1"/>
          </p:nvPr>
        </p:nvPicPr>
        <p:blipFill>
          <a:blip r:embed="rId2"/>
          <a:stretch>
            <a:fillRect/>
          </a:stretch>
        </p:blipFill>
        <p:spPr>
          <a:xfrm>
            <a:off x="0" y="-1"/>
            <a:ext cx="12192000" cy="6858001"/>
          </a:xfrm>
        </p:spPr>
      </p:pic>
      <p:sp>
        <p:nvSpPr>
          <p:cNvPr id="6" name="TextBox 5">
            <a:extLst>
              <a:ext uri="{FF2B5EF4-FFF2-40B4-BE49-F238E27FC236}">
                <a16:creationId xmlns:a16="http://schemas.microsoft.com/office/drawing/2014/main" id="{9976B8AD-90FE-6546-8BE9-586213A02B12}"/>
              </a:ext>
            </a:extLst>
          </p:cNvPr>
          <p:cNvSpPr txBox="1"/>
          <p:nvPr/>
        </p:nvSpPr>
        <p:spPr>
          <a:xfrm>
            <a:off x="2948065" y="1690688"/>
            <a:ext cx="6295869" cy="3686971"/>
          </a:xfrm>
          <a:prstGeom prst="rect">
            <a:avLst/>
          </a:prstGeom>
          <a:noFill/>
        </p:spPr>
        <p:txBody>
          <a:bodyPr wrap="square" rtlCol="0">
            <a:spAutoFit/>
          </a:bodyPr>
          <a:lstStyle/>
          <a:p>
            <a:pPr algn="ctr">
              <a:lnSpc>
                <a:spcPct val="150000"/>
              </a:lnSpc>
            </a:pPr>
            <a:r>
              <a:rPr lang="en-BD" sz="5400" b="1" dirty="0">
                <a:latin typeface="MARKER FELT THIN" panose="02000400000000000000" pitchFamily="2" charset="77"/>
              </a:rPr>
              <a:t>5 Types of Communication Contexts</a:t>
            </a:r>
          </a:p>
        </p:txBody>
      </p:sp>
    </p:spTree>
    <p:extLst>
      <p:ext uri="{BB962C8B-B14F-4D97-AF65-F5344CB8AC3E}">
        <p14:creationId xmlns:p14="http://schemas.microsoft.com/office/powerpoint/2010/main" val="215968075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F9EB3D34-D413-3641-A211-3B7FEA8681AB}"/>
              </a:ext>
            </a:extLst>
          </p:cNvPr>
          <p:cNvSpPr txBox="1"/>
          <p:nvPr/>
        </p:nvSpPr>
        <p:spPr>
          <a:xfrm>
            <a:off x="3049859" y="3244334"/>
            <a:ext cx="6099716" cy="369332"/>
          </a:xfrm>
          <a:prstGeom prst="rect">
            <a:avLst/>
          </a:prstGeom>
          <a:noFill/>
        </p:spPr>
        <p:txBody>
          <a:bodyPr wrap="square">
            <a:spAutoFit/>
          </a:bodyPr>
          <a:lstStyle/>
          <a:p>
            <a:endParaRPr lang="en-BD" dirty="0"/>
          </a:p>
        </p:txBody>
      </p:sp>
      <p:sp>
        <p:nvSpPr>
          <p:cNvPr id="7" name="TextBox 6">
            <a:extLst>
              <a:ext uri="{FF2B5EF4-FFF2-40B4-BE49-F238E27FC236}">
                <a16:creationId xmlns:a16="http://schemas.microsoft.com/office/drawing/2014/main" id="{49AD465A-BEDF-B34F-8009-A193D849C0D9}"/>
              </a:ext>
            </a:extLst>
          </p:cNvPr>
          <p:cNvSpPr txBox="1"/>
          <p:nvPr/>
        </p:nvSpPr>
        <p:spPr>
          <a:xfrm>
            <a:off x="3049859" y="3244334"/>
            <a:ext cx="6099716" cy="369332"/>
          </a:xfrm>
          <a:prstGeom prst="rect">
            <a:avLst/>
          </a:prstGeom>
          <a:noFill/>
        </p:spPr>
        <p:txBody>
          <a:bodyPr wrap="square">
            <a:spAutoFit/>
          </a:bodyPr>
          <a:lstStyle/>
          <a:p>
            <a:endParaRPr lang="en-BD" dirty="0"/>
          </a:p>
        </p:txBody>
      </p:sp>
      <p:sp>
        <p:nvSpPr>
          <p:cNvPr id="9" name="TextBox 8">
            <a:extLst>
              <a:ext uri="{FF2B5EF4-FFF2-40B4-BE49-F238E27FC236}">
                <a16:creationId xmlns:a16="http://schemas.microsoft.com/office/drawing/2014/main" id="{77698134-8252-7E4C-9B70-1B74FD8D05C1}"/>
              </a:ext>
            </a:extLst>
          </p:cNvPr>
          <p:cNvSpPr txBox="1"/>
          <p:nvPr/>
        </p:nvSpPr>
        <p:spPr>
          <a:xfrm>
            <a:off x="3049859" y="3244334"/>
            <a:ext cx="6099716" cy="369332"/>
          </a:xfrm>
          <a:prstGeom prst="rect">
            <a:avLst/>
          </a:prstGeom>
          <a:noFill/>
        </p:spPr>
        <p:txBody>
          <a:bodyPr wrap="square">
            <a:spAutoFit/>
          </a:bodyPr>
          <a:lstStyle/>
          <a:p>
            <a:endParaRPr lang="en-BD" dirty="0"/>
          </a:p>
        </p:txBody>
      </p:sp>
      <p:pic>
        <p:nvPicPr>
          <p:cNvPr id="13" name="Picture 12">
            <a:extLst>
              <a:ext uri="{FF2B5EF4-FFF2-40B4-BE49-F238E27FC236}">
                <a16:creationId xmlns:a16="http://schemas.microsoft.com/office/drawing/2014/main" id="{DA139272-EF67-0547-832E-E8D0322CA85A}"/>
              </a:ext>
            </a:extLst>
          </p:cNvPr>
          <p:cNvPicPr>
            <a:picLocks noChangeAspect="1"/>
          </p:cNvPicPr>
          <p:nvPr/>
        </p:nvPicPr>
        <p:blipFill>
          <a:blip r:embed="rId2"/>
          <a:stretch>
            <a:fillRect/>
          </a:stretch>
        </p:blipFill>
        <p:spPr>
          <a:xfrm>
            <a:off x="0" y="0"/>
            <a:ext cx="12192000" cy="6858000"/>
          </a:xfrm>
          <a:prstGeom prst="rect">
            <a:avLst/>
          </a:prstGeom>
        </p:spPr>
      </p:pic>
      <p:sp>
        <p:nvSpPr>
          <p:cNvPr id="14" name="TextBox 13">
            <a:extLst>
              <a:ext uri="{FF2B5EF4-FFF2-40B4-BE49-F238E27FC236}">
                <a16:creationId xmlns:a16="http://schemas.microsoft.com/office/drawing/2014/main" id="{6CCEB907-9012-3148-AA93-572D0B8AA3E0}"/>
              </a:ext>
            </a:extLst>
          </p:cNvPr>
          <p:cNvSpPr txBox="1"/>
          <p:nvPr/>
        </p:nvSpPr>
        <p:spPr>
          <a:xfrm>
            <a:off x="1652664" y="274604"/>
            <a:ext cx="8471454" cy="1323439"/>
          </a:xfrm>
          <a:prstGeom prst="rect">
            <a:avLst/>
          </a:prstGeom>
          <a:noFill/>
          <a:ln w="50800">
            <a:noFill/>
          </a:ln>
        </p:spPr>
        <p:txBody>
          <a:bodyPr wrap="square" rtlCol="0">
            <a:spAutoFit/>
          </a:bodyPr>
          <a:lstStyle/>
          <a:p>
            <a:pPr algn="ctr"/>
            <a:r>
              <a:rPr lang="en-BD" sz="4000" dirty="0">
                <a:latin typeface="Marker Felt Thin" panose="02000400000000000000" pitchFamily="2" charset="77"/>
              </a:rPr>
              <a:t>5 Types of Communication Contexts</a:t>
            </a:r>
          </a:p>
          <a:p>
            <a:pPr algn="ctr"/>
            <a:endParaRPr lang="en-BD" sz="4000" dirty="0">
              <a:latin typeface="Marker Felt Thin" panose="02000400000000000000" pitchFamily="2" charset="77"/>
            </a:endParaRPr>
          </a:p>
        </p:txBody>
      </p:sp>
      <p:sp>
        <p:nvSpPr>
          <p:cNvPr id="15" name="TextBox 14">
            <a:extLst>
              <a:ext uri="{FF2B5EF4-FFF2-40B4-BE49-F238E27FC236}">
                <a16:creationId xmlns:a16="http://schemas.microsoft.com/office/drawing/2014/main" id="{90F39C51-B4C7-A54F-A251-0C0F9FD94E73}"/>
              </a:ext>
            </a:extLst>
          </p:cNvPr>
          <p:cNvSpPr txBox="1"/>
          <p:nvPr/>
        </p:nvSpPr>
        <p:spPr>
          <a:xfrm>
            <a:off x="1777680" y="936323"/>
            <a:ext cx="8894179" cy="6371809"/>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GB" b="1" dirty="0">
                <a:solidFill>
                  <a:schemeClr val="accent1">
                    <a:lumMod val="75000"/>
                  </a:schemeClr>
                </a:solidFill>
                <a:latin typeface="Abadi MT Condensed Light" panose="020B0306030101010103" pitchFamily="34" charset="77"/>
              </a:rPr>
              <a:t>P</a:t>
            </a:r>
            <a:r>
              <a:rPr lang="en-BD" b="1" dirty="0">
                <a:solidFill>
                  <a:schemeClr val="accent1">
                    <a:lumMod val="75000"/>
                  </a:schemeClr>
                </a:solidFill>
                <a:latin typeface="Abadi MT Condensed Light" panose="020B0306030101010103" pitchFamily="34" charset="77"/>
              </a:rPr>
              <a:t>hysical Context </a:t>
            </a:r>
            <a:r>
              <a:rPr lang="en-BD" dirty="0">
                <a:solidFill>
                  <a:srgbClr val="453E0F"/>
                </a:solidFill>
                <a:latin typeface="Abadi MT Condensed Light" panose="020B0306030101010103" pitchFamily="34" charset="77"/>
              </a:rPr>
              <a:t>– </a:t>
            </a:r>
            <a:r>
              <a:rPr lang="en-GB" dirty="0">
                <a:solidFill>
                  <a:srgbClr val="453E0F"/>
                </a:solidFill>
                <a:latin typeface="Abadi MT Condensed Light" panose="020B0306030101010103" pitchFamily="34" charset="77"/>
              </a:rPr>
              <a:t>This refers to the actual setting in which the communication is taking place. </a:t>
            </a:r>
            <a:r>
              <a:rPr lang="en-BD" dirty="0">
                <a:solidFill>
                  <a:srgbClr val="453E0F"/>
                </a:solidFill>
                <a:latin typeface="Abadi MT Condensed Light" panose="020B0306030101010103" pitchFamily="34" charset="77"/>
              </a:rPr>
              <a:t>The physical context includes </a:t>
            </a:r>
            <a:r>
              <a:rPr lang="en-BD" b="1" dirty="0">
                <a:latin typeface="Abadi MT Condensed Light" panose="020B0306030101010103" pitchFamily="34" charset="77"/>
              </a:rPr>
              <a:t>the location </a:t>
            </a:r>
            <a:r>
              <a:rPr lang="en-BD" dirty="0">
                <a:solidFill>
                  <a:srgbClr val="453E0F"/>
                </a:solidFill>
                <a:latin typeface="Abadi MT Condensed Light" panose="020B0306030101010103" pitchFamily="34" charset="77"/>
              </a:rPr>
              <a:t>of a communication encounter, the </a:t>
            </a:r>
            <a:r>
              <a:rPr lang="en-BD" b="1" dirty="0">
                <a:latin typeface="Abadi MT Condensed Light" panose="020B0306030101010103" pitchFamily="34" charset="77"/>
              </a:rPr>
              <a:t>environmental conditions </a:t>
            </a:r>
            <a:r>
              <a:rPr lang="en-BD" dirty="0">
                <a:solidFill>
                  <a:srgbClr val="453E0F"/>
                </a:solidFill>
                <a:latin typeface="Abadi MT Condensed Light" panose="020B0306030101010103" pitchFamily="34" charset="77"/>
              </a:rPr>
              <a:t>surrounding it </a:t>
            </a:r>
            <a:r>
              <a:rPr lang="en-BD" b="1" dirty="0">
                <a:latin typeface="Abadi MT Condensed Light" panose="020B0306030101010103" pitchFamily="34" charset="77"/>
              </a:rPr>
              <a:t>(temperature, lighting, noise level), </a:t>
            </a:r>
            <a:r>
              <a:rPr lang="en-BD" dirty="0">
                <a:solidFill>
                  <a:srgbClr val="453E0F"/>
                </a:solidFill>
                <a:latin typeface="Abadi MT Condensed Light" panose="020B0306030101010103" pitchFamily="34" charset="77"/>
              </a:rPr>
              <a:t>and the </a:t>
            </a:r>
            <a:r>
              <a:rPr lang="en-BD" b="1" dirty="0">
                <a:latin typeface="Abadi MT Condensed Light" panose="020B0306030101010103" pitchFamily="34" charset="77"/>
              </a:rPr>
              <a:t>physical proximity</a:t>
            </a:r>
            <a:r>
              <a:rPr lang="en-BD" dirty="0">
                <a:solidFill>
                  <a:srgbClr val="453E0F"/>
                </a:solidFill>
                <a:latin typeface="Abadi MT Condensed Light" panose="020B0306030101010103" pitchFamily="34" charset="77"/>
              </a:rPr>
              <a:t> of participants to each other. </a:t>
            </a:r>
            <a:r>
              <a:rPr lang="en-GB" dirty="0">
                <a:solidFill>
                  <a:srgbClr val="453E0F"/>
                </a:solidFill>
                <a:latin typeface="Abadi MT Condensed Light" panose="020B0306030101010103" pitchFamily="34" charset="77"/>
              </a:rPr>
              <a:t>The physical context can have a huge impact on the way that communication happens. For example, background noise or poor lighting may cause misunderstandings or distractions, while a comfortable setting can encourage effective communication.</a:t>
            </a:r>
          </a:p>
          <a:p>
            <a:pPr>
              <a:lnSpc>
                <a:spcPct val="150000"/>
              </a:lnSpc>
            </a:pPr>
            <a:r>
              <a:rPr lang="en-GB" b="1" dirty="0">
                <a:latin typeface="Abadi MT Condensed Light" panose="020B0306030101010103" pitchFamily="34" charset="77"/>
              </a:rPr>
              <a:t>Example</a:t>
            </a:r>
            <a:r>
              <a:rPr lang="en-GB" dirty="0">
                <a:latin typeface="Abadi MT Condensed Light" panose="020B0306030101010103" pitchFamily="34" charset="77"/>
              </a:rPr>
              <a:t>: Communicating in a noisy coffee shop versus in a quiet office can lead to very different levels of understanding and focus.</a:t>
            </a:r>
            <a:endParaRPr lang="en-GB" dirty="0">
              <a:solidFill>
                <a:srgbClr val="453E0F"/>
              </a:solidFill>
              <a:latin typeface="Abadi MT Condensed Light" panose="020B0306030101010103" pitchFamily="34" charset="77"/>
            </a:endParaRPr>
          </a:p>
          <a:p>
            <a:pPr marL="285750" indent="-285750">
              <a:lnSpc>
                <a:spcPct val="150000"/>
              </a:lnSpc>
              <a:buFont typeface="Arial" panose="020B0604020202020204" pitchFamily="34" charset="0"/>
              <a:buChar char="•"/>
            </a:pPr>
            <a:r>
              <a:rPr lang="en-BD" b="1" dirty="0">
                <a:solidFill>
                  <a:schemeClr val="accent1">
                    <a:lumMod val="75000"/>
                  </a:schemeClr>
                </a:solidFill>
                <a:latin typeface="Abadi MT Condensed Light" panose="020B0306030101010103" pitchFamily="34" charset="77"/>
              </a:rPr>
              <a:t>Social Context- </a:t>
            </a:r>
            <a:r>
              <a:rPr lang="en-BD" dirty="0">
                <a:solidFill>
                  <a:srgbClr val="453E0F"/>
                </a:solidFill>
                <a:latin typeface="Abadi MT Condensed Light" panose="020B0306030101010103" pitchFamily="34" charset="77"/>
              </a:rPr>
              <a:t>The social context is the </a:t>
            </a:r>
            <a:r>
              <a:rPr lang="en-BD" b="1" dirty="0">
                <a:latin typeface="Abadi MT Condensed Light" panose="020B0306030101010103" pitchFamily="34" charset="77"/>
              </a:rPr>
              <a:t>nature of the relationship that already exists between the participants</a:t>
            </a:r>
            <a:r>
              <a:rPr lang="en-BD" dirty="0">
                <a:solidFill>
                  <a:srgbClr val="453E0F"/>
                </a:solidFill>
                <a:latin typeface="Abadi MT Condensed Light" panose="020B0306030101010103" pitchFamily="34" charset="77"/>
              </a:rPr>
              <a:t>. </a:t>
            </a:r>
            <a:r>
              <a:rPr lang="en-GB" dirty="0">
                <a:solidFill>
                  <a:srgbClr val="453E0F"/>
                </a:solidFill>
                <a:latin typeface="Abadi MT Condensed Light" panose="020B0306030101010103" pitchFamily="34" charset="77"/>
              </a:rPr>
              <a:t>It includes factors like </a:t>
            </a:r>
            <a:r>
              <a:rPr lang="en-GB" b="1" dirty="0">
                <a:latin typeface="Abadi MT Condensed Light" panose="020B0306030101010103" pitchFamily="34" charset="77"/>
              </a:rPr>
              <a:t>familiarity, status, authority, and the nature of the relationship </a:t>
            </a:r>
            <a:r>
              <a:rPr lang="en-GB" dirty="0">
                <a:solidFill>
                  <a:srgbClr val="453E0F"/>
                </a:solidFill>
                <a:latin typeface="Abadi MT Condensed Light" panose="020B0306030101010103" pitchFamily="34" charset="77"/>
              </a:rPr>
              <a:t>(e.g., professional, familial, or casual).T</a:t>
            </a:r>
            <a:r>
              <a:rPr lang="en-BD" dirty="0">
                <a:solidFill>
                  <a:srgbClr val="453E0F"/>
                </a:solidFill>
                <a:latin typeface="Abadi MT Condensed Light" panose="020B0306030101010103" pitchFamily="34" charset="77"/>
              </a:rPr>
              <a:t>he better you know someone and the better relationship you have with him or her</a:t>
            </a:r>
            <a:r>
              <a:rPr lang="en-BD" b="1" dirty="0">
                <a:latin typeface="Abadi MT Condensed Light" panose="020B0306030101010103" pitchFamily="34" charset="77"/>
              </a:rPr>
              <a:t>, the more likely you are to accurately interpret the message.</a:t>
            </a:r>
          </a:p>
          <a:p>
            <a:pPr>
              <a:lnSpc>
                <a:spcPct val="150000"/>
              </a:lnSpc>
            </a:pPr>
            <a:r>
              <a:rPr lang="en-GB" b="1" dirty="0">
                <a:latin typeface="Abadi MT Condensed Light" panose="020B0306030101010103" pitchFamily="34" charset="77"/>
              </a:rPr>
              <a:t>Example: </a:t>
            </a:r>
            <a:r>
              <a:rPr lang="en-GB" dirty="0">
                <a:solidFill>
                  <a:srgbClr val="453E0F"/>
                </a:solidFill>
                <a:latin typeface="Abadi MT Condensed Light" panose="020B0306030101010103" pitchFamily="34" charset="77"/>
              </a:rPr>
              <a:t>A conversation between a teacher and a student differs from a conversation between friends due to the social roles involved.</a:t>
            </a:r>
            <a:endParaRPr lang="en-BD" dirty="0">
              <a:solidFill>
                <a:srgbClr val="453E0F"/>
              </a:solidFill>
              <a:latin typeface="Abadi MT Condensed Light" panose="020B0306030101010103" pitchFamily="34" charset="77"/>
            </a:endParaRPr>
          </a:p>
          <a:p>
            <a:pPr marL="457200" indent="-457200">
              <a:lnSpc>
                <a:spcPct val="150000"/>
              </a:lnSpc>
              <a:buFont typeface="Arial" panose="020B0604020202020204" pitchFamily="34" charset="0"/>
              <a:buChar char="•"/>
            </a:pPr>
            <a:endParaRPr lang="en-BD" sz="2200" dirty="0">
              <a:latin typeface="Abadi MT Condensed Light" panose="020B0306030101010103" pitchFamily="34" charset="77"/>
              <a:ea typeface="Roboto" pitchFamily="2" charset="0"/>
            </a:endParaRPr>
          </a:p>
        </p:txBody>
      </p:sp>
    </p:spTree>
    <p:extLst>
      <p:ext uri="{BB962C8B-B14F-4D97-AF65-F5344CB8AC3E}">
        <p14:creationId xmlns:p14="http://schemas.microsoft.com/office/powerpoint/2010/main" val="195190200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F9EB3D34-D413-3641-A211-3B7FEA8681AB}"/>
              </a:ext>
            </a:extLst>
          </p:cNvPr>
          <p:cNvSpPr txBox="1"/>
          <p:nvPr/>
        </p:nvSpPr>
        <p:spPr>
          <a:xfrm>
            <a:off x="3049859" y="3244334"/>
            <a:ext cx="6099716" cy="369332"/>
          </a:xfrm>
          <a:prstGeom prst="rect">
            <a:avLst/>
          </a:prstGeom>
          <a:noFill/>
        </p:spPr>
        <p:txBody>
          <a:bodyPr wrap="square">
            <a:spAutoFit/>
          </a:bodyPr>
          <a:lstStyle/>
          <a:p>
            <a:endParaRPr lang="en-BD" dirty="0"/>
          </a:p>
        </p:txBody>
      </p:sp>
      <p:sp>
        <p:nvSpPr>
          <p:cNvPr id="7" name="TextBox 6">
            <a:extLst>
              <a:ext uri="{FF2B5EF4-FFF2-40B4-BE49-F238E27FC236}">
                <a16:creationId xmlns:a16="http://schemas.microsoft.com/office/drawing/2014/main" id="{49AD465A-BEDF-B34F-8009-A193D849C0D9}"/>
              </a:ext>
            </a:extLst>
          </p:cNvPr>
          <p:cNvSpPr txBox="1"/>
          <p:nvPr/>
        </p:nvSpPr>
        <p:spPr>
          <a:xfrm>
            <a:off x="3049859" y="3244334"/>
            <a:ext cx="6099716" cy="369332"/>
          </a:xfrm>
          <a:prstGeom prst="rect">
            <a:avLst/>
          </a:prstGeom>
          <a:noFill/>
        </p:spPr>
        <p:txBody>
          <a:bodyPr wrap="square">
            <a:spAutoFit/>
          </a:bodyPr>
          <a:lstStyle/>
          <a:p>
            <a:endParaRPr lang="en-BD" dirty="0"/>
          </a:p>
        </p:txBody>
      </p:sp>
      <p:sp>
        <p:nvSpPr>
          <p:cNvPr id="9" name="TextBox 8">
            <a:extLst>
              <a:ext uri="{FF2B5EF4-FFF2-40B4-BE49-F238E27FC236}">
                <a16:creationId xmlns:a16="http://schemas.microsoft.com/office/drawing/2014/main" id="{77698134-8252-7E4C-9B70-1B74FD8D05C1}"/>
              </a:ext>
            </a:extLst>
          </p:cNvPr>
          <p:cNvSpPr txBox="1"/>
          <p:nvPr/>
        </p:nvSpPr>
        <p:spPr>
          <a:xfrm>
            <a:off x="3049859" y="3244334"/>
            <a:ext cx="6099716" cy="369332"/>
          </a:xfrm>
          <a:prstGeom prst="rect">
            <a:avLst/>
          </a:prstGeom>
          <a:noFill/>
        </p:spPr>
        <p:txBody>
          <a:bodyPr wrap="square">
            <a:spAutoFit/>
          </a:bodyPr>
          <a:lstStyle/>
          <a:p>
            <a:endParaRPr lang="en-BD" dirty="0"/>
          </a:p>
        </p:txBody>
      </p:sp>
      <p:pic>
        <p:nvPicPr>
          <p:cNvPr id="13" name="Picture 12">
            <a:extLst>
              <a:ext uri="{FF2B5EF4-FFF2-40B4-BE49-F238E27FC236}">
                <a16:creationId xmlns:a16="http://schemas.microsoft.com/office/drawing/2014/main" id="{DA139272-EF67-0547-832E-E8D0322CA85A}"/>
              </a:ext>
            </a:extLst>
          </p:cNvPr>
          <p:cNvPicPr>
            <a:picLocks noChangeAspect="1"/>
          </p:cNvPicPr>
          <p:nvPr/>
        </p:nvPicPr>
        <p:blipFill>
          <a:blip r:embed="rId2"/>
          <a:stretch>
            <a:fillRect/>
          </a:stretch>
        </p:blipFill>
        <p:spPr>
          <a:xfrm>
            <a:off x="0" y="0"/>
            <a:ext cx="12192000" cy="6858000"/>
          </a:xfrm>
          <a:prstGeom prst="rect">
            <a:avLst/>
          </a:prstGeom>
        </p:spPr>
      </p:pic>
      <p:sp>
        <p:nvSpPr>
          <p:cNvPr id="14" name="TextBox 13">
            <a:extLst>
              <a:ext uri="{FF2B5EF4-FFF2-40B4-BE49-F238E27FC236}">
                <a16:creationId xmlns:a16="http://schemas.microsoft.com/office/drawing/2014/main" id="{6CCEB907-9012-3148-AA93-572D0B8AA3E0}"/>
              </a:ext>
            </a:extLst>
          </p:cNvPr>
          <p:cNvSpPr txBox="1"/>
          <p:nvPr/>
        </p:nvSpPr>
        <p:spPr>
          <a:xfrm>
            <a:off x="1768410" y="613470"/>
            <a:ext cx="8471454" cy="1323439"/>
          </a:xfrm>
          <a:prstGeom prst="rect">
            <a:avLst/>
          </a:prstGeom>
          <a:noFill/>
          <a:ln w="50800">
            <a:noFill/>
          </a:ln>
        </p:spPr>
        <p:txBody>
          <a:bodyPr wrap="square" rtlCol="0">
            <a:spAutoFit/>
          </a:bodyPr>
          <a:lstStyle/>
          <a:p>
            <a:pPr algn="ctr"/>
            <a:r>
              <a:rPr lang="en-BD" sz="4000" dirty="0">
                <a:latin typeface="Marker Felt Thin" panose="02000400000000000000" pitchFamily="2" charset="77"/>
              </a:rPr>
              <a:t>5 Types of Communication Contexts</a:t>
            </a:r>
          </a:p>
          <a:p>
            <a:pPr algn="ctr"/>
            <a:endParaRPr lang="en-BD" sz="4000" dirty="0">
              <a:latin typeface="Marker Felt Thin" panose="02000400000000000000" pitchFamily="2" charset="77"/>
            </a:endParaRPr>
          </a:p>
        </p:txBody>
      </p:sp>
      <p:sp>
        <p:nvSpPr>
          <p:cNvPr id="15" name="TextBox 14">
            <a:extLst>
              <a:ext uri="{FF2B5EF4-FFF2-40B4-BE49-F238E27FC236}">
                <a16:creationId xmlns:a16="http://schemas.microsoft.com/office/drawing/2014/main" id="{90F39C51-B4C7-A54F-A251-0C0F9FD94E73}"/>
              </a:ext>
            </a:extLst>
          </p:cNvPr>
          <p:cNvSpPr txBox="1"/>
          <p:nvPr/>
        </p:nvSpPr>
        <p:spPr>
          <a:xfrm>
            <a:off x="1493135" y="1275189"/>
            <a:ext cx="9398642" cy="5956311"/>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BD" b="1" dirty="0">
                <a:solidFill>
                  <a:schemeClr val="accent1"/>
                </a:solidFill>
                <a:latin typeface="Abadi MT Condensed Light" panose="020B0306030101010103" pitchFamily="34" charset="77"/>
              </a:rPr>
              <a:t>The Historical Context </a:t>
            </a:r>
            <a:r>
              <a:rPr lang="en-BD" dirty="0">
                <a:solidFill>
                  <a:srgbClr val="453E0F"/>
                </a:solidFill>
                <a:latin typeface="Abadi MT Condensed Light" panose="020B0306030101010103" pitchFamily="34" charset="77"/>
              </a:rPr>
              <a:t>–</a:t>
            </a:r>
            <a:r>
              <a:rPr lang="en-GB" dirty="0">
                <a:solidFill>
                  <a:srgbClr val="453E0F"/>
                </a:solidFill>
                <a:latin typeface="Abadi MT Condensed Light" panose="020B0306030101010103" pitchFamily="34" charset="77"/>
              </a:rPr>
              <a:t>The historical context refers to the background created by previous interactions and shared experiences between communication participants. Past conversations help shape how current messages are interpreted, often allowing individuals to communicate more efficiently with fewer words. Shared history reduces ambiguity and supports mutual understanding.</a:t>
            </a:r>
            <a:endParaRPr lang="en-BD" dirty="0">
              <a:solidFill>
                <a:srgbClr val="453E0F"/>
              </a:solidFill>
              <a:latin typeface="Abadi MT Condensed Light" panose="020B0306030101010103" pitchFamily="34" charset="77"/>
            </a:endParaRPr>
          </a:p>
          <a:p>
            <a:pPr>
              <a:lnSpc>
                <a:spcPct val="150000"/>
              </a:lnSpc>
            </a:pPr>
            <a:r>
              <a:rPr lang="en-BD" b="1" dirty="0">
                <a:solidFill>
                  <a:srgbClr val="453E0F"/>
                </a:solidFill>
                <a:latin typeface="Abadi MT Condensed Light" panose="020B0306030101010103" pitchFamily="34" charset="77"/>
              </a:rPr>
              <a:t>Example: </a:t>
            </a:r>
            <a:r>
              <a:rPr lang="en-GB" dirty="0">
                <a:solidFill>
                  <a:srgbClr val="453E0F"/>
                </a:solidFill>
                <a:latin typeface="Abadi MT Condensed Light" panose="020B0306030101010103" pitchFamily="34" charset="77"/>
              </a:rPr>
              <a:t>Anya (Employee 1) texts Sam (Employee 2) to say she will collect the report Sam left for their manager. Later, when Anya sees Sam at lunch and asks, “Did you get it?”, both understand the meaning of the question because of their earlier communication.</a:t>
            </a:r>
            <a:endParaRPr lang="en-BD" b="1" dirty="0">
              <a:latin typeface="Abadi MT Condensed Light" panose="020B0306030101010103" pitchFamily="34" charset="77"/>
            </a:endParaRPr>
          </a:p>
          <a:p>
            <a:pPr marL="285750" indent="-285750">
              <a:lnSpc>
                <a:spcPct val="150000"/>
              </a:lnSpc>
              <a:buFont typeface="Arial" panose="020B0604020202020204" pitchFamily="34" charset="0"/>
              <a:buChar char="•"/>
            </a:pPr>
            <a:r>
              <a:rPr lang="en-BD" b="1" dirty="0">
                <a:solidFill>
                  <a:schemeClr val="accent1"/>
                </a:solidFill>
                <a:latin typeface="Abadi MT Condensed Light" panose="020B0306030101010103" pitchFamily="34" charset="77"/>
                <a:ea typeface="Roboto" pitchFamily="2" charset="0"/>
              </a:rPr>
              <a:t>Psychological Context </a:t>
            </a:r>
            <a:r>
              <a:rPr lang="en-BD" dirty="0">
                <a:solidFill>
                  <a:srgbClr val="453E0F"/>
                </a:solidFill>
                <a:latin typeface="Abadi MT Condensed Light" panose="020B0306030101010103" pitchFamily="34" charset="77"/>
                <a:ea typeface="Roboto" pitchFamily="2" charset="0"/>
              </a:rPr>
              <a:t>– </a:t>
            </a:r>
            <a:r>
              <a:rPr lang="en-GB" dirty="0">
                <a:solidFill>
                  <a:srgbClr val="453E0F"/>
                </a:solidFill>
                <a:latin typeface="Abadi MT Condensed Light" panose="020B0306030101010103" pitchFamily="34" charset="77"/>
                <a:ea typeface="Roboto" pitchFamily="2" charset="0"/>
              </a:rPr>
              <a:t>The psychological context involves the mental and emotional states, attitudes, beliefs, and perceptions of the individuals involved in communication. These internal factors influence how messages are formed, delivered, and interpreted. A person’s emotional state can strongly affect how they perceive meaning, tone, and intent.</a:t>
            </a:r>
            <a:br>
              <a:rPr lang="en-GB" dirty="0">
                <a:solidFill>
                  <a:srgbClr val="453E0F"/>
                </a:solidFill>
                <a:latin typeface="Abadi MT Condensed Light" panose="020B0306030101010103" pitchFamily="34" charset="77"/>
                <a:ea typeface="Roboto" pitchFamily="2" charset="0"/>
              </a:rPr>
            </a:br>
            <a:r>
              <a:rPr lang="en-GB" b="1" dirty="0">
                <a:solidFill>
                  <a:srgbClr val="453E0F"/>
                </a:solidFill>
                <a:latin typeface="Abadi MT Condensed Light" panose="020B0306030101010103" pitchFamily="34" charset="77"/>
                <a:ea typeface="Roboto" pitchFamily="2" charset="0"/>
              </a:rPr>
              <a:t>Example: </a:t>
            </a:r>
            <a:r>
              <a:rPr lang="en-GB" dirty="0">
                <a:solidFill>
                  <a:srgbClr val="453E0F"/>
                </a:solidFill>
                <a:latin typeface="Abadi MT Condensed Light" panose="020B0306030101010103" pitchFamily="34" charset="77"/>
                <a:ea typeface="Roboto" pitchFamily="2" charset="0"/>
              </a:rPr>
              <a:t>Someone who is calm and in a positive mood may interpret a neutral message as harmless, whereas a person who is anxious or upset may perceive the same message as negative or critical.</a:t>
            </a:r>
            <a:endParaRPr lang="en-BD" sz="2300" dirty="0">
              <a:solidFill>
                <a:srgbClr val="453E0F"/>
              </a:solidFill>
              <a:latin typeface="Abadi MT Condensed Light" panose="020B0306030101010103" pitchFamily="34" charset="77"/>
              <a:ea typeface="Roboto" pitchFamily="2" charset="0"/>
            </a:endParaRPr>
          </a:p>
          <a:p>
            <a:pPr marL="457200" indent="-457200">
              <a:lnSpc>
                <a:spcPct val="150000"/>
              </a:lnSpc>
              <a:buFont typeface="Arial" panose="020B0604020202020204" pitchFamily="34" charset="0"/>
              <a:buChar char="•"/>
            </a:pPr>
            <a:endParaRPr lang="en-BD" sz="2200" dirty="0">
              <a:latin typeface="Abadi MT Condensed Light" panose="020B0306030101010103" pitchFamily="34" charset="77"/>
              <a:ea typeface="Roboto" pitchFamily="2" charset="0"/>
            </a:endParaRPr>
          </a:p>
        </p:txBody>
      </p:sp>
    </p:spTree>
    <p:extLst>
      <p:ext uri="{BB962C8B-B14F-4D97-AF65-F5344CB8AC3E}">
        <p14:creationId xmlns:p14="http://schemas.microsoft.com/office/powerpoint/2010/main" val="290933437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F9EB3D34-D413-3641-A211-3B7FEA8681AB}"/>
              </a:ext>
            </a:extLst>
          </p:cNvPr>
          <p:cNvSpPr txBox="1"/>
          <p:nvPr/>
        </p:nvSpPr>
        <p:spPr>
          <a:xfrm>
            <a:off x="3049859" y="3244334"/>
            <a:ext cx="6099716" cy="369332"/>
          </a:xfrm>
          <a:prstGeom prst="rect">
            <a:avLst/>
          </a:prstGeom>
          <a:noFill/>
        </p:spPr>
        <p:txBody>
          <a:bodyPr wrap="square">
            <a:spAutoFit/>
          </a:bodyPr>
          <a:lstStyle/>
          <a:p>
            <a:endParaRPr lang="en-BD" dirty="0"/>
          </a:p>
        </p:txBody>
      </p:sp>
      <p:sp>
        <p:nvSpPr>
          <p:cNvPr id="7" name="TextBox 6">
            <a:extLst>
              <a:ext uri="{FF2B5EF4-FFF2-40B4-BE49-F238E27FC236}">
                <a16:creationId xmlns:a16="http://schemas.microsoft.com/office/drawing/2014/main" id="{49AD465A-BEDF-B34F-8009-A193D849C0D9}"/>
              </a:ext>
            </a:extLst>
          </p:cNvPr>
          <p:cNvSpPr txBox="1"/>
          <p:nvPr/>
        </p:nvSpPr>
        <p:spPr>
          <a:xfrm>
            <a:off x="3049859" y="3244334"/>
            <a:ext cx="6099716" cy="369332"/>
          </a:xfrm>
          <a:prstGeom prst="rect">
            <a:avLst/>
          </a:prstGeom>
          <a:noFill/>
        </p:spPr>
        <p:txBody>
          <a:bodyPr wrap="square">
            <a:spAutoFit/>
          </a:bodyPr>
          <a:lstStyle/>
          <a:p>
            <a:endParaRPr lang="en-BD" dirty="0"/>
          </a:p>
        </p:txBody>
      </p:sp>
      <p:sp>
        <p:nvSpPr>
          <p:cNvPr id="9" name="TextBox 8">
            <a:extLst>
              <a:ext uri="{FF2B5EF4-FFF2-40B4-BE49-F238E27FC236}">
                <a16:creationId xmlns:a16="http://schemas.microsoft.com/office/drawing/2014/main" id="{77698134-8252-7E4C-9B70-1B74FD8D05C1}"/>
              </a:ext>
            </a:extLst>
          </p:cNvPr>
          <p:cNvSpPr txBox="1"/>
          <p:nvPr/>
        </p:nvSpPr>
        <p:spPr>
          <a:xfrm>
            <a:off x="3049859" y="3244334"/>
            <a:ext cx="6099716" cy="369332"/>
          </a:xfrm>
          <a:prstGeom prst="rect">
            <a:avLst/>
          </a:prstGeom>
          <a:noFill/>
        </p:spPr>
        <p:txBody>
          <a:bodyPr wrap="square">
            <a:spAutoFit/>
          </a:bodyPr>
          <a:lstStyle/>
          <a:p>
            <a:endParaRPr lang="en-BD" dirty="0"/>
          </a:p>
        </p:txBody>
      </p:sp>
      <p:pic>
        <p:nvPicPr>
          <p:cNvPr id="13" name="Picture 12">
            <a:extLst>
              <a:ext uri="{FF2B5EF4-FFF2-40B4-BE49-F238E27FC236}">
                <a16:creationId xmlns:a16="http://schemas.microsoft.com/office/drawing/2014/main" id="{DA139272-EF67-0547-832E-E8D0322CA85A}"/>
              </a:ext>
            </a:extLst>
          </p:cNvPr>
          <p:cNvPicPr>
            <a:picLocks noChangeAspect="1"/>
          </p:cNvPicPr>
          <p:nvPr/>
        </p:nvPicPr>
        <p:blipFill>
          <a:blip r:embed="rId2"/>
          <a:stretch>
            <a:fillRect/>
          </a:stretch>
        </p:blipFill>
        <p:spPr>
          <a:xfrm>
            <a:off x="0" y="0"/>
            <a:ext cx="12192000" cy="6858000"/>
          </a:xfrm>
          <a:prstGeom prst="rect">
            <a:avLst/>
          </a:prstGeom>
        </p:spPr>
      </p:pic>
      <p:sp>
        <p:nvSpPr>
          <p:cNvPr id="14" name="TextBox 13">
            <a:extLst>
              <a:ext uri="{FF2B5EF4-FFF2-40B4-BE49-F238E27FC236}">
                <a16:creationId xmlns:a16="http://schemas.microsoft.com/office/drawing/2014/main" id="{6CCEB907-9012-3148-AA93-572D0B8AA3E0}"/>
              </a:ext>
            </a:extLst>
          </p:cNvPr>
          <p:cNvSpPr txBox="1"/>
          <p:nvPr/>
        </p:nvSpPr>
        <p:spPr>
          <a:xfrm>
            <a:off x="1756836" y="679652"/>
            <a:ext cx="8471454" cy="1323439"/>
          </a:xfrm>
          <a:prstGeom prst="rect">
            <a:avLst/>
          </a:prstGeom>
          <a:noFill/>
          <a:ln w="50800">
            <a:noFill/>
          </a:ln>
        </p:spPr>
        <p:txBody>
          <a:bodyPr wrap="square" rtlCol="0">
            <a:spAutoFit/>
          </a:bodyPr>
          <a:lstStyle/>
          <a:p>
            <a:pPr algn="ctr"/>
            <a:r>
              <a:rPr lang="en-BD" sz="4000" dirty="0">
                <a:latin typeface="Marker Felt Thin" panose="02000400000000000000" pitchFamily="2" charset="77"/>
              </a:rPr>
              <a:t>5 Types of Communication Contexts</a:t>
            </a:r>
          </a:p>
          <a:p>
            <a:pPr algn="ctr"/>
            <a:endParaRPr lang="en-BD" sz="4000" dirty="0">
              <a:latin typeface="Marker Felt Thin" panose="02000400000000000000" pitchFamily="2" charset="77"/>
            </a:endParaRPr>
          </a:p>
        </p:txBody>
      </p:sp>
      <p:sp>
        <p:nvSpPr>
          <p:cNvPr id="15" name="TextBox 14">
            <a:extLst>
              <a:ext uri="{FF2B5EF4-FFF2-40B4-BE49-F238E27FC236}">
                <a16:creationId xmlns:a16="http://schemas.microsoft.com/office/drawing/2014/main" id="{90F39C51-B4C7-A54F-A251-0C0F9FD94E73}"/>
              </a:ext>
            </a:extLst>
          </p:cNvPr>
          <p:cNvSpPr txBox="1"/>
          <p:nvPr/>
        </p:nvSpPr>
        <p:spPr>
          <a:xfrm>
            <a:off x="1800829" y="1275190"/>
            <a:ext cx="8634335" cy="3794693"/>
          </a:xfrm>
          <a:prstGeom prst="rect">
            <a:avLst/>
          </a:prstGeom>
          <a:noFill/>
        </p:spPr>
        <p:txBody>
          <a:bodyPr wrap="square" rtlCol="0">
            <a:spAutoFit/>
          </a:bodyPr>
          <a:lstStyle/>
          <a:p>
            <a:pPr marL="457200" indent="-457200">
              <a:lnSpc>
                <a:spcPct val="150000"/>
              </a:lnSpc>
              <a:buFont typeface="Arial" panose="020B0604020202020204" pitchFamily="34" charset="0"/>
              <a:buChar char="•"/>
            </a:pPr>
            <a:r>
              <a:rPr lang="en-GB" b="1" dirty="0">
                <a:solidFill>
                  <a:schemeClr val="accent1"/>
                </a:solidFill>
                <a:latin typeface="Abadi MT Condensed Light" panose="020B0306030101010103" pitchFamily="34" charset="77"/>
                <a:ea typeface="Roboto" pitchFamily="2" charset="0"/>
              </a:rPr>
              <a:t>The Cultural Context </a:t>
            </a:r>
            <a:r>
              <a:rPr lang="en-GB" dirty="0">
                <a:solidFill>
                  <a:srgbClr val="453E0F"/>
                </a:solidFill>
                <a:latin typeface="Abadi MT Condensed Light" panose="020B0306030101010103" pitchFamily="34" charset="77"/>
                <a:ea typeface="Roboto" pitchFamily="2" charset="0"/>
              </a:rPr>
              <a:t>–  </a:t>
            </a:r>
            <a:r>
              <a:rPr lang="en-GB" b="1" dirty="0">
                <a:latin typeface="Abadi MT Condensed Light" panose="020B0306030101010103" pitchFamily="34" charset="77"/>
                <a:ea typeface="Roboto" pitchFamily="2" charset="0"/>
              </a:rPr>
              <a:t>Cultural expectations often define the way that messages are communicated</a:t>
            </a:r>
            <a:r>
              <a:rPr lang="en-GB" dirty="0">
                <a:solidFill>
                  <a:srgbClr val="453E0F"/>
                </a:solidFill>
                <a:latin typeface="Abadi MT Condensed Light" panose="020B0306030101010103" pitchFamily="34" charset="77"/>
                <a:ea typeface="Roboto" pitchFamily="2" charset="0"/>
              </a:rPr>
              <a:t>. Every culture has different communication styles and things that are deemed appropriate or inappropriate. The cultural context includes the </a:t>
            </a:r>
            <a:r>
              <a:rPr lang="en-GB" b="1" dirty="0">
                <a:latin typeface="Abadi MT Condensed Light" panose="020B0306030101010103" pitchFamily="34" charset="77"/>
                <a:ea typeface="Roboto" pitchFamily="2" charset="0"/>
              </a:rPr>
              <a:t>beliefs, values, orientations, underlying assumptions, and rituals that belong to a specific culture. </a:t>
            </a:r>
            <a:r>
              <a:rPr lang="en-GB" dirty="0">
                <a:solidFill>
                  <a:srgbClr val="453E0F"/>
                </a:solidFill>
                <a:latin typeface="Abadi MT Condensed Light" panose="020B0306030101010103" pitchFamily="34" charset="77"/>
                <a:ea typeface="Roboto" pitchFamily="2" charset="0"/>
              </a:rPr>
              <a:t>Everyone is part of one or more cultural groups </a:t>
            </a:r>
            <a:r>
              <a:rPr lang="en-GB" b="1" dirty="0">
                <a:latin typeface="Abadi MT Condensed Light" panose="020B0306030101010103" pitchFamily="34" charset="77"/>
                <a:ea typeface="Roboto" pitchFamily="2" charset="0"/>
              </a:rPr>
              <a:t>(e.g. religion, gender, ethnicity, age, physical ability). </a:t>
            </a:r>
            <a:r>
              <a:rPr lang="en-GB" dirty="0">
                <a:solidFill>
                  <a:srgbClr val="453E0F"/>
                </a:solidFill>
                <a:latin typeface="Abadi MT Condensed Light" panose="020B0306030101010103" pitchFamily="34" charset="77"/>
                <a:ea typeface="Roboto" pitchFamily="2" charset="0"/>
              </a:rPr>
              <a:t>When two people from different cultures interact, </a:t>
            </a:r>
            <a:r>
              <a:rPr lang="en-GB" b="1" dirty="0">
                <a:latin typeface="Abadi MT Condensed Light" panose="020B0306030101010103" pitchFamily="34" charset="77"/>
                <a:ea typeface="Roboto" pitchFamily="2" charset="0"/>
              </a:rPr>
              <a:t>misunderstandings</a:t>
            </a:r>
            <a:r>
              <a:rPr lang="en-GB" dirty="0">
                <a:solidFill>
                  <a:srgbClr val="453E0F"/>
                </a:solidFill>
                <a:latin typeface="Abadi MT Condensed Light" panose="020B0306030101010103" pitchFamily="34" charset="77"/>
                <a:ea typeface="Roboto" pitchFamily="2" charset="0"/>
              </a:rPr>
              <a:t> may occur because of their </a:t>
            </a:r>
            <a:r>
              <a:rPr lang="en-GB" b="1" dirty="0">
                <a:latin typeface="Abadi MT Condensed Light" panose="020B0306030101010103" pitchFamily="34" charset="77"/>
                <a:ea typeface="Roboto" pitchFamily="2" charset="0"/>
              </a:rPr>
              <a:t>different</a:t>
            </a:r>
            <a:r>
              <a:rPr lang="en-GB" dirty="0">
                <a:solidFill>
                  <a:srgbClr val="453E0F"/>
                </a:solidFill>
                <a:latin typeface="Abadi MT Condensed Light" panose="020B0306030101010103" pitchFamily="34" charset="77"/>
                <a:ea typeface="Roboto" pitchFamily="2" charset="0"/>
              </a:rPr>
              <a:t> cultural values, believes, orientations and rituals. </a:t>
            </a:r>
          </a:p>
          <a:p>
            <a:pPr>
              <a:lnSpc>
                <a:spcPct val="150000"/>
              </a:lnSpc>
            </a:pPr>
            <a:r>
              <a:rPr lang="en-GB" b="1" dirty="0">
                <a:latin typeface="Abadi MT Condensed Light" panose="020B0306030101010103" pitchFamily="34" charset="77"/>
                <a:ea typeface="Roboto" pitchFamily="2" charset="0"/>
              </a:rPr>
              <a:t>Example</a:t>
            </a:r>
            <a:r>
              <a:rPr lang="en-GB" dirty="0">
                <a:latin typeface="Abadi MT Condensed Light" panose="020B0306030101010103" pitchFamily="34" charset="77"/>
                <a:ea typeface="Roboto" pitchFamily="2" charset="0"/>
              </a:rPr>
              <a:t>: </a:t>
            </a:r>
            <a:r>
              <a:rPr lang="en-GB" dirty="0">
                <a:solidFill>
                  <a:srgbClr val="453E0F"/>
                </a:solidFill>
                <a:latin typeface="Abadi MT Condensed Light" panose="020B0306030101010103" pitchFamily="34" charset="77"/>
                <a:ea typeface="Roboto" pitchFamily="2" charset="0"/>
              </a:rPr>
              <a:t>In some cultures, direct eye contact is seen as a sign of respect, while in others, it may be considered confrontational.</a:t>
            </a:r>
            <a:endParaRPr lang="en-BD" dirty="0">
              <a:solidFill>
                <a:srgbClr val="453E0F"/>
              </a:solidFill>
              <a:latin typeface="Abadi MT Condensed Light" panose="020B0306030101010103" pitchFamily="34" charset="77"/>
              <a:ea typeface="Roboto" pitchFamily="2" charset="0"/>
            </a:endParaRPr>
          </a:p>
        </p:txBody>
      </p:sp>
    </p:spTree>
    <p:extLst>
      <p:ext uri="{BB962C8B-B14F-4D97-AF65-F5344CB8AC3E}">
        <p14:creationId xmlns:p14="http://schemas.microsoft.com/office/powerpoint/2010/main" val="47491487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5BA37A-0A1D-5D4F-B0B0-D95CD15379CE}"/>
              </a:ext>
            </a:extLst>
          </p:cNvPr>
          <p:cNvSpPr>
            <a:spLocks noGrp="1"/>
          </p:cNvSpPr>
          <p:nvPr>
            <p:ph type="title"/>
          </p:nvPr>
        </p:nvSpPr>
        <p:spPr/>
        <p:txBody>
          <a:bodyPr/>
          <a:lstStyle/>
          <a:p>
            <a:endParaRPr lang="en-BD"/>
          </a:p>
        </p:txBody>
      </p:sp>
      <p:pic>
        <p:nvPicPr>
          <p:cNvPr id="5" name="Content Placeholder 4">
            <a:extLst>
              <a:ext uri="{FF2B5EF4-FFF2-40B4-BE49-F238E27FC236}">
                <a16:creationId xmlns:a16="http://schemas.microsoft.com/office/drawing/2014/main" id="{DEB8A33C-9B03-3840-83EC-F29CE7C9A01A}"/>
              </a:ext>
            </a:extLst>
          </p:cNvPr>
          <p:cNvPicPr>
            <a:picLocks noGrp="1" noChangeAspect="1"/>
          </p:cNvPicPr>
          <p:nvPr>
            <p:ph idx="1"/>
          </p:nvPr>
        </p:nvPicPr>
        <p:blipFill>
          <a:blip r:embed="rId2"/>
          <a:stretch>
            <a:fillRect/>
          </a:stretch>
        </p:blipFill>
        <p:spPr>
          <a:xfrm>
            <a:off x="0" y="-1"/>
            <a:ext cx="12192000" cy="6858001"/>
          </a:xfrm>
        </p:spPr>
      </p:pic>
      <p:sp>
        <p:nvSpPr>
          <p:cNvPr id="6" name="TextBox 5">
            <a:extLst>
              <a:ext uri="{FF2B5EF4-FFF2-40B4-BE49-F238E27FC236}">
                <a16:creationId xmlns:a16="http://schemas.microsoft.com/office/drawing/2014/main" id="{9976B8AD-90FE-6546-8BE9-586213A02B12}"/>
              </a:ext>
            </a:extLst>
          </p:cNvPr>
          <p:cNvSpPr txBox="1"/>
          <p:nvPr/>
        </p:nvSpPr>
        <p:spPr>
          <a:xfrm>
            <a:off x="2953062" y="2233534"/>
            <a:ext cx="6295869" cy="2440476"/>
          </a:xfrm>
          <a:prstGeom prst="rect">
            <a:avLst/>
          </a:prstGeom>
          <a:noFill/>
        </p:spPr>
        <p:txBody>
          <a:bodyPr wrap="square" rtlCol="0">
            <a:spAutoFit/>
          </a:bodyPr>
          <a:lstStyle/>
          <a:p>
            <a:pPr algn="ctr">
              <a:lnSpc>
                <a:spcPct val="150000"/>
              </a:lnSpc>
            </a:pPr>
            <a:r>
              <a:rPr lang="en-BD" sz="5400" b="1" dirty="0">
                <a:latin typeface="MARKER FELT THIN" panose="02000400000000000000" pitchFamily="2" charset="77"/>
              </a:rPr>
              <a:t>Characteristics of </a:t>
            </a:r>
          </a:p>
          <a:p>
            <a:pPr algn="ctr">
              <a:lnSpc>
                <a:spcPct val="150000"/>
              </a:lnSpc>
            </a:pPr>
            <a:r>
              <a:rPr lang="en-BD" sz="5400" b="1" dirty="0">
                <a:latin typeface="MARKER FELT THIN" panose="02000400000000000000" pitchFamily="2" charset="77"/>
              </a:rPr>
              <a:t>Communication</a:t>
            </a:r>
          </a:p>
        </p:txBody>
      </p:sp>
    </p:spTree>
    <p:extLst>
      <p:ext uri="{BB962C8B-B14F-4D97-AF65-F5344CB8AC3E}">
        <p14:creationId xmlns:p14="http://schemas.microsoft.com/office/powerpoint/2010/main" val="70791341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F9EB3D34-D413-3641-A211-3B7FEA8681AB}"/>
              </a:ext>
            </a:extLst>
          </p:cNvPr>
          <p:cNvSpPr txBox="1"/>
          <p:nvPr/>
        </p:nvSpPr>
        <p:spPr>
          <a:xfrm>
            <a:off x="3049859" y="3244334"/>
            <a:ext cx="6099716" cy="369332"/>
          </a:xfrm>
          <a:prstGeom prst="rect">
            <a:avLst/>
          </a:prstGeom>
          <a:noFill/>
        </p:spPr>
        <p:txBody>
          <a:bodyPr wrap="square">
            <a:spAutoFit/>
          </a:bodyPr>
          <a:lstStyle/>
          <a:p>
            <a:endParaRPr lang="en-BD" dirty="0"/>
          </a:p>
        </p:txBody>
      </p:sp>
      <p:sp>
        <p:nvSpPr>
          <p:cNvPr id="7" name="TextBox 6">
            <a:extLst>
              <a:ext uri="{FF2B5EF4-FFF2-40B4-BE49-F238E27FC236}">
                <a16:creationId xmlns:a16="http://schemas.microsoft.com/office/drawing/2014/main" id="{49AD465A-BEDF-B34F-8009-A193D849C0D9}"/>
              </a:ext>
            </a:extLst>
          </p:cNvPr>
          <p:cNvSpPr txBox="1"/>
          <p:nvPr/>
        </p:nvSpPr>
        <p:spPr>
          <a:xfrm>
            <a:off x="3049859" y="3244334"/>
            <a:ext cx="6099716" cy="369332"/>
          </a:xfrm>
          <a:prstGeom prst="rect">
            <a:avLst/>
          </a:prstGeom>
          <a:noFill/>
        </p:spPr>
        <p:txBody>
          <a:bodyPr wrap="square">
            <a:spAutoFit/>
          </a:bodyPr>
          <a:lstStyle/>
          <a:p>
            <a:endParaRPr lang="en-BD" dirty="0"/>
          </a:p>
        </p:txBody>
      </p:sp>
      <p:sp>
        <p:nvSpPr>
          <p:cNvPr id="9" name="TextBox 8">
            <a:extLst>
              <a:ext uri="{FF2B5EF4-FFF2-40B4-BE49-F238E27FC236}">
                <a16:creationId xmlns:a16="http://schemas.microsoft.com/office/drawing/2014/main" id="{77698134-8252-7E4C-9B70-1B74FD8D05C1}"/>
              </a:ext>
            </a:extLst>
          </p:cNvPr>
          <p:cNvSpPr txBox="1"/>
          <p:nvPr/>
        </p:nvSpPr>
        <p:spPr>
          <a:xfrm>
            <a:off x="3049859" y="3244334"/>
            <a:ext cx="6099716" cy="369332"/>
          </a:xfrm>
          <a:prstGeom prst="rect">
            <a:avLst/>
          </a:prstGeom>
          <a:noFill/>
        </p:spPr>
        <p:txBody>
          <a:bodyPr wrap="square">
            <a:spAutoFit/>
          </a:bodyPr>
          <a:lstStyle/>
          <a:p>
            <a:endParaRPr lang="en-BD" dirty="0"/>
          </a:p>
        </p:txBody>
      </p:sp>
      <p:pic>
        <p:nvPicPr>
          <p:cNvPr id="13" name="Picture 12">
            <a:extLst>
              <a:ext uri="{FF2B5EF4-FFF2-40B4-BE49-F238E27FC236}">
                <a16:creationId xmlns:a16="http://schemas.microsoft.com/office/drawing/2014/main" id="{DA139272-EF67-0547-832E-E8D0322CA85A}"/>
              </a:ext>
            </a:extLst>
          </p:cNvPr>
          <p:cNvPicPr>
            <a:picLocks noChangeAspect="1"/>
          </p:cNvPicPr>
          <p:nvPr/>
        </p:nvPicPr>
        <p:blipFill>
          <a:blip r:embed="rId2"/>
          <a:stretch>
            <a:fillRect/>
          </a:stretch>
        </p:blipFill>
        <p:spPr>
          <a:xfrm>
            <a:off x="0" y="0"/>
            <a:ext cx="12192000" cy="6858000"/>
          </a:xfrm>
          <a:prstGeom prst="rect">
            <a:avLst/>
          </a:prstGeom>
        </p:spPr>
      </p:pic>
      <p:sp>
        <p:nvSpPr>
          <p:cNvPr id="14" name="TextBox 13">
            <a:extLst>
              <a:ext uri="{FF2B5EF4-FFF2-40B4-BE49-F238E27FC236}">
                <a16:creationId xmlns:a16="http://schemas.microsoft.com/office/drawing/2014/main" id="{6CCEB907-9012-3148-AA93-572D0B8AA3E0}"/>
              </a:ext>
            </a:extLst>
          </p:cNvPr>
          <p:cNvSpPr txBox="1"/>
          <p:nvPr/>
        </p:nvSpPr>
        <p:spPr>
          <a:xfrm>
            <a:off x="1860272" y="278319"/>
            <a:ext cx="8471454" cy="707886"/>
          </a:xfrm>
          <a:prstGeom prst="rect">
            <a:avLst/>
          </a:prstGeom>
          <a:noFill/>
          <a:ln w="50800">
            <a:noFill/>
          </a:ln>
        </p:spPr>
        <p:txBody>
          <a:bodyPr wrap="square" rtlCol="0">
            <a:spAutoFit/>
          </a:bodyPr>
          <a:lstStyle/>
          <a:p>
            <a:pPr algn="ctr"/>
            <a:r>
              <a:rPr lang="en-BD" sz="4000" dirty="0">
                <a:latin typeface="Marker Felt Thin" panose="02000400000000000000" pitchFamily="2" charset="77"/>
              </a:rPr>
              <a:t>Characteristics of Communication</a:t>
            </a:r>
          </a:p>
        </p:txBody>
      </p:sp>
      <p:sp>
        <p:nvSpPr>
          <p:cNvPr id="15" name="TextBox 14">
            <a:extLst>
              <a:ext uri="{FF2B5EF4-FFF2-40B4-BE49-F238E27FC236}">
                <a16:creationId xmlns:a16="http://schemas.microsoft.com/office/drawing/2014/main" id="{90F39C51-B4C7-A54F-A251-0C0F9FD94E73}"/>
              </a:ext>
            </a:extLst>
          </p:cNvPr>
          <p:cNvSpPr txBox="1"/>
          <p:nvPr/>
        </p:nvSpPr>
        <p:spPr>
          <a:xfrm>
            <a:off x="1500849" y="696095"/>
            <a:ext cx="9190299" cy="7290970"/>
          </a:xfrm>
          <a:prstGeom prst="rect">
            <a:avLst/>
          </a:prstGeom>
          <a:noFill/>
        </p:spPr>
        <p:txBody>
          <a:bodyPr wrap="square" rtlCol="0">
            <a:spAutoFit/>
          </a:bodyPr>
          <a:lstStyle/>
          <a:p>
            <a:pPr>
              <a:lnSpc>
                <a:spcPct val="150000"/>
              </a:lnSpc>
            </a:pPr>
            <a:r>
              <a:rPr lang="en-GB" b="1" dirty="0">
                <a:latin typeface="Abadi MT Condensed Light" panose="020B0306030101010103" pitchFamily="34" charset="77"/>
              </a:rPr>
              <a:t>Communication</a:t>
            </a:r>
            <a:r>
              <a:rPr lang="en-GB" dirty="0">
                <a:latin typeface="Abadi MT Condensed Light" panose="020B0306030101010103" pitchFamily="34" charset="77"/>
              </a:rPr>
              <a:t> is a complex and multifaceted process, and it can be understood better by examining its key characteristics</a:t>
            </a:r>
            <a:r>
              <a:rPr lang="en-GB" dirty="0"/>
              <a:t>.</a:t>
            </a:r>
            <a:endParaRPr lang="en-BD" b="1" dirty="0">
              <a:latin typeface="Abadi MT Condensed Light" panose="020B0306030101010103" pitchFamily="34" charset="77"/>
              <a:ea typeface="Roboto" pitchFamily="2" charset="0"/>
            </a:endParaRPr>
          </a:p>
          <a:p>
            <a:pPr marL="457200" indent="-457200">
              <a:lnSpc>
                <a:spcPct val="150000"/>
              </a:lnSpc>
              <a:buFont typeface="Arial" panose="020B0604020202020204" pitchFamily="34" charset="0"/>
              <a:buChar char="•"/>
            </a:pPr>
            <a:r>
              <a:rPr lang="en-BD" b="1" dirty="0">
                <a:latin typeface="Abadi MT Condensed Light" panose="020B0306030101010103" pitchFamily="34" charset="77"/>
                <a:ea typeface="Roboto" pitchFamily="2" charset="0"/>
              </a:rPr>
              <a:t>Communication Has a Purpose </a:t>
            </a:r>
            <a:r>
              <a:rPr lang="en-BD" dirty="0">
                <a:solidFill>
                  <a:srgbClr val="453E0F"/>
                </a:solidFill>
                <a:latin typeface="Abadi MT Condensed Light" panose="020B0306030101010103" pitchFamily="34" charset="77"/>
                <a:ea typeface="Roboto" pitchFamily="2" charset="0"/>
              </a:rPr>
              <a:t>– Whenever we communicate, we have a </a:t>
            </a:r>
            <a:r>
              <a:rPr lang="en-BD" b="1" dirty="0">
                <a:latin typeface="Abadi MT Condensed Light" panose="020B0306030101010103" pitchFamily="34" charset="77"/>
                <a:ea typeface="Roboto" pitchFamily="2" charset="0"/>
              </a:rPr>
              <a:t>purpose</a:t>
            </a:r>
            <a:r>
              <a:rPr lang="en-BD" dirty="0">
                <a:solidFill>
                  <a:srgbClr val="453E0F"/>
                </a:solidFill>
                <a:latin typeface="Abadi MT Condensed Light" panose="020B0306030101010103" pitchFamily="34" charset="77"/>
                <a:ea typeface="Roboto" pitchFamily="2" charset="0"/>
              </a:rPr>
              <a:t> for doing so. The purpose may be </a:t>
            </a:r>
            <a:r>
              <a:rPr lang="en-BD" b="1" dirty="0">
                <a:latin typeface="Abadi MT Condensed Light" panose="020B0306030101010103" pitchFamily="34" charset="77"/>
                <a:ea typeface="Roboto" pitchFamily="2" charset="0"/>
              </a:rPr>
              <a:t>serious or trivial</a:t>
            </a:r>
            <a:r>
              <a:rPr lang="en-BD" dirty="0">
                <a:solidFill>
                  <a:srgbClr val="453E0F"/>
                </a:solidFill>
                <a:latin typeface="Abadi MT Condensed Light" panose="020B0306030101010103" pitchFamily="34" charset="77"/>
                <a:ea typeface="Roboto" pitchFamily="2" charset="0"/>
              </a:rPr>
              <a:t>, and we may or may not be aware of it at the time.</a:t>
            </a:r>
            <a:r>
              <a:rPr lang="en-GB" dirty="0">
                <a:solidFill>
                  <a:srgbClr val="453E0F"/>
                </a:solidFill>
                <a:latin typeface="Abadi MT Condensed Light" panose="020B0306030101010103" pitchFamily="34" charset="77"/>
                <a:ea typeface="Roboto" pitchFamily="2" charset="0"/>
              </a:rPr>
              <a:t> Whether the goal is to inform, persuade, entertain, express emotions, or build relationships, effective communication aligns with the communicator’s intended objective.</a:t>
            </a:r>
            <a:endParaRPr lang="en-BD" dirty="0">
              <a:solidFill>
                <a:srgbClr val="453E0F"/>
              </a:solidFill>
              <a:latin typeface="Abadi MT Condensed Light" panose="020B0306030101010103" pitchFamily="34" charset="77"/>
              <a:ea typeface="Roboto" pitchFamily="2" charset="0"/>
            </a:endParaRPr>
          </a:p>
          <a:p>
            <a:pPr>
              <a:lnSpc>
                <a:spcPct val="150000"/>
              </a:lnSpc>
            </a:pPr>
            <a:r>
              <a:rPr lang="en-GB" b="1" dirty="0">
                <a:latin typeface="Abadi MT Condensed Light" panose="020B0306030101010103" pitchFamily="34" charset="77"/>
                <a:ea typeface="Roboto" pitchFamily="2" charset="0"/>
              </a:rPr>
              <a:t>Example: </a:t>
            </a:r>
            <a:r>
              <a:rPr lang="en-GB" dirty="0">
                <a:solidFill>
                  <a:srgbClr val="453E0F"/>
                </a:solidFill>
                <a:latin typeface="Abadi MT Condensed Light" panose="020B0306030101010103" pitchFamily="34" charset="77"/>
                <a:ea typeface="Roboto" pitchFamily="2" charset="0"/>
              </a:rPr>
              <a:t>In a business meeting, a presentation might be designed to inform the team about new strategies, while a casual conversation might aim to build rapport and connect on a personal level.</a:t>
            </a:r>
          </a:p>
          <a:p>
            <a:pPr marL="457200" indent="-457200">
              <a:lnSpc>
                <a:spcPct val="150000"/>
              </a:lnSpc>
              <a:buFont typeface="Arial" panose="020B0604020202020204" pitchFamily="34" charset="0"/>
              <a:buChar char="•"/>
            </a:pPr>
            <a:r>
              <a:rPr lang="en-BD" b="1" dirty="0">
                <a:latin typeface="Abadi MT Condensed Light" panose="020B0306030101010103" pitchFamily="34" charset="77"/>
                <a:ea typeface="Roboto" pitchFamily="2" charset="0"/>
              </a:rPr>
              <a:t>Communication is Continuous </a:t>
            </a:r>
            <a:r>
              <a:rPr lang="en-BD" dirty="0">
                <a:solidFill>
                  <a:srgbClr val="453E0F"/>
                </a:solidFill>
                <a:latin typeface="Abadi MT Condensed Light" panose="020B0306030101010103" pitchFamily="34" charset="77"/>
                <a:ea typeface="Roboto" pitchFamily="2" charset="0"/>
              </a:rPr>
              <a:t>– </a:t>
            </a:r>
            <a:r>
              <a:rPr lang="en-GB" dirty="0">
                <a:solidFill>
                  <a:srgbClr val="453E0F"/>
                </a:solidFill>
                <a:latin typeface="Abadi MT Condensed Light" panose="020B0306030101010103" pitchFamily="34" charset="77"/>
                <a:ea typeface="Roboto" pitchFamily="2" charset="0"/>
              </a:rPr>
              <a:t>Communication is constant and never truly stops. </a:t>
            </a:r>
            <a:r>
              <a:rPr lang="en-BD" dirty="0">
                <a:solidFill>
                  <a:srgbClr val="453E0F"/>
                </a:solidFill>
                <a:latin typeface="Abadi MT Condensed Light" panose="020B0306030101010103" pitchFamily="34" charset="77"/>
                <a:ea typeface="Roboto" pitchFamily="2" charset="0"/>
              </a:rPr>
              <a:t>We are </a:t>
            </a:r>
            <a:r>
              <a:rPr lang="en-BD" b="1" dirty="0">
                <a:latin typeface="Abadi MT Condensed Light" panose="020B0306030101010103" pitchFamily="34" charset="77"/>
                <a:ea typeface="Roboto" pitchFamily="2" charset="0"/>
              </a:rPr>
              <a:t>always sending and interpreting messages</a:t>
            </a:r>
            <a:r>
              <a:rPr lang="en-BD" dirty="0">
                <a:solidFill>
                  <a:srgbClr val="453E0F"/>
                </a:solidFill>
                <a:latin typeface="Abadi MT Condensed Light" panose="020B0306030101010103" pitchFamily="34" charset="77"/>
                <a:ea typeface="Roboto" pitchFamily="2" charset="0"/>
              </a:rPr>
              <a:t>.</a:t>
            </a:r>
            <a:r>
              <a:rPr lang="en-GB" dirty="0">
                <a:solidFill>
                  <a:srgbClr val="453E0F"/>
                </a:solidFill>
                <a:latin typeface="Abadi MT Condensed Light" panose="020B0306030101010103" pitchFamily="34" charset="77"/>
                <a:ea typeface="Roboto" pitchFamily="2" charset="0"/>
              </a:rPr>
              <a:t> Even when we are not actively speaking or writing, we are still communicating through body language, facial expressions, and even silence. </a:t>
            </a:r>
            <a:r>
              <a:rPr lang="en-BD" dirty="0">
                <a:solidFill>
                  <a:srgbClr val="453E0F"/>
                </a:solidFill>
                <a:latin typeface="Abadi MT Condensed Light" panose="020B0306030101010103" pitchFamily="34" charset="77"/>
                <a:ea typeface="Roboto" pitchFamily="2" charset="0"/>
              </a:rPr>
              <a:t>Our </a:t>
            </a:r>
            <a:r>
              <a:rPr lang="en-BD" b="1" dirty="0">
                <a:latin typeface="Abadi MT Condensed Light" panose="020B0306030101010103" pitchFamily="34" charset="77"/>
                <a:ea typeface="Roboto" pitchFamily="2" charset="0"/>
              </a:rPr>
              <a:t>nonverbal behavior</a:t>
            </a:r>
            <a:r>
              <a:rPr lang="en-BD" dirty="0">
                <a:solidFill>
                  <a:srgbClr val="453E0F"/>
                </a:solidFill>
                <a:latin typeface="Abadi MT Condensed Light" panose="020B0306030101010103" pitchFamily="34" charset="77"/>
                <a:ea typeface="Roboto" pitchFamily="2" charset="0"/>
              </a:rPr>
              <a:t> represents </a:t>
            </a:r>
            <a:r>
              <a:rPr lang="en-BD" b="1" dirty="0">
                <a:latin typeface="Abadi MT Condensed Light" panose="020B0306030101010103" pitchFamily="34" charset="77"/>
                <a:ea typeface="Roboto" pitchFamily="2" charset="0"/>
              </a:rPr>
              <a:t>reactions to our environment and to the people around us</a:t>
            </a:r>
            <a:r>
              <a:rPr lang="en-BD" dirty="0">
                <a:solidFill>
                  <a:srgbClr val="453E0F"/>
                </a:solidFill>
                <a:latin typeface="Abadi MT Condensed Light" panose="020B0306030101010103" pitchFamily="34" charset="77"/>
                <a:ea typeface="Roboto" pitchFamily="2" charset="0"/>
              </a:rPr>
              <a:t>. Even </a:t>
            </a:r>
            <a:r>
              <a:rPr lang="en-BD" b="1" dirty="0">
                <a:latin typeface="Abadi MT Condensed Light" panose="020B0306030101010103" pitchFamily="34" charset="77"/>
                <a:ea typeface="Roboto" pitchFamily="2" charset="0"/>
              </a:rPr>
              <a:t>silence communicates </a:t>
            </a:r>
            <a:r>
              <a:rPr lang="en-BD" dirty="0">
                <a:solidFill>
                  <a:srgbClr val="453E0F"/>
                </a:solidFill>
                <a:latin typeface="Abadi MT Condensed Light" panose="020B0306030101010103" pitchFamily="34" charset="77"/>
                <a:ea typeface="Roboto" pitchFamily="2" charset="0"/>
              </a:rPr>
              <a:t>if another person infers meaning from it. </a:t>
            </a:r>
          </a:p>
          <a:p>
            <a:pPr>
              <a:lnSpc>
                <a:spcPct val="150000"/>
              </a:lnSpc>
            </a:pPr>
            <a:r>
              <a:rPr lang="en-GB" b="1" dirty="0">
                <a:latin typeface="Abadi MT Condensed Light" panose="020B0306030101010103" pitchFamily="34" charset="77"/>
                <a:ea typeface="Roboto" pitchFamily="2" charset="0"/>
              </a:rPr>
              <a:t>Example: </a:t>
            </a:r>
            <a:r>
              <a:rPr lang="en-GB" dirty="0">
                <a:solidFill>
                  <a:srgbClr val="453E0F"/>
                </a:solidFill>
                <a:latin typeface="Abadi MT Condensed Light" panose="020B0306030101010103" pitchFamily="34" charset="77"/>
                <a:ea typeface="Roboto" pitchFamily="2" charset="0"/>
              </a:rPr>
              <a:t>You may be sitting quietly in a meeting, but your body posture, eye contact, and facial expressions still communicate something to those around you</a:t>
            </a:r>
          </a:p>
          <a:p>
            <a:pPr>
              <a:lnSpc>
                <a:spcPct val="150000"/>
              </a:lnSpc>
            </a:pPr>
            <a:endParaRPr lang="en-BD" sz="2000" b="1" dirty="0">
              <a:latin typeface="Abadi MT Condensed Light" panose="020B0306030101010103" pitchFamily="34" charset="77"/>
              <a:ea typeface="Roboto" pitchFamily="2" charset="0"/>
            </a:endParaRPr>
          </a:p>
          <a:p>
            <a:pPr marL="457200" indent="-457200">
              <a:lnSpc>
                <a:spcPct val="150000"/>
              </a:lnSpc>
              <a:buFont typeface="Arial" panose="020B0604020202020204" pitchFamily="34" charset="0"/>
              <a:buChar char="•"/>
            </a:pPr>
            <a:endParaRPr lang="en-BD" sz="2400" b="1" dirty="0">
              <a:latin typeface="Abadi MT Condensed Light" panose="020B0306030101010103" pitchFamily="34" charset="77"/>
              <a:ea typeface="Roboto" pitchFamily="2" charset="0"/>
            </a:endParaRPr>
          </a:p>
        </p:txBody>
      </p:sp>
    </p:spTree>
    <p:extLst>
      <p:ext uri="{BB962C8B-B14F-4D97-AF65-F5344CB8AC3E}">
        <p14:creationId xmlns:p14="http://schemas.microsoft.com/office/powerpoint/2010/main" val="169553690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F9EB3D34-D413-3641-A211-3B7FEA8681AB}"/>
              </a:ext>
            </a:extLst>
          </p:cNvPr>
          <p:cNvSpPr txBox="1"/>
          <p:nvPr/>
        </p:nvSpPr>
        <p:spPr>
          <a:xfrm>
            <a:off x="3049859" y="3244334"/>
            <a:ext cx="6099716" cy="369332"/>
          </a:xfrm>
          <a:prstGeom prst="rect">
            <a:avLst/>
          </a:prstGeom>
          <a:noFill/>
        </p:spPr>
        <p:txBody>
          <a:bodyPr wrap="square">
            <a:spAutoFit/>
          </a:bodyPr>
          <a:lstStyle/>
          <a:p>
            <a:endParaRPr lang="en-BD" dirty="0"/>
          </a:p>
        </p:txBody>
      </p:sp>
      <p:sp>
        <p:nvSpPr>
          <p:cNvPr id="7" name="TextBox 6">
            <a:extLst>
              <a:ext uri="{FF2B5EF4-FFF2-40B4-BE49-F238E27FC236}">
                <a16:creationId xmlns:a16="http://schemas.microsoft.com/office/drawing/2014/main" id="{49AD465A-BEDF-B34F-8009-A193D849C0D9}"/>
              </a:ext>
            </a:extLst>
          </p:cNvPr>
          <p:cNvSpPr txBox="1"/>
          <p:nvPr/>
        </p:nvSpPr>
        <p:spPr>
          <a:xfrm>
            <a:off x="3049859" y="3244334"/>
            <a:ext cx="6099716" cy="369332"/>
          </a:xfrm>
          <a:prstGeom prst="rect">
            <a:avLst/>
          </a:prstGeom>
          <a:noFill/>
        </p:spPr>
        <p:txBody>
          <a:bodyPr wrap="square">
            <a:spAutoFit/>
          </a:bodyPr>
          <a:lstStyle/>
          <a:p>
            <a:endParaRPr lang="en-BD" dirty="0"/>
          </a:p>
        </p:txBody>
      </p:sp>
      <p:sp>
        <p:nvSpPr>
          <p:cNvPr id="9" name="TextBox 8">
            <a:extLst>
              <a:ext uri="{FF2B5EF4-FFF2-40B4-BE49-F238E27FC236}">
                <a16:creationId xmlns:a16="http://schemas.microsoft.com/office/drawing/2014/main" id="{77698134-8252-7E4C-9B70-1B74FD8D05C1}"/>
              </a:ext>
            </a:extLst>
          </p:cNvPr>
          <p:cNvSpPr txBox="1"/>
          <p:nvPr/>
        </p:nvSpPr>
        <p:spPr>
          <a:xfrm>
            <a:off x="3049859" y="3244334"/>
            <a:ext cx="6099716" cy="369332"/>
          </a:xfrm>
          <a:prstGeom prst="rect">
            <a:avLst/>
          </a:prstGeom>
          <a:noFill/>
        </p:spPr>
        <p:txBody>
          <a:bodyPr wrap="square">
            <a:spAutoFit/>
          </a:bodyPr>
          <a:lstStyle/>
          <a:p>
            <a:endParaRPr lang="en-BD" dirty="0"/>
          </a:p>
        </p:txBody>
      </p:sp>
      <p:pic>
        <p:nvPicPr>
          <p:cNvPr id="13" name="Picture 12">
            <a:extLst>
              <a:ext uri="{FF2B5EF4-FFF2-40B4-BE49-F238E27FC236}">
                <a16:creationId xmlns:a16="http://schemas.microsoft.com/office/drawing/2014/main" id="{DA139272-EF67-0547-832E-E8D0322CA85A}"/>
              </a:ext>
            </a:extLst>
          </p:cNvPr>
          <p:cNvPicPr>
            <a:picLocks noChangeAspect="1"/>
          </p:cNvPicPr>
          <p:nvPr/>
        </p:nvPicPr>
        <p:blipFill>
          <a:blip r:embed="rId2"/>
          <a:stretch>
            <a:fillRect/>
          </a:stretch>
        </p:blipFill>
        <p:spPr>
          <a:xfrm>
            <a:off x="0" y="0"/>
            <a:ext cx="12192000" cy="6858000"/>
          </a:xfrm>
          <a:prstGeom prst="rect">
            <a:avLst/>
          </a:prstGeom>
        </p:spPr>
      </p:pic>
      <p:sp>
        <p:nvSpPr>
          <p:cNvPr id="14" name="TextBox 13">
            <a:extLst>
              <a:ext uri="{FF2B5EF4-FFF2-40B4-BE49-F238E27FC236}">
                <a16:creationId xmlns:a16="http://schemas.microsoft.com/office/drawing/2014/main" id="{6CCEB907-9012-3148-AA93-572D0B8AA3E0}"/>
              </a:ext>
            </a:extLst>
          </p:cNvPr>
          <p:cNvSpPr txBox="1"/>
          <p:nvPr/>
        </p:nvSpPr>
        <p:spPr>
          <a:xfrm>
            <a:off x="1860272" y="278319"/>
            <a:ext cx="8471454" cy="707886"/>
          </a:xfrm>
          <a:prstGeom prst="rect">
            <a:avLst/>
          </a:prstGeom>
          <a:noFill/>
          <a:ln w="50800">
            <a:noFill/>
          </a:ln>
        </p:spPr>
        <p:txBody>
          <a:bodyPr wrap="square" rtlCol="0">
            <a:spAutoFit/>
          </a:bodyPr>
          <a:lstStyle/>
          <a:p>
            <a:pPr algn="ctr"/>
            <a:r>
              <a:rPr lang="en-BD" sz="4000" dirty="0">
                <a:latin typeface="Marker Felt Thin" panose="02000400000000000000" pitchFamily="2" charset="77"/>
              </a:rPr>
              <a:t>Characteristics of Communication</a:t>
            </a:r>
          </a:p>
        </p:txBody>
      </p:sp>
      <p:sp>
        <p:nvSpPr>
          <p:cNvPr id="15" name="TextBox 14">
            <a:extLst>
              <a:ext uri="{FF2B5EF4-FFF2-40B4-BE49-F238E27FC236}">
                <a16:creationId xmlns:a16="http://schemas.microsoft.com/office/drawing/2014/main" id="{90F39C51-B4C7-A54F-A251-0C0F9FD94E73}"/>
              </a:ext>
            </a:extLst>
          </p:cNvPr>
          <p:cNvSpPr txBox="1"/>
          <p:nvPr/>
        </p:nvSpPr>
        <p:spPr>
          <a:xfrm>
            <a:off x="1697391" y="766812"/>
            <a:ext cx="8847146" cy="5998309"/>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en-BD" sz="1800" b="1" dirty="0">
                <a:latin typeface="Abadi MT Condensed Light" panose="020B0306030101010103" pitchFamily="34" charset="77"/>
                <a:ea typeface="Roboto" pitchFamily="2" charset="0"/>
              </a:rPr>
              <a:t>Communication is Irreversible </a:t>
            </a:r>
            <a:r>
              <a:rPr lang="en-BD" sz="1800" dirty="0">
                <a:solidFill>
                  <a:srgbClr val="453E0F"/>
                </a:solidFill>
                <a:latin typeface="Abadi MT Condensed Light" panose="020B0306030101010103" pitchFamily="34" charset="77"/>
                <a:ea typeface="Roboto" pitchFamily="2" charset="0"/>
              </a:rPr>
              <a:t>– Once an exchange takes place, we can never go back in time and </a:t>
            </a:r>
            <a:r>
              <a:rPr lang="en-BD" sz="1800" b="1" dirty="0">
                <a:latin typeface="Abadi MT Condensed Light" panose="020B0306030101010103" pitchFamily="34" charset="77"/>
                <a:ea typeface="Roboto" pitchFamily="2" charset="0"/>
              </a:rPr>
              <a:t>erase the communication</a:t>
            </a:r>
            <a:r>
              <a:rPr lang="en-BD" sz="1800" dirty="0">
                <a:solidFill>
                  <a:srgbClr val="453E0F"/>
                </a:solidFill>
                <a:latin typeface="Abadi MT Condensed Light" panose="020B0306030101010103" pitchFamily="34" charset="77"/>
                <a:ea typeface="Roboto" pitchFamily="2" charset="0"/>
              </a:rPr>
              <a:t>. We might be able to repair any damage we have done, but the message has been communicated.</a:t>
            </a:r>
          </a:p>
          <a:p>
            <a:pPr>
              <a:lnSpc>
                <a:spcPct val="150000"/>
              </a:lnSpc>
            </a:pPr>
            <a:r>
              <a:rPr lang="en-GB" sz="1800" b="1" dirty="0">
                <a:latin typeface="Abadi MT Condensed Light" panose="020B0306030101010103" pitchFamily="34" charset="77"/>
                <a:ea typeface="Roboto" pitchFamily="2" charset="0"/>
              </a:rPr>
              <a:t>Example: </a:t>
            </a:r>
            <a:r>
              <a:rPr lang="en-GB" sz="1800" dirty="0">
                <a:solidFill>
                  <a:srgbClr val="453E0F"/>
                </a:solidFill>
                <a:latin typeface="Abadi MT Condensed Light" panose="020B0306030101010103" pitchFamily="34" charset="77"/>
                <a:ea typeface="Roboto" pitchFamily="2" charset="0"/>
              </a:rPr>
              <a:t>If you send an angry text message to someone, you can't "unsend" it once it's been delivered and read, and it may impact the relationship even if you later apologize.</a:t>
            </a:r>
          </a:p>
          <a:p>
            <a:pPr>
              <a:lnSpc>
                <a:spcPct val="150000"/>
              </a:lnSpc>
            </a:pPr>
            <a:endParaRPr lang="en-BD" dirty="0">
              <a:solidFill>
                <a:srgbClr val="453E0F"/>
              </a:solidFill>
              <a:latin typeface="Abadi MT Condensed Light" panose="020B0306030101010103" pitchFamily="34" charset="77"/>
              <a:ea typeface="Roboto" pitchFamily="2" charset="0"/>
            </a:endParaRPr>
          </a:p>
          <a:p>
            <a:pPr marL="342900" indent="-342900">
              <a:lnSpc>
                <a:spcPct val="150000"/>
              </a:lnSpc>
              <a:buFont typeface="Arial" panose="020B0604020202020204" pitchFamily="34" charset="0"/>
              <a:buChar char="•"/>
            </a:pPr>
            <a:r>
              <a:rPr lang="en-BD" b="1" dirty="0">
                <a:latin typeface="Abadi MT Condensed Light" panose="020B0306030101010103" pitchFamily="34" charset="77"/>
                <a:ea typeface="Roboto" pitchFamily="2" charset="0"/>
              </a:rPr>
              <a:t>Communication is Situated </a:t>
            </a:r>
            <a:r>
              <a:rPr lang="en-BD" dirty="0">
                <a:solidFill>
                  <a:srgbClr val="453E0F"/>
                </a:solidFill>
                <a:latin typeface="Abadi MT Condensed Light" panose="020B0306030101010103" pitchFamily="34" charset="77"/>
                <a:ea typeface="Roboto" pitchFamily="2" charset="0"/>
              </a:rPr>
              <a:t>– </a:t>
            </a:r>
            <a:r>
              <a:rPr lang="en-GB" dirty="0">
                <a:solidFill>
                  <a:srgbClr val="453E0F"/>
                </a:solidFill>
                <a:latin typeface="Abadi MT Condensed Light" panose="020B0306030101010103" pitchFamily="34" charset="77"/>
                <a:ea typeface="Roboto" pitchFamily="2" charset="0"/>
              </a:rPr>
              <a:t>Communication occurs within a specific context, and that context heavily influences the meaning and interpretation of messages</a:t>
            </a:r>
            <a:r>
              <a:rPr lang="en-BD" dirty="0">
                <a:solidFill>
                  <a:srgbClr val="453E0F"/>
                </a:solidFill>
                <a:latin typeface="Abadi MT Condensed Light" panose="020B0306030101010103" pitchFamily="34" charset="77"/>
                <a:ea typeface="Roboto" pitchFamily="2" charset="0"/>
              </a:rPr>
              <a:t>. When we say that communication is situated we mean that it occurs </a:t>
            </a:r>
            <a:r>
              <a:rPr lang="en-BD" b="1" dirty="0">
                <a:latin typeface="Abadi MT Condensed Light" panose="020B0306030101010103" pitchFamily="34" charset="77"/>
                <a:ea typeface="Roboto" pitchFamily="2" charset="0"/>
              </a:rPr>
              <a:t>within a specific communication setting </a:t>
            </a:r>
            <a:r>
              <a:rPr lang="en-BD" dirty="0">
                <a:solidFill>
                  <a:srgbClr val="453E0F"/>
                </a:solidFill>
                <a:latin typeface="Abadi MT Condensed Light" panose="020B0306030101010103" pitchFamily="34" charset="77"/>
                <a:ea typeface="Roboto" pitchFamily="2" charset="0"/>
              </a:rPr>
              <a:t>that </a:t>
            </a:r>
            <a:r>
              <a:rPr lang="en-BD" b="1" dirty="0">
                <a:latin typeface="Abadi MT Condensed Light" panose="020B0306030101010103" pitchFamily="34" charset="77"/>
                <a:ea typeface="Roboto" pitchFamily="2" charset="0"/>
              </a:rPr>
              <a:t>affects</a:t>
            </a:r>
            <a:r>
              <a:rPr lang="en-BD" dirty="0">
                <a:solidFill>
                  <a:srgbClr val="453E0F"/>
                </a:solidFill>
                <a:latin typeface="Abadi MT Condensed Light" panose="020B0306030101010103" pitchFamily="34" charset="77"/>
                <a:ea typeface="Roboto" pitchFamily="2" charset="0"/>
              </a:rPr>
              <a:t> how the messaged are </a:t>
            </a:r>
            <a:r>
              <a:rPr lang="en-BD" b="1" dirty="0">
                <a:latin typeface="Abadi MT Condensed Light" panose="020B0306030101010103" pitchFamily="34" charset="77"/>
                <a:ea typeface="Roboto" pitchFamily="2" charset="0"/>
              </a:rPr>
              <a:t>produced, interpreteted and coordinated</a:t>
            </a:r>
            <a:r>
              <a:rPr lang="en-BD" dirty="0">
                <a:solidFill>
                  <a:srgbClr val="453E0F"/>
                </a:solidFill>
                <a:latin typeface="Abadi MT Condensed Light" panose="020B0306030101010103" pitchFamily="34" charset="77"/>
                <a:ea typeface="Roboto" pitchFamily="2" charset="0"/>
              </a:rPr>
              <a:t>. For example, the interpretation of the statement “I love you” varies </a:t>
            </a:r>
            <a:r>
              <a:rPr lang="en-BD" b="1" dirty="0">
                <a:latin typeface="Abadi MT Condensed Light" panose="020B0306030101010103" pitchFamily="34" charset="77"/>
                <a:ea typeface="Roboto" pitchFamily="2" charset="0"/>
              </a:rPr>
              <a:t>depending on the setting</a:t>
            </a:r>
            <a:endParaRPr lang="en-BD" dirty="0">
              <a:solidFill>
                <a:srgbClr val="453E0F"/>
              </a:solidFill>
              <a:latin typeface="Abadi MT Condensed Light" panose="020B0306030101010103" pitchFamily="34" charset="77"/>
              <a:ea typeface="Roboto" pitchFamily="2" charset="0"/>
            </a:endParaRPr>
          </a:p>
          <a:p>
            <a:pPr>
              <a:lnSpc>
                <a:spcPct val="150000"/>
              </a:lnSpc>
            </a:pPr>
            <a:endParaRPr lang="en-GB" sz="1800" dirty="0">
              <a:solidFill>
                <a:srgbClr val="453E0F"/>
              </a:solidFill>
              <a:latin typeface="Abadi MT Condensed Light" panose="020B0306030101010103" pitchFamily="34" charset="77"/>
              <a:ea typeface="Roboto" pitchFamily="2" charset="0"/>
            </a:endParaRPr>
          </a:p>
          <a:p>
            <a:pPr>
              <a:lnSpc>
                <a:spcPct val="150000"/>
              </a:lnSpc>
            </a:pPr>
            <a:endParaRPr lang="en-BD" dirty="0">
              <a:solidFill>
                <a:srgbClr val="453E0F"/>
              </a:solidFill>
              <a:latin typeface="Abadi MT Condensed Light" panose="020B0306030101010103" pitchFamily="34" charset="77"/>
              <a:ea typeface="Roboto" pitchFamily="2" charset="0"/>
            </a:endParaRPr>
          </a:p>
          <a:p>
            <a:pPr marL="457200" indent="-457200">
              <a:lnSpc>
                <a:spcPct val="150000"/>
              </a:lnSpc>
              <a:buFont typeface="Arial" panose="020B0604020202020204" pitchFamily="34" charset="0"/>
              <a:buChar char="•"/>
            </a:pPr>
            <a:endParaRPr lang="en-BD" sz="2400" b="1" dirty="0">
              <a:latin typeface="Abadi MT Condensed Light" panose="020B0306030101010103" pitchFamily="34" charset="77"/>
              <a:ea typeface="Roboto" pitchFamily="2" charset="0"/>
            </a:endParaRPr>
          </a:p>
        </p:txBody>
      </p:sp>
    </p:spTree>
    <p:extLst>
      <p:ext uri="{BB962C8B-B14F-4D97-AF65-F5344CB8AC3E}">
        <p14:creationId xmlns:p14="http://schemas.microsoft.com/office/powerpoint/2010/main" val="181462686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F9EB3D34-D413-3641-A211-3B7FEA8681AB}"/>
              </a:ext>
            </a:extLst>
          </p:cNvPr>
          <p:cNvSpPr txBox="1"/>
          <p:nvPr/>
        </p:nvSpPr>
        <p:spPr>
          <a:xfrm>
            <a:off x="3049859" y="3244334"/>
            <a:ext cx="6099716" cy="369332"/>
          </a:xfrm>
          <a:prstGeom prst="rect">
            <a:avLst/>
          </a:prstGeom>
          <a:noFill/>
        </p:spPr>
        <p:txBody>
          <a:bodyPr wrap="square">
            <a:spAutoFit/>
          </a:bodyPr>
          <a:lstStyle/>
          <a:p>
            <a:endParaRPr lang="en-BD" dirty="0"/>
          </a:p>
        </p:txBody>
      </p:sp>
      <p:sp>
        <p:nvSpPr>
          <p:cNvPr id="7" name="TextBox 6">
            <a:extLst>
              <a:ext uri="{FF2B5EF4-FFF2-40B4-BE49-F238E27FC236}">
                <a16:creationId xmlns:a16="http://schemas.microsoft.com/office/drawing/2014/main" id="{49AD465A-BEDF-B34F-8009-A193D849C0D9}"/>
              </a:ext>
            </a:extLst>
          </p:cNvPr>
          <p:cNvSpPr txBox="1"/>
          <p:nvPr/>
        </p:nvSpPr>
        <p:spPr>
          <a:xfrm>
            <a:off x="3049859" y="3244334"/>
            <a:ext cx="6099716" cy="369332"/>
          </a:xfrm>
          <a:prstGeom prst="rect">
            <a:avLst/>
          </a:prstGeom>
          <a:noFill/>
        </p:spPr>
        <p:txBody>
          <a:bodyPr wrap="square">
            <a:spAutoFit/>
          </a:bodyPr>
          <a:lstStyle/>
          <a:p>
            <a:endParaRPr lang="en-BD" dirty="0"/>
          </a:p>
        </p:txBody>
      </p:sp>
      <p:sp>
        <p:nvSpPr>
          <p:cNvPr id="9" name="TextBox 8">
            <a:extLst>
              <a:ext uri="{FF2B5EF4-FFF2-40B4-BE49-F238E27FC236}">
                <a16:creationId xmlns:a16="http://schemas.microsoft.com/office/drawing/2014/main" id="{77698134-8252-7E4C-9B70-1B74FD8D05C1}"/>
              </a:ext>
            </a:extLst>
          </p:cNvPr>
          <p:cNvSpPr txBox="1"/>
          <p:nvPr/>
        </p:nvSpPr>
        <p:spPr>
          <a:xfrm>
            <a:off x="3049859" y="3244334"/>
            <a:ext cx="6099716" cy="369332"/>
          </a:xfrm>
          <a:prstGeom prst="rect">
            <a:avLst/>
          </a:prstGeom>
          <a:noFill/>
        </p:spPr>
        <p:txBody>
          <a:bodyPr wrap="square">
            <a:spAutoFit/>
          </a:bodyPr>
          <a:lstStyle/>
          <a:p>
            <a:endParaRPr lang="en-BD" dirty="0"/>
          </a:p>
        </p:txBody>
      </p:sp>
      <p:pic>
        <p:nvPicPr>
          <p:cNvPr id="13" name="Picture 12">
            <a:extLst>
              <a:ext uri="{FF2B5EF4-FFF2-40B4-BE49-F238E27FC236}">
                <a16:creationId xmlns:a16="http://schemas.microsoft.com/office/drawing/2014/main" id="{DA139272-EF67-0547-832E-E8D0322CA85A}"/>
              </a:ext>
            </a:extLst>
          </p:cNvPr>
          <p:cNvPicPr>
            <a:picLocks noChangeAspect="1"/>
          </p:cNvPicPr>
          <p:nvPr/>
        </p:nvPicPr>
        <p:blipFill>
          <a:blip r:embed="rId2"/>
          <a:stretch>
            <a:fillRect/>
          </a:stretch>
        </p:blipFill>
        <p:spPr>
          <a:xfrm>
            <a:off x="0" y="0"/>
            <a:ext cx="12192000" cy="6858000"/>
          </a:xfrm>
          <a:prstGeom prst="rect">
            <a:avLst/>
          </a:prstGeom>
        </p:spPr>
      </p:pic>
      <p:sp>
        <p:nvSpPr>
          <p:cNvPr id="14" name="TextBox 13">
            <a:extLst>
              <a:ext uri="{FF2B5EF4-FFF2-40B4-BE49-F238E27FC236}">
                <a16:creationId xmlns:a16="http://schemas.microsoft.com/office/drawing/2014/main" id="{6CCEB907-9012-3148-AA93-572D0B8AA3E0}"/>
              </a:ext>
            </a:extLst>
          </p:cNvPr>
          <p:cNvSpPr txBox="1"/>
          <p:nvPr/>
        </p:nvSpPr>
        <p:spPr>
          <a:xfrm>
            <a:off x="1778832" y="721165"/>
            <a:ext cx="8471454" cy="707886"/>
          </a:xfrm>
          <a:prstGeom prst="rect">
            <a:avLst/>
          </a:prstGeom>
          <a:noFill/>
          <a:ln w="50800">
            <a:noFill/>
          </a:ln>
        </p:spPr>
        <p:txBody>
          <a:bodyPr wrap="square" rtlCol="0">
            <a:spAutoFit/>
          </a:bodyPr>
          <a:lstStyle/>
          <a:p>
            <a:pPr algn="ctr"/>
            <a:r>
              <a:rPr lang="en-BD" sz="4000" dirty="0">
                <a:latin typeface="Marker Felt Thin" panose="02000400000000000000" pitchFamily="2" charset="77"/>
              </a:rPr>
              <a:t>Characteristics of Communication</a:t>
            </a:r>
          </a:p>
        </p:txBody>
      </p:sp>
      <p:sp>
        <p:nvSpPr>
          <p:cNvPr id="15" name="TextBox 14">
            <a:extLst>
              <a:ext uri="{FF2B5EF4-FFF2-40B4-BE49-F238E27FC236}">
                <a16:creationId xmlns:a16="http://schemas.microsoft.com/office/drawing/2014/main" id="{90F39C51-B4C7-A54F-A251-0C0F9FD94E73}"/>
              </a:ext>
            </a:extLst>
          </p:cNvPr>
          <p:cNvSpPr txBox="1"/>
          <p:nvPr/>
        </p:nvSpPr>
        <p:spPr>
          <a:xfrm>
            <a:off x="1778832" y="1219161"/>
            <a:ext cx="8634335" cy="3089820"/>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en-BD" b="1" dirty="0">
                <a:latin typeface="Abadi MT Condensed Light" panose="020B0306030101010103" pitchFamily="34" charset="77"/>
                <a:ea typeface="Roboto" pitchFamily="2" charset="0"/>
              </a:rPr>
              <a:t>Communication is Indexical </a:t>
            </a:r>
            <a:r>
              <a:rPr lang="en-BD" dirty="0">
                <a:solidFill>
                  <a:srgbClr val="453E0F"/>
                </a:solidFill>
                <a:latin typeface="Abadi MT Condensed Light" panose="020B0306030101010103" pitchFamily="34" charset="77"/>
                <a:ea typeface="Roboto" pitchFamily="2" charset="0"/>
              </a:rPr>
              <a:t>– How we communicate is also </a:t>
            </a:r>
            <a:r>
              <a:rPr lang="en-BD" b="1" dirty="0">
                <a:latin typeface="Abadi MT Condensed Light" panose="020B0306030101010103" pitchFamily="34" charset="77"/>
                <a:ea typeface="Roboto" pitchFamily="2" charset="0"/>
              </a:rPr>
              <a:t>an index or measure </a:t>
            </a:r>
            <a:r>
              <a:rPr lang="en-BD" dirty="0">
                <a:solidFill>
                  <a:srgbClr val="453E0F"/>
                </a:solidFill>
                <a:latin typeface="Abadi MT Condensed Light" panose="020B0306030101010103" pitchFamily="34" charset="77"/>
                <a:ea typeface="Roboto" pitchFamily="2" charset="0"/>
              </a:rPr>
              <a:t>of the </a:t>
            </a:r>
            <a:r>
              <a:rPr lang="en-BD" b="1" dirty="0">
                <a:latin typeface="Abadi MT Condensed Light" panose="020B0306030101010103" pitchFamily="34" charset="77"/>
                <a:ea typeface="Roboto" pitchFamily="2" charset="0"/>
              </a:rPr>
              <a:t>emotional temperature </a:t>
            </a:r>
            <a:r>
              <a:rPr lang="en-BD" dirty="0">
                <a:solidFill>
                  <a:srgbClr val="453E0F"/>
                </a:solidFill>
                <a:latin typeface="Abadi MT Condensed Light" panose="020B0306030101010103" pitchFamily="34" charset="77"/>
                <a:ea typeface="Roboto" pitchFamily="2" charset="0"/>
              </a:rPr>
              <a:t>of our relationship at the time. For instance, when a couple is getting into the car to leave for a holiday, the wife says to the husband “I remembered to bring the map”. However, she is not just reporting information, she is also communicating something about the relationship through her </a:t>
            </a:r>
            <a:r>
              <a:rPr lang="en-BD" b="1" dirty="0">
                <a:latin typeface="Abadi MT Condensed Light" panose="020B0306030101010103" pitchFamily="34" charset="77"/>
                <a:ea typeface="Roboto" pitchFamily="2" charset="0"/>
              </a:rPr>
              <a:t>tone of voice and other nonverbal cues. She is also communicating something about the relationship such as “You can always depend on me” or “You never remember to think of these things”.</a:t>
            </a:r>
          </a:p>
          <a:p>
            <a:pPr marL="342900" indent="-342900">
              <a:lnSpc>
                <a:spcPct val="150000"/>
              </a:lnSpc>
              <a:buFont typeface="Arial" panose="020B0604020202020204" pitchFamily="34" charset="0"/>
              <a:buChar char="•"/>
            </a:pPr>
            <a:endParaRPr lang="en-BD" sz="2400" b="1" dirty="0">
              <a:latin typeface="Abadi MT Condensed Light" panose="020B0306030101010103" pitchFamily="34" charset="77"/>
              <a:ea typeface="Roboto" pitchFamily="2" charset="0"/>
            </a:endParaRPr>
          </a:p>
        </p:txBody>
      </p:sp>
    </p:spTree>
    <p:extLst>
      <p:ext uri="{BB962C8B-B14F-4D97-AF65-F5344CB8AC3E}">
        <p14:creationId xmlns:p14="http://schemas.microsoft.com/office/powerpoint/2010/main" val="68203359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991F95-41B5-EE49-BA88-C3426C9DD5B7}"/>
              </a:ext>
            </a:extLst>
          </p:cNvPr>
          <p:cNvSpPr>
            <a:spLocks noGrp="1"/>
          </p:cNvSpPr>
          <p:nvPr>
            <p:ph type="title"/>
          </p:nvPr>
        </p:nvSpPr>
        <p:spPr/>
        <p:txBody>
          <a:bodyPr/>
          <a:lstStyle/>
          <a:p>
            <a:endParaRPr lang="en-BD"/>
          </a:p>
        </p:txBody>
      </p:sp>
      <p:pic>
        <p:nvPicPr>
          <p:cNvPr id="9" name="Content Placeholder 8">
            <a:extLst>
              <a:ext uri="{FF2B5EF4-FFF2-40B4-BE49-F238E27FC236}">
                <a16:creationId xmlns:a16="http://schemas.microsoft.com/office/drawing/2014/main" id="{57861F29-9836-B44B-B2CA-B8A681CC5618}"/>
              </a:ext>
            </a:extLst>
          </p:cNvPr>
          <p:cNvPicPr>
            <a:picLocks noGrp="1" noChangeAspect="1"/>
          </p:cNvPicPr>
          <p:nvPr>
            <p:ph idx="1"/>
          </p:nvPr>
        </p:nvPicPr>
        <p:blipFill>
          <a:blip r:embed="rId2"/>
          <a:stretch>
            <a:fillRect/>
          </a:stretch>
        </p:blipFill>
        <p:spPr>
          <a:xfrm>
            <a:off x="0" y="0"/>
            <a:ext cx="12192000" cy="6858000"/>
          </a:xfrm>
        </p:spPr>
      </p:pic>
      <p:sp>
        <p:nvSpPr>
          <p:cNvPr id="10" name="TextBox 9">
            <a:extLst>
              <a:ext uri="{FF2B5EF4-FFF2-40B4-BE49-F238E27FC236}">
                <a16:creationId xmlns:a16="http://schemas.microsoft.com/office/drawing/2014/main" id="{F5A66F0C-0FE1-8C4C-A875-D5EA19A3C67D}"/>
              </a:ext>
            </a:extLst>
          </p:cNvPr>
          <p:cNvSpPr txBox="1"/>
          <p:nvPr/>
        </p:nvSpPr>
        <p:spPr>
          <a:xfrm>
            <a:off x="2368445" y="703792"/>
            <a:ext cx="8245841" cy="769441"/>
          </a:xfrm>
          <a:prstGeom prst="rect">
            <a:avLst/>
          </a:prstGeom>
          <a:noFill/>
        </p:spPr>
        <p:txBody>
          <a:bodyPr wrap="square" rtlCol="0">
            <a:spAutoFit/>
          </a:bodyPr>
          <a:lstStyle/>
          <a:p>
            <a:r>
              <a:rPr lang="en-BD" sz="4400" dirty="0">
                <a:latin typeface="Marker Felt Thin" panose="02000400000000000000" pitchFamily="2" charset="77"/>
              </a:rPr>
              <a:t>Characteristics of Communication</a:t>
            </a:r>
          </a:p>
        </p:txBody>
      </p:sp>
      <p:sp>
        <p:nvSpPr>
          <p:cNvPr id="11" name="TextBox 10">
            <a:extLst>
              <a:ext uri="{FF2B5EF4-FFF2-40B4-BE49-F238E27FC236}">
                <a16:creationId xmlns:a16="http://schemas.microsoft.com/office/drawing/2014/main" id="{7028BD0E-74EF-E949-B965-322D414A8D35}"/>
              </a:ext>
            </a:extLst>
          </p:cNvPr>
          <p:cNvSpPr txBox="1"/>
          <p:nvPr/>
        </p:nvSpPr>
        <p:spPr>
          <a:xfrm>
            <a:off x="1577714" y="1473233"/>
            <a:ext cx="9395086" cy="3603872"/>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GB" sz="1900" b="1" dirty="0">
                <a:latin typeface="Abadi MT Condensed Light" panose="020B0306030101010103" pitchFamily="34" charset="77"/>
              </a:rPr>
              <a:t>Communication Messages Vary in Conscious Thought – </a:t>
            </a:r>
            <a:r>
              <a:rPr lang="en-GB" sz="1900" dirty="0">
                <a:solidFill>
                  <a:srgbClr val="453E0F"/>
                </a:solidFill>
                <a:latin typeface="Abadi MT Condensed Light" panose="020B0306030101010103" pitchFamily="34" charset="77"/>
              </a:rPr>
              <a:t>Shared meaning involves </a:t>
            </a:r>
            <a:r>
              <a:rPr lang="en-GB" sz="1900" b="1" dirty="0">
                <a:latin typeface="Abadi MT Condensed Light" panose="020B0306030101010103" pitchFamily="34" charset="77"/>
              </a:rPr>
              <a:t>encoding and decoding</a:t>
            </a:r>
            <a:r>
              <a:rPr lang="en-GB" sz="1900" dirty="0">
                <a:solidFill>
                  <a:srgbClr val="453E0F"/>
                </a:solidFill>
                <a:latin typeface="Abadi MT Condensed Light" panose="020B0306030101010103" pitchFamily="34" charset="77"/>
              </a:rPr>
              <a:t> verbal messages, nonverbal cues, and even visual images. Our messages may (1) </a:t>
            </a:r>
            <a:r>
              <a:rPr lang="en-GB" sz="1900" b="1" dirty="0">
                <a:latin typeface="Abadi MT Condensed Light" panose="020B0306030101010103" pitchFamily="34" charset="77"/>
              </a:rPr>
              <a:t>occur spontaneously (2) be based on a script, or (3) be carefully constructed</a:t>
            </a:r>
            <a:r>
              <a:rPr lang="en-GB" sz="1900" dirty="0">
                <a:solidFill>
                  <a:srgbClr val="453E0F"/>
                </a:solidFill>
                <a:latin typeface="Abadi MT Condensed Light" panose="020B0306030101010103" pitchFamily="34" charset="77"/>
              </a:rPr>
              <a:t>. </a:t>
            </a:r>
          </a:p>
          <a:p>
            <a:pPr marL="285750" indent="-285750">
              <a:lnSpc>
                <a:spcPct val="150000"/>
              </a:lnSpc>
              <a:buFont typeface="Arial" panose="020B0604020202020204" pitchFamily="34" charset="0"/>
              <a:buChar char="•"/>
            </a:pPr>
            <a:endParaRPr lang="en-GB" sz="1900" dirty="0">
              <a:solidFill>
                <a:srgbClr val="453E0F"/>
              </a:solidFill>
              <a:latin typeface="Abadi MT Condensed Light" panose="020B0306030101010103" pitchFamily="34" charset="77"/>
            </a:endParaRPr>
          </a:p>
          <a:p>
            <a:pPr marL="285750" indent="-285750">
              <a:lnSpc>
                <a:spcPct val="150000"/>
              </a:lnSpc>
              <a:buFont typeface="Arial" panose="020B0604020202020204" pitchFamily="34" charset="0"/>
              <a:buChar char="•"/>
            </a:pPr>
            <a:r>
              <a:rPr lang="en-GB" sz="1900" b="1" dirty="0">
                <a:latin typeface="Abadi MT Condensed Light" panose="020B0306030101010103" pitchFamily="34" charset="77"/>
              </a:rPr>
              <a:t>Communication is Guided by Cultural Norms </a:t>
            </a:r>
            <a:r>
              <a:rPr lang="en-GB" sz="1900" dirty="0">
                <a:solidFill>
                  <a:srgbClr val="453E0F"/>
                </a:solidFill>
                <a:latin typeface="Abadi MT Condensed Light" panose="020B0306030101010103" pitchFamily="34" charset="77"/>
              </a:rPr>
              <a:t>– Culture is a system of </a:t>
            </a:r>
            <a:r>
              <a:rPr lang="en-GB" sz="1900" b="1" dirty="0">
                <a:latin typeface="Abadi MT Condensed Light" panose="020B0306030101010103" pitchFamily="34" charset="77"/>
              </a:rPr>
              <a:t>shared beliefs, values, </a:t>
            </a:r>
            <a:r>
              <a:rPr lang="en-GB" sz="1900" dirty="0">
                <a:latin typeface="Abadi MT Condensed Light" panose="020B0306030101010103" pitchFamily="34" charset="77"/>
              </a:rPr>
              <a:t>symbols and behaviours. How messages are formed and interpreted depends on the cultural background </a:t>
            </a:r>
            <a:r>
              <a:rPr lang="en-GB" sz="1900" dirty="0">
                <a:solidFill>
                  <a:srgbClr val="453E0F"/>
                </a:solidFill>
                <a:latin typeface="Abadi MT Condensed Light" panose="020B0306030101010103" pitchFamily="34" charset="77"/>
              </a:rPr>
              <a:t>of the participants. We need to be </a:t>
            </a:r>
            <a:r>
              <a:rPr lang="en-GB" sz="1900" b="1" dirty="0">
                <a:latin typeface="Abadi MT Condensed Light" panose="020B0306030101010103" pitchFamily="34" charset="77"/>
              </a:rPr>
              <a:t>mindful</a:t>
            </a:r>
            <a:r>
              <a:rPr lang="en-GB" sz="1900" dirty="0">
                <a:solidFill>
                  <a:srgbClr val="453E0F"/>
                </a:solidFill>
                <a:latin typeface="Abadi MT Condensed Light" panose="020B0306030101010103" pitchFamily="34" charset="77"/>
              </a:rPr>
              <a:t> of our communication behaviour as we interact with others from different cultures, so we don’t unintentionally communicate in ways that are </a:t>
            </a:r>
            <a:r>
              <a:rPr lang="en-GB" sz="1900" b="1" dirty="0">
                <a:latin typeface="Abadi MT Condensed Light" panose="020B0306030101010103" pitchFamily="34" charset="77"/>
              </a:rPr>
              <a:t>culturally inappropriate or insensitive</a:t>
            </a:r>
            <a:r>
              <a:rPr lang="en-GB" sz="2100" dirty="0">
                <a:solidFill>
                  <a:srgbClr val="453E0F"/>
                </a:solidFill>
                <a:latin typeface="Abadi MT Condensed Light" panose="020B0306030101010103" pitchFamily="34" charset="77"/>
              </a:rPr>
              <a:t>. </a:t>
            </a:r>
            <a:endParaRPr lang="en-BD" sz="2100" dirty="0">
              <a:solidFill>
                <a:srgbClr val="453E0F"/>
              </a:solidFill>
              <a:latin typeface="Abadi MT Condensed Light" panose="020B0306030101010103" pitchFamily="34" charset="77"/>
            </a:endParaRPr>
          </a:p>
        </p:txBody>
      </p:sp>
    </p:spTree>
    <p:extLst>
      <p:ext uri="{BB962C8B-B14F-4D97-AF65-F5344CB8AC3E}">
        <p14:creationId xmlns:p14="http://schemas.microsoft.com/office/powerpoint/2010/main" val="66850758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F9EB3D34-D413-3641-A211-3B7FEA8681AB}"/>
              </a:ext>
            </a:extLst>
          </p:cNvPr>
          <p:cNvSpPr txBox="1"/>
          <p:nvPr/>
        </p:nvSpPr>
        <p:spPr>
          <a:xfrm>
            <a:off x="3049859" y="3244334"/>
            <a:ext cx="6099716" cy="369332"/>
          </a:xfrm>
          <a:prstGeom prst="rect">
            <a:avLst/>
          </a:prstGeom>
          <a:noFill/>
        </p:spPr>
        <p:txBody>
          <a:bodyPr wrap="square">
            <a:spAutoFit/>
          </a:bodyPr>
          <a:lstStyle/>
          <a:p>
            <a:endParaRPr lang="en-BD" dirty="0"/>
          </a:p>
        </p:txBody>
      </p:sp>
      <p:sp>
        <p:nvSpPr>
          <p:cNvPr id="7" name="TextBox 6">
            <a:extLst>
              <a:ext uri="{FF2B5EF4-FFF2-40B4-BE49-F238E27FC236}">
                <a16:creationId xmlns:a16="http://schemas.microsoft.com/office/drawing/2014/main" id="{49AD465A-BEDF-B34F-8009-A193D849C0D9}"/>
              </a:ext>
            </a:extLst>
          </p:cNvPr>
          <p:cNvSpPr txBox="1"/>
          <p:nvPr/>
        </p:nvSpPr>
        <p:spPr>
          <a:xfrm>
            <a:off x="3049859" y="3244334"/>
            <a:ext cx="6099716" cy="369332"/>
          </a:xfrm>
          <a:prstGeom prst="rect">
            <a:avLst/>
          </a:prstGeom>
          <a:noFill/>
        </p:spPr>
        <p:txBody>
          <a:bodyPr wrap="square">
            <a:spAutoFit/>
          </a:bodyPr>
          <a:lstStyle/>
          <a:p>
            <a:endParaRPr lang="en-BD" dirty="0"/>
          </a:p>
        </p:txBody>
      </p:sp>
      <p:sp>
        <p:nvSpPr>
          <p:cNvPr id="9" name="TextBox 8">
            <a:extLst>
              <a:ext uri="{FF2B5EF4-FFF2-40B4-BE49-F238E27FC236}">
                <a16:creationId xmlns:a16="http://schemas.microsoft.com/office/drawing/2014/main" id="{77698134-8252-7E4C-9B70-1B74FD8D05C1}"/>
              </a:ext>
            </a:extLst>
          </p:cNvPr>
          <p:cNvSpPr txBox="1"/>
          <p:nvPr/>
        </p:nvSpPr>
        <p:spPr>
          <a:xfrm>
            <a:off x="3049859" y="3244334"/>
            <a:ext cx="6099716" cy="369332"/>
          </a:xfrm>
          <a:prstGeom prst="rect">
            <a:avLst/>
          </a:prstGeom>
          <a:noFill/>
        </p:spPr>
        <p:txBody>
          <a:bodyPr wrap="square">
            <a:spAutoFit/>
          </a:bodyPr>
          <a:lstStyle/>
          <a:p>
            <a:endParaRPr lang="en-BD" dirty="0"/>
          </a:p>
        </p:txBody>
      </p:sp>
      <p:pic>
        <p:nvPicPr>
          <p:cNvPr id="13" name="Picture 12">
            <a:extLst>
              <a:ext uri="{FF2B5EF4-FFF2-40B4-BE49-F238E27FC236}">
                <a16:creationId xmlns:a16="http://schemas.microsoft.com/office/drawing/2014/main" id="{DA139272-EF67-0547-832E-E8D0322CA85A}"/>
              </a:ext>
            </a:extLst>
          </p:cNvPr>
          <p:cNvPicPr>
            <a:picLocks noChangeAspect="1"/>
          </p:cNvPicPr>
          <p:nvPr/>
        </p:nvPicPr>
        <p:blipFill>
          <a:blip r:embed="rId2"/>
          <a:stretch>
            <a:fillRect/>
          </a:stretch>
        </p:blipFill>
        <p:spPr>
          <a:xfrm>
            <a:off x="0" y="0"/>
            <a:ext cx="12192000" cy="6858000"/>
          </a:xfrm>
          <a:prstGeom prst="rect">
            <a:avLst/>
          </a:prstGeom>
        </p:spPr>
      </p:pic>
      <p:sp>
        <p:nvSpPr>
          <p:cNvPr id="14" name="TextBox 13">
            <a:extLst>
              <a:ext uri="{FF2B5EF4-FFF2-40B4-BE49-F238E27FC236}">
                <a16:creationId xmlns:a16="http://schemas.microsoft.com/office/drawing/2014/main" id="{6CCEB907-9012-3148-AA93-572D0B8AA3E0}"/>
              </a:ext>
            </a:extLst>
          </p:cNvPr>
          <p:cNvSpPr txBox="1"/>
          <p:nvPr/>
        </p:nvSpPr>
        <p:spPr>
          <a:xfrm>
            <a:off x="2588335" y="575042"/>
            <a:ext cx="6797553" cy="707886"/>
          </a:xfrm>
          <a:prstGeom prst="rect">
            <a:avLst/>
          </a:prstGeom>
          <a:noFill/>
          <a:ln w="50800">
            <a:noFill/>
          </a:ln>
        </p:spPr>
        <p:txBody>
          <a:bodyPr wrap="square" rtlCol="0">
            <a:spAutoFit/>
          </a:bodyPr>
          <a:lstStyle/>
          <a:p>
            <a:pPr algn="ctr"/>
            <a:r>
              <a:rPr lang="en-BD" sz="4000" dirty="0">
                <a:latin typeface="Marker Felt Thin" panose="02000400000000000000" pitchFamily="2" charset="77"/>
              </a:rPr>
              <a:t>Key Takeaways</a:t>
            </a:r>
          </a:p>
        </p:txBody>
      </p:sp>
      <p:sp>
        <p:nvSpPr>
          <p:cNvPr id="15" name="TextBox 14">
            <a:extLst>
              <a:ext uri="{FF2B5EF4-FFF2-40B4-BE49-F238E27FC236}">
                <a16:creationId xmlns:a16="http://schemas.microsoft.com/office/drawing/2014/main" id="{90F39C51-B4C7-A54F-A251-0C0F9FD94E73}"/>
              </a:ext>
            </a:extLst>
          </p:cNvPr>
          <p:cNvSpPr txBox="1"/>
          <p:nvPr/>
        </p:nvSpPr>
        <p:spPr>
          <a:xfrm>
            <a:off x="1373195" y="1141519"/>
            <a:ext cx="9227835" cy="1973617"/>
          </a:xfrm>
          <a:prstGeom prst="rect">
            <a:avLst/>
          </a:prstGeom>
          <a:noFill/>
        </p:spPr>
        <p:txBody>
          <a:bodyPr wrap="square" rtlCol="0">
            <a:spAutoFit/>
          </a:bodyPr>
          <a:lstStyle/>
          <a:p>
            <a:pPr algn="ctr">
              <a:lnSpc>
                <a:spcPct val="150000"/>
              </a:lnSpc>
            </a:pPr>
            <a:r>
              <a:rPr lang="en-GB" sz="2800" dirty="0">
                <a:solidFill>
                  <a:srgbClr val="453E0F"/>
                </a:solidFill>
                <a:latin typeface="Marker Felt Thin" panose="02000400000000000000" pitchFamily="2" charset="77"/>
                <a:ea typeface="Roboto" pitchFamily="2" charset="0"/>
              </a:rPr>
              <a:t> </a:t>
            </a:r>
          </a:p>
          <a:p>
            <a:pPr>
              <a:lnSpc>
                <a:spcPct val="150000"/>
              </a:lnSpc>
            </a:pPr>
            <a:br>
              <a:rPr lang="en-GB" sz="2800" dirty="0">
                <a:solidFill>
                  <a:srgbClr val="453E0F"/>
                </a:solidFill>
                <a:latin typeface="Abadi MT Condensed Light" panose="020B0306030101010103" pitchFamily="34" charset="77"/>
                <a:ea typeface="Roboto" pitchFamily="2" charset="0"/>
              </a:rPr>
            </a:br>
            <a:endParaRPr lang="en-BD" sz="2800" dirty="0">
              <a:solidFill>
                <a:srgbClr val="453E0F"/>
              </a:solidFill>
              <a:latin typeface="Abadi MT Condensed Light" panose="020B0306030101010103" pitchFamily="34" charset="77"/>
              <a:ea typeface="Roboto" pitchFamily="2" charset="0"/>
            </a:endParaRPr>
          </a:p>
        </p:txBody>
      </p:sp>
      <p:sp>
        <p:nvSpPr>
          <p:cNvPr id="2" name="TextBox 1">
            <a:extLst>
              <a:ext uri="{FF2B5EF4-FFF2-40B4-BE49-F238E27FC236}">
                <a16:creationId xmlns:a16="http://schemas.microsoft.com/office/drawing/2014/main" id="{31A4A3FA-FEBC-2D49-A9E3-33B1CD3DE88A}"/>
              </a:ext>
            </a:extLst>
          </p:cNvPr>
          <p:cNvSpPr txBox="1"/>
          <p:nvPr/>
        </p:nvSpPr>
        <p:spPr>
          <a:xfrm>
            <a:off x="1799314" y="1076920"/>
            <a:ext cx="8801715" cy="4917565"/>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GB" sz="2100" dirty="0">
                <a:solidFill>
                  <a:srgbClr val="453E0F"/>
                </a:solidFill>
                <a:latin typeface="Abadi MT Condensed Light" panose="020B0306030101010103" pitchFamily="34" charset="77"/>
              </a:rPr>
              <a:t>The process of </a:t>
            </a:r>
            <a:r>
              <a:rPr lang="en-GB" sz="2100" b="1" dirty="0">
                <a:latin typeface="Abadi MT Condensed Light" panose="020B0306030101010103" pitchFamily="34" charset="77"/>
              </a:rPr>
              <a:t>choosing the words, sentences, and nonverbal behaviours to form a message is called encoding. </a:t>
            </a:r>
          </a:p>
          <a:p>
            <a:pPr marL="285750" indent="-285750">
              <a:lnSpc>
                <a:spcPct val="150000"/>
              </a:lnSpc>
              <a:buFont typeface="Arial" panose="020B0604020202020204" pitchFamily="34" charset="0"/>
              <a:buChar char="•"/>
            </a:pPr>
            <a:r>
              <a:rPr lang="en-GB" sz="2100" dirty="0">
                <a:solidFill>
                  <a:srgbClr val="453E0F"/>
                </a:solidFill>
                <a:latin typeface="Abadi MT Condensed Light" panose="020B0306030101010103" pitchFamily="34" charset="77"/>
              </a:rPr>
              <a:t> </a:t>
            </a:r>
            <a:r>
              <a:rPr lang="en-GB" sz="2100" b="1" dirty="0">
                <a:latin typeface="Abadi MT Condensed Light" panose="020B0306030101010103" pitchFamily="34" charset="77"/>
              </a:rPr>
              <a:t>Decoding is the process of interpreting the messages received from others</a:t>
            </a:r>
          </a:p>
          <a:p>
            <a:pPr marL="285750" indent="-285750">
              <a:lnSpc>
                <a:spcPct val="150000"/>
              </a:lnSpc>
              <a:buFont typeface="Arial" panose="020B0604020202020204" pitchFamily="34" charset="0"/>
              <a:buChar char="•"/>
            </a:pPr>
            <a:r>
              <a:rPr lang="en-GB" sz="2100" dirty="0">
                <a:solidFill>
                  <a:srgbClr val="453E0F"/>
                </a:solidFill>
                <a:latin typeface="Abadi MT Condensed Light" panose="020B0306030101010103" pitchFamily="34" charset="77"/>
              </a:rPr>
              <a:t>Communication context is background conditions surrounding the interaction. There are five type of communication contexts – </a:t>
            </a:r>
            <a:r>
              <a:rPr lang="en-GB" sz="2100" b="1" dirty="0">
                <a:latin typeface="Abadi MT Condensed Light" panose="020B0306030101010103" pitchFamily="34" charset="77"/>
              </a:rPr>
              <a:t>physical, social, historical, psychological and cultural. </a:t>
            </a:r>
          </a:p>
          <a:p>
            <a:pPr marL="285750" indent="-285750">
              <a:lnSpc>
                <a:spcPct val="150000"/>
              </a:lnSpc>
              <a:buFont typeface="Arial" panose="020B0604020202020204" pitchFamily="34" charset="0"/>
              <a:buChar char="•"/>
            </a:pPr>
            <a:r>
              <a:rPr lang="en-GB" sz="2100" dirty="0">
                <a:solidFill>
                  <a:srgbClr val="453E0F"/>
                </a:solidFill>
                <a:latin typeface="Abadi MT Condensed Light" panose="020B0306030101010103" pitchFamily="34" charset="77"/>
              </a:rPr>
              <a:t>There are </a:t>
            </a:r>
            <a:r>
              <a:rPr lang="en-GB" sz="2100" b="1" dirty="0">
                <a:latin typeface="Abadi MT Condensed Light" panose="020B0306030101010103" pitchFamily="34" charset="77"/>
              </a:rPr>
              <a:t>seven characteristics of communication </a:t>
            </a:r>
            <a:r>
              <a:rPr lang="en-GB" sz="2100" dirty="0">
                <a:solidFill>
                  <a:srgbClr val="453E0F"/>
                </a:solidFill>
                <a:latin typeface="Abadi MT Condensed Light" panose="020B0306030101010103" pitchFamily="34" charset="77"/>
              </a:rPr>
              <a:t>– communication has a purpose, communication is continuous, communication is irreversible, communication is situation, communication is indexical, communication vary in conscious thought and communication is guided by cultural norms. </a:t>
            </a:r>
          </a:p>
          <a:p>
            <a:pPr marL="285750" indent="-285750">
              <a:lnSpc>
                <a:spcPct val="150000"/>
              </a:lnSpc>
              <a:buFont typeface="Arial" panose="020B0604020202020204" pitchFamily="34" charset="0"/>
              <a:buChar char="•"/>
            </a:pPr>
            <a:endParaRPr lang="en-BD" sz="2200" dirty="0">
              <a:solidFill>
                <a:srgbClr val="453E0F"/>
              </a:solidFill>
              <a:latin typeface="Abadi MT Condensed Light" panose="020B0306030101010103" pitchFamily="34" charset="77"/>
            </a:endParaRPr>
          </a:p>
        </p:txBody>
      </p:sp>
    </p:spTree>
    <p:extLst>
      <p:ext uri="{BB962C8B-B14F-4D97-AF65-F5344CB8AC3E}">
        <p14:creationId xmlns:p14="http://schemas.microsoft.com/office/powerpoint/2010/main" val="406869209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F9EB3D34-D413-3641-A211-3B7FEA8681AB}"/>
              </a:ext>
            </a:extLst>
          </p:cNvPr>
          <p:cNvSpPr txBox="1"/>
          <p:nvPr/>
        </p:nvSpPr>
        <p:spPr>
          <a:xfrm>
            <a:off x="3049859" y="3244334"/>
            <a:ext cx="6099716" cy="369332"/>
          </a:xfrm>
          <a:prstGeom prst="rect">
            <a:avLst/>
          </a:prstGeom>
          <a:noFill/>
        </p:spPr>
        <p:txBody>
          <a:bodyPr wrap="square">
            <a:spAutoFit/>
          </a:bodyPr>
          <a:lstStyle/>
          <a:p>
            <a:endParaRPr lang="en-BD" dirty="0"/>
          </a:p>
        </p:txBody>
      </p:sp>
      <p:sp>
        <p:nvSpPr>
          <p:cNvPr id="7" name="TextBox 6">
            <a:extLst>
              <a:ext uri="{FF2B5EF4-FFF2-40B4-BE49-F238E27FC236}">
                <a16:creationId xmlns:a16="http://schemas.microsoft.com/office/drawing/2014/main" id="{49AD465A-BEDF-B34F-8009-A193D849C0D9}"/>
              </a:ext>
            </a:extLst>
          </p:cNvPr>
          <p:cNvSpPr txBox="1"/>
          <p:nvPr/>
        </p:nvSpPr>
        <p:spPr>
          <a:xfrm>
            <a:off x="3049859" y="3244334"/>
            <a:ext cx="6099716" cy="369332"/>
          </a:xfrm>
          <a:prstGeom prst="rect">
            <a:avLst/>
          </a:prstGeom>
          <a:noFill/>
        </p:spPr>
        <p:txBody>
          <a:bodyPr wrap="square">
            <a:spAutoFit/>
          </a:bodyPr>
          <a:lstStyle/>
          <a:p>
            <a:endParaRPr lang="en-BD" dirty="0"/>
          </a:p>
        </p:txBody>
      </p:sp>
      <p:sp>
        <p:nvSpPr>
          <p:cNvPr id="9" name="TextBox 8">
            <a:extLst>
              <a:ext uri="{FF2B5EF4-FFF2-40B4-BE49-F238E27FC236}">
                <a16:creationId xmlns:a16="http://schemas.microsoft.com/office/drawing/2014/main" id="{77698134-8252-7E4C-9B70-1B74FD8D05C1}"/>
              </a:ext>
            </a:extLst>
          </p:cNvPr>
          <p:cNvSpPr txBox="1"/>
          <p:nvPr/>
        </p:nvSpPr>
        <p:spPr>
          <a:xfrm>
            <a:off x="3049859" y="3244334"/>
            <a:ext cx="6099716" cy="369332"/>
          </a:xfrm>
          <a:prstGeom prst="rect">
            <a:avLst/>
          </a:prstGeom>
          <a:noFill/>
        </p:spPr>
        <p:txBody>
          <a:bodyPr wrap="square">
            <a:spAutoFit/>
          </a:bodyPr>
          <a:lstStyle/>
          <a:p>
            <a:endParaRPr lang="en-BD" dirty="0"/>
          </a:p>
        </p:txBody>
      </p:sp>
      <p:pic>
        <p:nvPicPr>
          <p:cNvPr id="13" name="Picture 12">
            <a:extLst>
              <a:ext uri="{FF2B5EF4-FFF2-40B4-BE49-F238E27FC236}">
                <a16:creationId xmlns:a16="http://schemas.microsoft.com/office/drawing/2014/main" id="{DA139272-EF67-0547-832E-E8D0322CA85A}"/>
              </a:ext>
            </a:extLst>
          </p:cNvPr>
          <p:cNvPicPr>
            <a:picLocks noChangeAspect="1"/>
          </p:cNvPicPr>
          <p:nvPr/>
        </p:nvPicPr>
        <p:blipFill>
          <a:blip r:embed="rId2"/>
          <a:stretch>
            <a:fillRect/>
          </a:stretch>
        </p:blipFill>
        <p:spPr>
          <a:xfrm>
            <a:off x="0" y="0"/>
            <a:ext cx="12192000" cy="6858000"/>
          </a:xfrm>
          <a:prstGeom prst="rect">
            <a:avLst/>
          </a:prstGeom>
        </p:spPr>
      </p:pic>
      <p:sp>
        <p:nvSpPr>
          <p:cNvPr id="14" name="TextBox 13">
            <a:extLst>
              <a:ext uri="{FF2B5EF4-FFF2-40B4-BE49-F238E27FC236}">
                <a16:creationId xmlns:a16="http://schemas.microsoft.com/office/drawing/2014/main" id="{6CCEB907-9012-3148-AA93-572D0B8AA3E0}"/>
              </a:ext>
            </a:extLst>
          </p:cNvPr>
          <p:cNvSpPr txBox="1"/>
          <p:nvPr/>
        </p:nvSpPr>
        <p:spPr>
          <a:xfrm>
            <a:off x="2588335" y="722977"/>
            <a:ext cx="6797553" cy="707886"/>
          </a:xfrm>
          <a:prstGeom prst="rect">
            <a:avLst/>
          </a:prstGeom>
          <a:noFill/>
          <a:ln w="50800">
            <a:noFill/>
          </a:ln>
        </p:spPr>
        <p:txBody>
          <a:bodyPr wrap="square" rtlCol="0">
            <a:spAutoFit/>
          </a:bodyPr>
          <a:lstStyle/>
          <a:p>
            <a:pPr algn="ctr"/>
            <a:r>
              <a:rPr lang="en-BD" sz="4000" dirty="0">
                <a:latin typeface="Marker Felt Thin" panose="02000400000000000000" pitchFamily="2" charset="77"/>
              </a:rPr>
              <a:t>Works Cited</a:t>
            </a:r>
          </a:p>
        </p:txBody>
      </p:sp>
      <p:sp>
        <p:nvSpPr>
          <p:cNvPr id="15" name="TextBox 14">
            <a:extLst>
              <a:ext uri="{FF2B5EF4-FFF2-40B4-BE49-F238E27FC236}">
                <a16:creationId xmlns:a16="http://schemas.microsoft.com/office/drawing/2014/main" id="{90F39C51-B4C7-A54F-A251-0C0F9FD94E73}"/>
              </a:ext>
            </a:extLst>
          </p:cNvPr>
          <p:cNvSpPr txBox="1"/>
          <p:nvPr/>
        </p:nvSpPr>
        <p:spPr>
          <a:xfrm>
            <a:off x="1373195" y="1141519"/>
            <a:ext cx="9227835" cy="1973617"/>
          </a:xfrm>
          <a:prstGeom prst="rect">
            <a:avLst/>
          </a:prstGeom>
          <a:noFill/>
        </p:spPr>
        <p:txBody>
          <a:bodyPr wrap="square" rtlCol="0">
            <a:spAutoFit/>
          </a:bodyPr>
          <a:lstStyle/>
          <a:p>
            <a:pPr algn="ctr">
              <a:lnSpc>
                <a:spcPct val="150000"/>
              </a:lnSpc>
            </a:pPr>
            <a:r>
              <a:rPr lang="en-GB" sz="2800" dirty="0">
                <a:solidFill>
                  <a:srgbClr val="453E0F"/>
                </a:solidFill>
                <a:latin typeface="Marker Felt Thin" panose="02000400000000000000" pitchFamily="2" charset="77"/>
                <a:ea typeface="Roboto" pitchFamily="2" charset="0"/>
              </a:rPr>
              <a:t> </a:t>
            </a:r>
          </a:p>
          <a:p>
            <a:pPr>
              <a:lnSpc>
                <a:spcPct val="150000"/>
              </a:lnSpc>
            </a:pPr>
            <a:br>
              <a:rPr lang="en-GB" sz="2800" dirty="0">
                <a:solidFill>
                  <a:srgbClr val="453E0F"/>
                </a:solidFill>
                <a:latin typeface="Abadi MT Condensed Light" panose="020B0306030101010103" pitchFamily="34" charset="77"/>
                <a:ea typeface="Roboto" pitchFamily="2" charset="0"/>
              </a:rPr>
            </a:br>
            <a:endParaRPr lang="en-BD" sz="2800" dirty="0">
              <a:solidFill>
                <a:srgbClr val="453E0F"/>
              </a:solidFill>
              <a:latin typeface="Abadi MT Condensed Light" panose="020B0306030101010103" pitchFamily="34" charset="77"/>
              <a:ea typeface="Roboto" pitchFamily="2" charset="0"/>
            </a:endParaRPr>
          </a:p>
        </p:txBody>
      </p:sp>
      <p:sp>
        <p:nvSpPr>
          <p:cNvPr id="2" name="TextBox 1">
            <a:extLst>
              <a:ext uri="{FF2B5EF4-FFF2-40B4-BE49-F238E27FC236}">
                <a16:creationId xmlns:a16="http://schemas.microsoft.com/office/drawing/2014/main" id="{31A4A3FA-FEBC-2D49-A9E3-33B1CD3DE88A}"/>
              </a:ext>
            </a:extLst>
          </p:cNvPr>
          <p:cNvSpPr txBox="1"/>
          <p:nvPr/>
        </p:nvSpPr>
        <p:spPr>
          <a:xfrm>
            <a:off x="1845614" y="1544641"/>
            <a:ext cx="8088288" cy="1570495"/>
          </a:xfrm>
          <a:prstGeom prst="rect">
            <a:avLst/>
          </a:prstGeom>
          <a:noFill/>
        </p:spPr>
        <p:txBody>
          <a:bodyPr wrap="square" rtlCol="0">
            <a:spAutoFit/>
          </a:bodyPr>
          <a:lstStyle/>
          <a:p>
            <a:pPr>
              <a:lnSpc>
                <a:spcPct val="150000"/>
              </a:lnSpc>
            </a:pPr>
            <a:r>
              <a:rPr lang="en-GB" sz="2200" dirty="0" err="1">
                <a:solidFill>
                  <a:srgbClr val="453E0F"/>
                </a:solidFill>
                <a:latin typeface="Abadi MT Condensed Light" panose="020B0306030101010103" pitchFamily="34" charset="77"/>
              </a:rPr>
              <a:t>Verderber</a:t>
            </a:r>
            <a:r>
              <a:rPr lang="en-GB" sz="2200" dirty="0">
                <a:solidFill>
                  <a:srgbClr val="453E0F"/>
                </a:solidFill>
                <a:latin typeface="Abadi MT Condensed Light" panose="020B0306030101010103" pitchFamily="34" charset="77"/>
              </a:rPr>
              <a:t>, Rudolph F., et al. “Foundations of Communication.” Comm, Wadsworth Cengage Learning, Boston, MA, 2009, pp. 2–30. </a:t>
            </a:r>
          </a:p>
          <a:p>
            <a:pPr marL="285750" indent="-285750">
              <a:lnSpc>
                <a:spcPct val="150000"/>
              </a:lnSpc>
              <a:buFont typeface="Arial" panose="020B0604020202020204" pitchFamily="34" charset="0"/>
              <a:buChar char="•"/>
            </a:pPr>
            <a:endParaRPr lang="en-BD" sz="2200" dirty="0">
              <a:solidFill>
                <a:srgbClr val="453E0F"/>
              </a:solidFill>
              <a:latin typeface="Abadi MT Condensed Light" panose="020B0306030101010103" pitchFamily="34" charset="77"/>
            </a:endParaRPr>
          </a:p>
        </p:txBody>
      </p:sp>
    </p:spTree>
    <p:extLst>
      <p:ext uri="{BB962C8B-B14F-4D97-AF65-F5344CB8AC3E}">
        <p14:creationId xmlns:p14="http://schemas.microsoft.com/office/powerpoint/2010/main" val="72150116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5BA37A-0A1D-5D4F-B0B0-D95CD15379CE}"/>
              </a:ext>
            </a:extLst>
          </p:cNvPr>
          <p:cNvSpPr>
            <a:spLocks noGrp="1"/>
          </p:cNvSpPr>
          <p:nvPr>
            <p:ph type="title"/>
          </p:nvPr>
        </p:nvSpPr>
        <p:spPr/>
        <p:txBody>
          <a:bodyPr/>
          <a:lstStyle/>
          <a:p>
            <a:endParaRPr lang="en-BD"/>
          </a:p>
        </p:txBody>
      </p:sp>
      <p:pic>
        <p:nvPicPr>
          <p:cNvPr id="5" name="Content Placeholder 4">
            <a:extLst>
              <a:ext uri="{FF2B5EF4-FFF2-40B4-BE49-F238E27FC236}">
                <a16:creationId xmlns:a16="http://schemas.microsoft.com/office/drawing/2014/main" id="{DEB8A33C-9B03-3840-83EC-F29CE7C9A01A}"/>
              </a:ext>
            </a:extLst>
          </p:cNvPr>
          <p:cNvPicPr>
            <a:picLocks noGrp="1" noChangeAspect="1"/>
          </p:cNvPicPr>
          <p:nvPr>
            <p:ph idx="1"/>
          </p:nvPr>
        </p:nvPicPr>
        <p:blipFill>
          <a:blip r:embed="rId2"/>
          <a:stretch>
            <a:fillRect/>
          </a:stretch>
        </p:blipFill>
        <p:spPr>
          <a:xfrm>
            <a:off x="0" y="-1"/>
            <a:ext cx="12192000" cy="6858001"/>
          </a:xfrm>
        </p:spPr>
      </p:pic>
      <p:sp>
        <p:nvSpPr>
          <p:cNvPr id="6" name="TextBox 5">
            <a:extLst>
              <a:ext uri="{FF2B5EF4-FFF2-40B4-BE49-F238E27FC236}">
                <a16:creationId xmlns:a16="http://schemas.microsoft.com/office/drawing/2014/main" id="{9976B8AD-90FE-6546-8BE9-586213A02B12}"/>
              </a:ext>
            </a:extLst>
          </p:cNvPr>
          <p:cNvSpPr txBox="1"/>
          <p:nvPr/>
        </p:nvSpPr>
        <p:spPr>
          <a:xfrm>
            <a:off x="2948065" y="2683239"/>
            <a:ext cx="6295869" cy="1193981"/>
          </a:xfrm>
          <a:prstGeom prst="rect">
            <a:avLst/>
          </a:prstGeom>
          <a:noFill/>
        </p:spPr>
        <p:txBody>
          <a:bodyPr wrap="square" rtlCol="0">
            <a:spAutoFit/>
          </a:bodyPr>
          <a:lstStyle/>
          <a:p>
            <a:pPr algn="ctr">
              <a:lnSpc>
                <a:spcPct val="150000"/>
              </a:lnSpc>
            </a:pPr>
            <a:r>
              <a:rPr lang="en-BD" sz="5400" b="1" dirty="0">
                <a:latin typeface="MARKER FELT THIN" panose="02000400000000000000" pitchFamily="2" charset="77"/>
              </a:rPr>
              <a:t>Thank you</a:t>
            </a:r>
          </a:p>
        </p:txBody>
      </p:sp>
    </p:spTree>
    <p:extLst>
      <p:ext uri="{BB962C8B-B14F-4D97-AF65-F5344CB8AC3E}">
        <p14:creationId xmlns:p14="http://schemas.microsoft.com/office/powerpoint/2010/main" val="46148821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568</TotalTime>
  <Words>1876</Words>
  <Application>Microsoft Macintosh PowerPoint</Application>
  <PresentationFormat>Widescreen</PresentationFormat>
  <Paragraphs>73</Paragraphs>
  <Slides>21</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21</vt:i4>
      </vt:variant>
    </vt:vector>
  </HeadingPairs>
  <TitlesOfParts>
    <vt:vector size="29" baseType="lpstr">
      <vt:lpstr>Abadi MT Condensed Light</vt:lpstr>
      <vt:lpstr>Arial</vt:lpstr>
      <vt:lpstr>Calibri</vt:lpstr>
      <vt:lpstr>Calibri Light</vt:lpstr>
      <vt:lpstr>Courier New</vt:lpstr>
      <vt:lpstr>Marker Felt Thin</vt:lpstr>
      <vt:lpstr>Marker Felt Thin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Microsoft Office User</dc:creator>
  <cp:lastModifiedBy>Sara Chowdhury</cp:lastModifiedBy>
  <cp:revision>35</cp:revision>
  <dcterms:created xsi:type="dcterms:W3CDTF">2023-01-25T08:07:13Z</dcterms:created>
  <dcterms:modified xsi:type="dcterms:W3CDTF">2026-06-08T15:00:57Z</dcterms:modified>
</cp:coreProperties>
</file>