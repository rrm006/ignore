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27" r:id="rId2"/>
    <p:sldId id="265" r:id="rId3"/>
    <p:sldId id="258" r:id="rId4"/>
    <p:sldId id="257" r:id="rId5"/>
    <p:sldId id="311" r:id="rId6"/>
    <p:sldId id="320" r:id="rId7"/>
    <p:sldId id="264" r:id="rId8"/>
    <p:sldId id="306" r:id="rId9"/>
    <p:sldId id="289" r:id="rId10"/>
    <p:sldId id="269" r:id="rId11"/>
    <p:sldId id="316" r:id="rId12"/>
    <p:sldId id="317" r:id="rId13"/>
    <p:sldId id="291" r:id="rId14"/>
    <p:sldId id="278" r:id="rId15"/>
    <p:sldId id="321" r:id="rId16"/>
    <p:sldId id="325" r:id="rId17"/>
    <p:sldId id="328" r:id="rId18"/>
    <p:sldId id="323" r:id="rId19"/>
    <p:sldId id="271" r:id="rId20"/>
    <p:sldId id="324" r:id="rId21"/>
    <p:sldId id="330" r:id="rId22"/>
    <p:sldId id="331" r:id="rId23"/>
    <p:sldId id="332" r:id="rId24"/>
    <p:sldId id="333" r:id="rId25"/>
    <p:sldId id="334" r:id="rId26"/>
    <p:sldId id="309" r:id="rId27"/>
    <p:sldId id="281" r:id="rId28"/>
  </p:sldIdLst>
  <p:sldSz cx="12192000" cy="6858000"/>
  <p:notesSz cx="6858000" cy="9144000"/>
  <p:defaultTextStyle>
    <a:defPPr>
      <a:defRPr lang="en-B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36"/>
    <p:restoredTop sz="94643"/>
  </p:normalViewPr>
  <p:slideViewPr>
    <p:cSldViewPr snapToGrid="0" snapToObjects="1">
      <p:cViewPr varScale="1">
        <p:scale>
          <a:sx n="117" d="100"/>
          <a:sy n="117" d="100"/>
        </p:scale>
        <p:origin x="200" y="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820A8-14B6-1543-BCB0-B796919ED93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D"/>
          </a:p>
        </p:txBody>
      </p:sp>
      <p:sp>
        <p:nvSpPr>
          <p:cNvPr id="3" name="Subtitle 2">
            <a:extLst>
              <a:ext uri="{FF2B5EF4-FFF2-40B4-BE49-F238E27FC236}">
                <a16:creationId xmlns:a16="http://schemas.microsoft.com/office/drawing/2014/main" id="{D29D18D7-5B9E-5342-816B-444237BA5A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D"/>
          </a:p>
        </p:txBody>
      </p:sp>
      <p:sp>
        <p:nvSpPr>
          <p:cNvPr id="4" name="Date Placeholder 3">
            <a:extLst>
              <a:ext uri="{FF2B5EF4-FFF2-40B4-BE49-F238E27FC236}">
                <a16:creationId xmlns:a16="http://schemas.microsoft.com/office/drawing/2014/main" id="{B338D389-60DC-AB42-A29D-D9A33CA228A6}"/>
              </a:ext>
            </a:extLst>
          </p:cNvPr>
          <p:cNvSpPr>
            <a:spLocks noGrp="1"/>
          </p:cNvSpPr>
          <p:nvPr>
            <p:ph type="dt" sz="half" idx="10"/>
          </p:nvPr>
        </p:nvSpPr>
        <p:spPr/>
        <p:txBody>
          <a:bodyPr/>
          <a:lstStyle/>
          <a:p>
            <a:fld id="{27083374-1579-9C4D-8038-E6577C2FC85A}" type="datetimeFigureOut">
              <a:rPr lang="en-BD" smtClean="0"/>
              <a:t>9/2/26</a:t>
            </a:fld>
            <a:endParaRPr lang="en-BD"/>
          </a:p>
        </p:txBody>
      </p:sp>
      <p:sp>
        <p:nvSpPr>
          <p:cNvPr id="5" name="Footer Placeholder 4">
            <a:extLst>
              <a:ext uri="{FF2B5EF4-FFF2-40B4-BE49-F238E27FC236}">
                <a16:creationId xmlns:a16="http://schemas.microsoft.com/office/drawing/2014/main" id="{65D3BAAD-8244-2B43-8C27-673659804C9F}"/>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C5720281-EA6F-2344-944E-237996D14DC7}"/>
              </a:ext>
            </a:extLst>
          </p:cNvPr>
          <p:cNvSpPr>
            <a:spLocks noGrp="1"/>
          </p:cNvSpPr>
          <p:nvPr>
            <p:ph type="sldNum" sz="quarter" idx="12"/>
          </p:nvPr>
        </p:nvSpPr>
        <p:spPr/>
        <p:txBody>
          <a:bodyPr/>
          <a:lstStyle/>
          <a:p>
            <a:fld id="{50A2CA7B-A35F-BA43-9142-F442EB97B454}" type="slidenum">
              <a:rPr lang="en-BD" smtClean="0"/>
              <a:t>‹#›</a:t>
            </a:fld>
            <a:endParaRPr lang="en-BD"/>
          </a:p>
        </p:txBody>
      </p:sp>
    </p:spTree>
    <p:extLst>
      <p:ext uri="{BB962C8B-B14F-4D97-AF65-F5344CB8AC3E}">
        <p14:creationId xmlns:p14="http://schemas.microsoft.com/office/powerpoint/2010/main" val="287408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B51DF-9F95-984C-863E-1DE46EF143A5}"/>
              </a:ext>
            </a:extLst>
          </p:cNvPr>
          <p:cNvSpPr>
            <a:spLocks noGrp="1"/>
          </p:cNvSpPr>
          <p:nvPr>
            <p:ph type="title"/>
          </p:nvPr>
        </p:nvSpPr>
        <p:spPr/>
        <p:txBody>
          <a:bodyPr/>
          <a:lstStyle/>
          <a:p>
            <a:r>
              <a:rPr lang="en-GB"/>
              <a:t>Click to edit Master title style</a:t>
            </a:r>
            <a:endParaRPr lang="en-BD"/>
          </a:p>
        </p:txBody>
      </p:sp>
      <p:sp>
        <p:nvSpPr>
          <p:cNvPr id="3" name="Content Placeholder 2">
            <a:extLst>
              <a:ext uri="{FF2B5EF4-FFF2-40B4-BE49-F238E27FC236}">
                <a16:creationId xmlns:a16="http://schemas.microsoft.com/office/drawing/2014/main" id="{AB4D3DE1-41B3-A94A-9079-B623393361A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Date Placeholder 3">
            <a:extLst>
              <a:ext uri="{FF2B5EF4-FFF2-40B4-BE49-F238E27FC236}">
                <a16:creationId xmlns:a16="http://schemas.microsoft.com/office/drawing/2014/main" id="{50497E07-910B-534E-9A6A-9ADBE0F5DF3C}"/>
              </a:ext>
            </a:extLst>
          </p:cNvPr>
          <p:cNvSpPr>
            <a:spLocks noGrp="1"/>
          </p:cNvSpPr>
          <p:nvPr>
            <p:ph type="dt" sz="half" idx="10"/>
          </p:nvPr>
        </p:nvSpPr>
        <p:spPr/>
        <p:txBody>
          <a:bodyPr/>
          <a:lstStyle/>
          <a:p>
            <a:fld id="{27083374-1579-9C4D-8038-E6577C2FC85A}" type="datetimeFigureOut">
              <a:rPr lang="en-BD" smtClean="0"/>
              <a:t>9/2/26</a:t>
            </a:fld>
            <a:endParaRPr lang="en-BD"/>
          </a:p>
        </p:txBody>
      </p:sp>
      <p:sp>
        <p:nvSpPr>
          <p:cNvPr id="5" name="Footer Placeholder 4">
            <a:extLst>
              <a:ext uri="{FF2B5EF4-FFF2-40B4-BE49-F238E27FC236}">
                <a16:creationId xmlns:a16="http://schemas.microsoft.com/office/drawing/2014/main" id="{553F317E-7755-3E40-BDAA-77D8064AC12D}"/>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73CA5A80-7096-A044-9753-DEA7F5CC32B4}"/>
              </a:ext>
            </a:extLst>
          </p:cNvPr>
          <p:cNvSpPr>
            <a:spLocks noGrp="1"/>
          </p:cNvSpPr>
          <p:nvPr>
            <p:ph type="sldNum" sz="quarter" idx="12"/>
          </p:nvPr>
        </p:nvSpPr>
        <p:spPr/>
        <p:txBody>
          <a:bodyPr/>
          <a:lstStyle/>
          <a:p>
            <a:fld id="{50A2CA7B-A35F-BA43-9142-F442EB97B454}" type="slidenum">
              <a:rPr lang="en-BD" smtClean="0"/>
              <a:t>‹#›</a:t>
            </a:fld>
            <a:endParaRPr lang="en-BD"/>
          </a:p>
        </p:txBody>
      </p:sp>
    </p:spTree>
    <p:extLst>
      <p:ext uri="{BB962C8B-B14F-4D97-AF65-F5344CB8AC3E}">
        <p14:creationId xmlns:p14="http://schemas.microsoft.com/office/powerpoint/2010/main" val="3447001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57F54-24E0-9E4B-921B-B0E33EA5BB2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D"/>
          </a:p>
        </p:txBody>
      </p:sp>
      <p:sp>
        <p:nvSpPr>
          <p:cNvPr id="3" name="Text Placeholder 2">
            <a:extLst>
              <a:ext uri="{FF2B5EF4-FFF2-40B4-BE49-F238E27FC236}">
                <a16:creationId xmlns:a16="http://schemas.microsoft.com/office/drawing/2014/main" id="{42F2022B-C482-8240-A50A-67BB1030D5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625EE89-C547-3C4C-AE24-AF332F18AC49}"/>
              </a:ext>
            </a:extLst>
          </p:cNvPr>
          <p:cNvSpPr>
            <a:spLocks noGrp="1"/>
          </p:cNvSpPr>
          <p:nvPr>
            <p:ph type="dt" sz="half" idx="10"/>
          </p:nvPr>
        </p:nvSpPr>
        <p:spPr/>
        <p:txBody>
          <a:bodyPr/>
          <a:lstStyle/>
          <a:p>
            <a:fld id="{27083374-1579-9C4D-8038-E6577C2FC85A}" type="datetimeFigureOut">
              <a:rPr lang="en-BD" smtClean="0"/>
              <a:t>9/2/26</a:t>
            </a:fld>
            <a:endParaRPr lang="en-BD"/>
          </a:p>
        </p:txBody>
      </p:sp>
      <p:sp>
        <p:nvSpPr>
          <p:cNvPr id="5" name="Footer Placeholder 4">
            <a:extLst>
              <a:ext uri="{FF2B5EF4-FFF2-40B4-BE49-F238E27FC236}">
                <a16:creationId xmlns:a16="http://schemas.microsoft.com/office/drawing/2014/main" id="{23F6CF03-F40A-D14F-9A4A-ACE1551F5A47}"/>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34E2AA93-C477-DE49-B7B9-EC4352B26F92}"/>
              </a:ext>
            </a:extLst>
          </p:cNvPr>
          <p:cNvSpPr>
            <a:spLocks noGrp="1"/>
          </p:cNvSpPr>
          <p:nvPr>
            <p:ph type="sldNum" sz="quarter" idx="12"/>
          </p:nvPr>
        </p:nvSpPr>
        <p:spPr/>
        <p:txBody>
          <a:bodyPr/>
          <a:lstStyle/>
          <a:p>
            <a:fld id="{50A2CA7B-A35F-BA43-9142-F442EB97B454}" type="slidenum">
              <a:rPr lang="en-BD" smtClean="0"/>
              <a:t>‹#›</a:t>
            </a:fld>
            <a:endParaRPr lang="en-BD"/>
          </a:p>
        </p:txBody>
      </p:sp>
    </p:spTree>
    <p:extLst>
      <p:ext uri="{BB962C8B-B14F-4D97-AF65-F5344CB8AC3E}">
        <p14:creationId xmlns:p14="http://schemas.microsoft.com/office/powerpoint/2010/main" val="646268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9620F-984D-3945-8664-F45F83492830}"/>
              </a:ext>
            </a:extLst>
          </p:cNvPr>
          <p:cNvSpPr>
            <a:spLocks noGrp="1"/>
          </p:cNvSpPr>
          <p:nvPr>
            <p:ph type="title"/>
          </p:nvPr>
        </p:nvSpPr>
        <p:spPr/>
        <p:txBody>
          <a:bodyPr/>
          <a:lstStyle/>
          <a:p>
            <a:r>
              <a:rPr lang="en-GB"/>
              <a:t>Click to edit Master title style</a:t>
            </a:r>
            <a:endParaRPr lang="en-BD"/>
          </a:p>
        </p:txBody>
      </p:sp>
      <p:sp>
        <p:nvSpPr>
          <p:cNvPr id="3" name="Content Placeholder 2">
            <a:extLst>
              <a:ext uri="{FF2B5EF4-FFF2-40B4-BE49-F238E27FC236}">
                <a16:creationId xmlns:a16="http://schemas.microsoft.com/office/drawing/2014/main" id="{183E2CD2-1340-FD43-8168-6092B466D54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Content Placeholder 3">
            <a:extLst>
              <a:ext uri="{FF2B5EF4-FFF2-40B4-BE49-F238E27FC236}">
                <a16:creationId xmlns:a16="http://schemas.microsoft.com/office/drawing/2014/main" id="{18F88645-2D56-474A-A22F-42709722A4B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5" name="Date Placeholder 4">
            <a:extLst>
              <a:ext uri="{FF2B5EF4-FFF2-40B4-BE49-F238E27FC236}">
                <a16:creationId xmlns:a16="http://schemas.microsoft.com/office/drawing/2014/main" id="{5B36A769-F689-6B42-BB32-483169353CD9}"/>
              </a:ext>
            </a:extLst>
          </p:cNvPr>
          <p:cNvSpPr>
            <a:spLocks noGrp="1"/>
          </p:cNvSpPr>
          <p:nvPr>
            <p:ph type="dt" sz="half" idx="10"/>
          </p:nvPr>
        </p:nvSpPr>
        <p:spPr/>
        <p:txBody>
          <a:bodyPr/>
          <a:lstStyle/>
          <a:p>
            <a:fld id="{27083374-1579-9C4D-8038-E6577C2FC85A}" type="datetimeFigureOut">
              <a:rPr lang="en-BD" smtClean="0"/>
              <a:t>9/2/26</a:t>
            </a:fld>
            <a:endParaRPr lang="en-BD"/>
          </a:p>
        </p:txBody>
      </p:sp>
      <p:sp>
        <p:nvSpPr>
          <p:cNvPr id="6" name="Footer Placeholder 5">
            <a:extLst>
              <a:ext uri="{FF2B5EF4-FFF2-40B4-BE49-F238E27FC236}">
                <a16:creationId xmlns:a16="http://schemas.microsoft.com/office/drawing/2014/main" id="{EA2B20F7-ABF6-C342-B2B8-2D80EBE73FDA}"/>
              </a:ext>
            </a:extLst>
          </p:cNvPr>
          <p:cNvSpPr>
            <a:spLocks noGrp="1"/>
          </p:cNvSpPr>
          <p:nvPr>
            <p:ph type="ftr" sz="quarter" idx="11"/>
          </p:nvPr>
        </p:nvSpPr>
        <p:spPr/>
        <p:txBody>
          <a:bodyPr/>
          <a:lstStyle/>
          <a:p>
            <a:endParaRPr lang="en-BD"/>
          </a:p>
        </p:txBody>
      </p:sp>
      <p:sp>
        <p:nvSpPr>
          <p:cNvPr id="7" name="Slide Number Placeholder 6">
            <a:extLst>
              <a:ext uri="{FF2B5EF4-FFF2-40B4-BE49-F238E27FC236}">
                <a16:creationId xmlns:a16="http://schemas.microsoft.com/office/drawing/2014/main" id="{940F5D11-1664-4949-BB84-311ABED0270C}"/>
              </a:ext>
            </a:extLst>
          </p:cNvPr>
          <p:cNvSpPr>
            <a:spLocks noGrp="1"/>
          </p:cNvSpPr>
          <p:nvPr>
            <p:ph type="sldNum" sz="quarter" idx="12"/>
          </p:nvPr>
        </p:nvSpPr>
        <p:spPr/>
        <p:txBody>
          <a:bodyPr/>
          <a:lstStyle/>
          <a:p>
            <a:fld id="{50A2CA7B-A35F-BA43-9142-F442EB97B454}" type="slidenum">
              <a:rPr lang="en-BD" smtClean="0"/>
              <a:t>‹#›</a:t>
            </a:fld>
            <a:endParaRPr lang="en-BD"/>
          </a:p>
        </p:txBody>
      </p:sp>
    </p:spTree>
    <p:extLst>
      <p:ext uri="{BB962C8B-B14F-4D97-AF65-F5344CB8AC3E}">
        <p14:creationId xmlns:p14="http://schemas.microsoft.com/office/powerpoint/2010/main" val="3208757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463FB-27DC-E648-B369-7641ECBA99D2}"/>
              </a:ext>
            </a:extLst>
          </p:cNvPr>
          <p:cNvSpPr>
            <a:spLocks noGrp="1"/>
          </p:cNvSpPr>
          <p:nvPr>
            <p:ph type="title"/>
          </p:nvPr>
        </p:nvSpPr>
        <p:spPr>
          <a:xfrm>
            <a:off x="839788" y="365125"/>
            <a:ext cx="10515600" cy="1325563"/>
          </a:xfrm>
        </p:spPr>
        <p:txBody>
          <a:bodyPr/>
          <a:lstStyle/>
          <a:p>
            <a:r>
              <a:rPr lang="en-GB"/>
              <a:t>Click to edit Master title style</a:t>
            </a:r>
            <a:endParaRPr lang="en-BD"/>
          </a:p>
        </p:txBody>
      </p:sp>
      <p:sp>
        <p:nvSpPr>
          <p:cNvPr id="3" name="Text Placeholder 2">
            <a:extLst>
              <a:ext uri="{FF2B5EF4-FFF2-40B4-BE49-F238E27FC236}">
                <a16:creationId xmlns:a16="http://schemas.microsoft.com/office/drawing/2014/main" id="{A4BAB920-FACC-B548-A40F-FD19C1CD4D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FB617F3-D110-4D4E-8FBE-2DF3189C567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5" name="Text Placeholder 4">
            <a:extLst>
              <a:ext uri="{FF2B5EF4-FFF2-40B4-BE49-F238E27FC236}">
                <a16:creationId xmlns:a16="http://schemas.microsoft.com/office/drawing/2014/main" id="{9734255C-0621-4440-83F6-9DBCEC6E0F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FF1E004-258C-1145-9292-958420D1A18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7" name="Date Placeholder 6">
            <a:extLst>
              <a:ext uri="{FF2B5EF4-FFF2-40B4-BE49-F238E27FC236}">
                <a16:creationId xmlns:a16="http://schemas.microsoft.com/office/drawing/2014/main" id="{F020BEA0-EA2F-E84E-BE4B-0F70F511983E}"/>
              </a:ext>
            </a:extLst>
          </p:cNvPr>
          <p:cNvSpPr>
            <a:spLocks noGrp="1"/>
          </p:cNvSpPr>
          <p:nvPr>
            <p:ph type="dt" sz="half" idx="10"/>
          </p:nvPr>
        </p:nvSpPr>
        <p:spPr/>
        <p:txBody>
          <a:bodyPr/>
          <a:lstStyle/>
          <a:p>
            <a:fld id="{27083374-1579-9C4D-8038-E6577C2FC85A}" type="datetimeFigureOut">
              <a:rPr lang="en-BD" smtClean="0"/>
              <a:t>9/2/26</a:t>
            </a:fld>
            <a:endParaRPr lang="en-BD"/>
          </a:p>
        </p:txBody>
      </p:sp>
      <p:sp>
        <p:nvSpPr>
          <p:cNvPr id="8" name="Footer Placeholder 7">
            <a:extLst>
              <a:ext uri="{FF2B5EF4-FFF2-40B4-BE49-F238E27FC236}">
                <a16:creationId xmlns:a16="http://schemas.microsoft.com/office/drawing/2014/main" id="{A0F6D24B-EC0E-EB42-8611-B7D7A1848C89}"/>
              </a:ext>
            </a:extLst>
          </p:cNvPr>
          <p:cNvSpPr>
            <a:spLocks noGrp="1"/>
          </p:cNvSpPr>
          <p:nvPr>
            <p:ph type="ftr" sz="quarter" idx="11"/>
          </p:nvPr>
        </p:nvSpPr>
        <p:spPr/>
        <p:txBody>
          <a:bodyPr/>
          <a:lstStyle/>
          <a:p>
            <a:endParaRPr lang="en-BD"/>
          </a:p>
        </p:txBody>
      </p:sp>
      <p:sp>
        <p:nvSpPr>
          <p:cNvPr id="9" name="Slide Number Placeholder 8">
            <a:extLst>
              <a:ext uri="{FF2B5EF4-FFF2-40B4-BE49-F238E27FC236}">
                <a16:creationId xmlns:a16="http://schemas.microsoft.com/office/drawing/2014/main" id="{F889364E-A4FF-C14B-8597-C823798A1E48}"/>
              </a:ext>
            </a:extLst>
          </p:cNvPr>
          <p:cNvSpPr>
            <a:spLocks noGrp="1"/>
          </p:cNvSpPr>
          <p:nvPr>
            <p:ph type="sldNum" sz="quarter" idx="12"/>
          </p:nvPr>
        </p:nvSpPr>
        <p:spPr/>
        <p:txBody>
          <a:bodyPr/>
          <a:lstStyle/>
          <a:p>
            <a:fld id="{50A2CA7B-A35F-BA43-9142-F442EB97B454}" type="slidenum">
              <a:rPr lang="en-BD" smtClean="0"/>
              <a:t>‹#›</a:t>
            </a:fld>
            <a:endParaRPr lang="en-BD"/>
          </a:p>
        </p:txBody>
      </p:sp>
    </p:spTree>
    <p:extLst>
      <p:ext uri="{BB962C8B-B14F-4D97-AF65-F5344CB8AC3E}">
        <p14:creationId xmlns:p14="http://schemas.microsoft.com/office/powerpoint/2010/main" val="3453473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FFFAA-4279-8643-B210-57D7F7825EE4}"/>
              </a:ext>
            </a:extLst>
          </p:cNvPr>
          <p:cNvSpPr>
            <a:spLocks noGrp="1"/>
          </p:cNvSpPr>
          <p:nvPr>
            <p:ph type="title"/>
          </p:nvPr>
        </p:nvSpPr>
        <p:spPr/>
        <p:txBody>
          <a:bodyPr/>
          <a:lstStyle/>
          <a:p>
            <a:r>
              <a:rPr lang="en-GB"/>
              <a:t>Click to edit Master title style</a:t>
            </a:r>
            <a:endParaRPr lang="en-BD"/>
          </a:p>
        </p:txBody>
      </p:sp>
      <p:sp>
        <p:nvSpPr>
          <p:cNvPr id="3" name="Date Placeholder 2">
            <a:extLst>
              <a:ext uri="{FF2B5EF4-FFF2-40B4-BE49-F238E27FC236}">
                <a16:creationId xmlns:a16="http://schemas.microsoft.com/office/drawing/2014/main" id="{BDF50117-7888-E841-8A4D-916D6EE65FC0}"/>
              </a:ext>
            </a:extLst>
          </p:cNvPr>
          <p:cNvSpPr>
            <a:spLocks noGrp="1"/>
          </p:cNvSpPr>
          <p:nvPr>
            <p:ph type="dt" sz="half" idx="10"/>
          </p:nvPr>
        </p:nvSpPr>
        <p:spPr/>
        <p:txBody>
          <a:bodyPr/>
          <a:lstStyle/>
          <a:p>
            <a:fld id="{27083374-1579-9C4D-8038-E6577C2FC85A}" type="datetimeFigureOut">
              <a:rPr lang="en-BD" smtClean="0"/>
              <a:t>9/2/26</a:t>
            </a:fld>
            <a:endParaRPr lang="en-BD"/>
          </a:p>
        </p:txBody>
      </p:sp>
      <p:sp>
        <p:nvSpPr>
          <p:cNvPr id="4" name="Footer Placeholder 3">
            <a:extLst>
              <a:ext uri="{FF2B5EF4-FFF2-40B4-BE49-F238E27FC236}">
                <a16:creationId xmlns:a16="http://schemas.microsoft.com/office/drawing/2014/main" id="{A5478C35-89E0-9246-BC1B-A879D5C57AAD}"/>
              </a:ext>
            </a:extLst>
          </p:cNvPr>
          <p:cNvSpPr>
            <a:spLocks noGrp="1"/>
          </p:cNvSpPr>
          <p:nvPr>
            <p:ph type="ftr" sz="quarter" idx="11"/>
          </p:nvPr>
        </p:nvSpPr>
        <p:spPr/>
        <p:txBody>
          <a:bodyPr/>
          <a:lstStyle/>
          <a:p>
            <a:endParaRPr lang="en-BD"/>
          </a:p>
        </p:txBody>
      </p:sp>
      <p:sp>
        <p:nvSpPr>
          <p:cNvPr id="5" name="Slide Number Placeholder 4">
            <a:extLst>
              <a:ext uri="{FF2B5EF4-FFF2-40B4-BE49-F238E27FC236}">
                <a16:creationId xmlns:a16="http://schemas.microsoft.com/office/drawing/2014/main" id="{33ED4073-4B32-254D-ADFC-EF0A276EE16E}"/>
              </a:ext>
            </a:extLst>
          </p:cNvPr>
          <p:cNvSpPr>
            <a:spLocks noGrp="1"/>
          </p:cNvSpPr>
          <p:nvPr>
            <p:ph type="sldNum" sz="quarter" idx="12"/>
          </p:nvPr>
        </p:nvSpPr>
        <p:spPr/>
        <p:txBody>
          <a:bodyPr/>
          <a:lstStyle/>
          <a:p>
            <a:fld id="{50A2CA7B-A35F-BA43-9142-F442EB97B454}" type="slidenum">
              <a:rPr lang="en-BD" smtClean="0"/>
              <a:t>‹#›</a:t>
            </a:fld>
            <a:endParaRPr lang="en-BD"/>
          </a:p>
        </p:txBody>
      </p:sp>
    </p:spTree>
    <p:extLst>
      <p:ext uri="{BB962C8B-B14F-4D97-AF65-F5344CB8AC3E}">
        <p14:creationId xmlns:p14="http://schemas.microsoft.com/office/powerpoint/2010/main" val="3271673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C15C0D-07FE-CC4E-8356-BC16090DC6A3}"/>
              </a:ext>
            </a:extLst>
          </p:cNvPr>
          <p:cNvSpPr>
            <a:spLocks noGrp="1"/>
          </p:cNvSpPr>
          <p:nvPr>
            <p:ph type="dt" sz="half" idx="10"/>
          </p:nvPr>
        </p:nvSpPr>
        <p:spPr/>
        <p:txBody>
          <a:bodyPr/>
          <a:lstStyle/>
          <a:p>
            <a:fld id="{27083374-1579-9C4D-8038-E6577C2FC85A}" type="datetimeFigureOut">
              <a:rPr lang="en-BD" smtClean="0"/>
              <a:t>9/2/26</a:t>
            </a:fld>
            <a:endParaRPr lang="en-BD"/>
          </a:p>
        </p:txBody>
      </p:sp>
      <p:sp>
        <p:nvSpPr>
          <p:cNvPr id="3" name="Footer Placeholder 2">
            <a:extLst>
              <a:ext uri="{FF2B5EF4-FFF2-40B4-BE49-F238E27FC236}">
                <a16:creationId xmlns:a16="http://schemas.microsoft.com/office/drawing/2014/main" id="{3E3463C1-522C-564B-B4CB-098FB91017F7}"/>
              </a:ext>
            </a:extLst>
          </p:cNvPr>
          <p:cNvSpPr>
            <a:spLocks noGrp="1"/>
          </p:cNvSpPr>
          <p:nvPr>
            <p:ph type="ftr" sz="quarter" idx="11"/>
          </p:nvPr>
        </p:nvSpPr>
        <p:spPr/>
        <p:txBody>
          <a:bodyPr/>
          <a:lstStyle/>
          <a:p>
            <a:endParaRPr lang="en-BD"/>
          </a:p>
        </p:txBody>
      </p:sp>
      <p:sp>
        <p:nvSpPr>
          <p:cNvPr id="4" name="Slide Number Placeholder 3">
            <a:extLst>
              <a:ext uri="{FF2B5EF4-FFF2-40B4-BE49-F238E27FC236}">
                <a16:creationId xmlns:a16="http://schemas.microsoft.com/office/drawing/2014/main" id="{2B28472B-5AA9-1C4A-9104-BC30BD4E1BFE}"/>
              </a:ext>
            </a:extLst>
          </p:cNvPr>
          <p:cNvSpPr>
            <a:spLocks noGrp="1"/>
          </p:cNvSpPr>
          <p:nvPr>
            <p:ph type="sldNum" sz="quarter" idx="12"/>
          </p:nvPr>
        </p:nvSpPr>
        <p:spPr/>
        <p:txBody>
          <a:bodyPr/>
          <a:lstStyle/>
          <a:p>
            <a:fld id="{50A2CA7B-A35F-BA43-9142-F442EB97B454}" type="slidenum">
              <a:rPr lang="en-BD" smtClean="0"/>
              <a:t>‹#›</a:t>
            </a:fld>
            <a:endParaRPr lang="en-BD"/>
          </a:p>
        </p:txBody>
      </p:sp>
    </p:spTree>
    <p:extLst>
      <p:ext uri="{BB962C8B-B14F-4D97-AF65-F5344CB8AC3E}">
        <p14:creationId xmlns:p14="http://schemas.microsoft.com/office/powerpoint/2010/main" val="3625251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D54A4-CFC5-E749-BB96-772C5DDFF33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D"/>
          </a:p>
        </p:txBody>
      </p:sp>
      <p:sp>
        <p:nvSpPr>
          <p:cNvPr id="3" name="Content Placeholder 2">
            <a:extLst>
              <a:ext uri="{FF2B5EF4-FFF2-40B4-BE49-F238E27FC236}">
                <a16:creationId xmlns:a16="http://schemas.microsoft.com/office/drawing/2014/main" id="{B491B912-31EF-C440-A2B2-6B1AAD5584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Text Placeholder 3">
            <a:extLst>
              <a:ext uri="{FF2B5EF4-FFF2-40B4-BE49-F238E27FC236}">
                <a16:creationId xmlns:a16="http://schemas.microsoft.com/office/drawing/2014/main" id="{55EDD066-18AE-2C4F-A531-8704045715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DA6E70-E9FE-FA49-9181-68C553C16A5C}"/>
              </a:ext>
            </a:extLst>
          </p:cNvPr>
          <p:cNvSpPr>
            <a:spLocks noGrp="1"/>
          </p:cNvSpPr>
          <p:nvPr>
            <p:ph type="dt" sz="half" idx="10"/>
          </p:nvPr>
        </p:nvSpPr>
        <p:spPr/>
        <p:txBody>
          <a:bodyPr/>
          <a:lstStyle/>
          <a:p>
            <a:fld id="{27083374-1579-9C4D-8038-E6577C2FC85A}" type="datetimeFigureOut">
              <a:rPr lang="en-BD" smtClean="0"/>
              <a:t>9/2/26</a:t>
            </a:fld>
            <a:endParaRPr lang="en-BD"/>
          </a:p>
        </p:txBody>
      </p:sp>
      <p:sp>
        <p:nvSpPr>
          <p:cNvPr id="6" name="Footer Placeholder 5">
            <a:extLst>
              <a:ext uri="{FF2B5EF4-FFF2-40B4-BE49-F238E27FC236}">
                <a16:creationId xmlns:a16="http://schemas.microsoft.com/office/drawing/2014/main" id="{0990FA14-8331-1E47-B140-3C34B7EFF090}"/>
              </a:ext>
            </a:extLst>
          </p:cNvPr>
          <p:cNvSpPr>
            <a:spLocks noGrp="1"/>
          </p:cNvSpPr>
          <p:nvPr>
            <p:ph type="ftr" sz="quarter" idx="11"/>
          </p:nvPr>
        </p:nvSpPr>
        <p:spPr/>
        <p:txBody>
          <a:bodyPr/>
          <a:lstStyle/>
          <a:p>
            <a:endParaRPr lang="en-BD"/>
          </a:p>
        </p:txBody>
      </p:sp>
      <p:sp>
        <p:nvSpPr>
          <p:cNvPr id="7" name="Slide Number Placeholder 6">
            <a:extLst>
              <a:ext uri="{FF2B5EF4-FFF2-40B4-BE49-F238E27FC236}">
                <a16:creationId xmlns:a16="http://schemas.microsoft.com/office/drawing/2014/main" id="{97A62C63-8E96-0944-8BA3-D54B28E9B141}"/>
              </a:ext>
            </a:extLst>
          </p:cNvPr>
          <p:cNvSpPr>
            <a:spLocks noGrp="1"/>
          </p:cNvSpPr>
          <p:nvPr>
            <p:ph type="sldNum" sz="quarter" idx="12"/>
          </p:nvPr>
        </p:nvSpPr>
        <p:spPr/>
        <p:txBody>
          <a:bodyPr/>
          <a:lstStyle/>
          <a:p>
            <a:fld id="{50A2CA7B-A35F-BA43-9142-F442EB97B454}" type="slidenum">
              <a:rPr lang="en-BD" smtClean="0"/>
              <a:t>‹#›</a:t>
            </a:fld>
            <a:endParaRPr lang="en-BD"/>
          </a:p>
        </p:txBody>
      </p:sp>
    </p:spTree>
    <p:extLst>
      <p:ext uri="{BB962C8B-B14F-4D97-AF65-F5344CB8AC3E}">
        <p14:creationId xmlns:p14="http://schemas.microsoft.com/office/powerpoint/2010/main" val="1661048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72875-6D83-5647-BB68-6DC19208D9F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D"/>
          </a:p>
        </p:txBody>
      </p:sp>
      <p:sp>
        <p:nvSpPr>
          <p:cNvPr id="3" name="Picture Placeholder 2">
            <a:extLst>
              <a:ext uri="{FF2B5EF4-FFF2-40B4-BE49-F238E27FC236}">
                <a16:creationId xmlns:a16="http://schemas.microsoft.com/office/drawing/2014/main" id="{FE833236-6AEA-F94E-AE2F-24F000456D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D"/>
          </a:p>
        </p:txBody>
      </p:sp>
      <p:sp>
        <p:nvSpPr>
          <p:cNvPr id="4" name="Text Placeholder 3">
            <a:extLst>
              <a:ext uri="{FF2B5EF4-FFF2-40B4-BE49-F238E27FC236}">
                <a16:creationId xmlns:a16="http://schemas.microsoft.com/office/drawing/2014/main" id="{08472165-8C9C-5242-9FE9-DAD093131C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291C91D-6426-E445-9EFC-96091843150E}"/>
              </a:ext>
            </a:extLst>
          </p:cNvPr>
          <p:cNvSpPr>
            <a:spLocks noGrp="1"/>
          </p:cNvSpPr>
          <p:nvPr>
            <p:ph type="dt" sz="half" idx="10"/>
          </p:nvPr>
        </p:nvSpPr>
        <p:spPr/>
        <p:txBody>
          <a:bodyPr/>
          <a:lstStyle/>
          <a:p>
            <a:fld id="{27083374-1579-9C4D-8038-E6577C2FC85A}" type="datetimeFigureOut">
              <a:rPr lang="en-BD" smtClean="0"/>
              <a:t>9/2/26</a:t>
            </a:fld>
            <a:endParaRPr lang="en-BD"/>
          </a:p>
        </p:txBody>
      </p:sp>
      <p:sp>
        <p:nvSpPr>
          <p:cNvPr id="6" name="Footer Placeholder 5">
            <a:extLst>
              <a:ext uri="{FF2B5EF4-FFF2-40B4-BE49-F238E27FC236}">
                <a16:creationId xmlns:a16="http://schemas.microsoft.com/office/drawing/2014/main" id="{14F64F97-7A9F-C14B-9953-AEE6510D3F88}"/>
              </a:ext>
            </a:extLst>
          </p:cNvPr>
          <p:cNvSpPr>
            <a:spLocks noGrp="1"/>
          </p:cNvSpPr>
          <p:nvPr>
            <p:ph type="ftr" sz="quarter" idx="11"/>
          </p:nvPr>
        </p:nvSpPr>
        <p:spPr/>
        <p:txBody>
          <a:bodyPr/>
          <a:lstStyle/>
          <a:p>
            <a:endParaRPr lang="en-BD"/>
          </a:p>
        </p:txBody>
      </p:sp>
      <p:sp>
        <p:nvSpPr>
          <p:cNvPr id="7" name="Slide Number Placeholder 6">
            <a:extLst>
              <a:ext uri="{FF2B5EF4-FFF2-40B4-BE49-F238E27FC236}">
                <a16:creationId xmlns:a16="http://schemas.microsoft.com/office/drawing/2014/main" id="{ABBBC5B3-4AD6-B248-9405-FD7F07399BB9}"/>
              </a:ext>
            </a:extLst>
          </p:cNvPr>
          <p:cNvSpPr>
            <a:spLocks noGrp="1"/>
          </p:cNvSpPr>
          <p:nvPr>
            <p:ph type="sldNum" sz="quarter" idx="12"/>
          </p:nvPr>
        </p:nvSpPr>
        <p:spPr/>
        <p:txBody>
          <a:bodyPr/>
          <a:lstStyle/>
          <a:p>
            <a:fld id="{50A2CA7B-A35F-BA43-9142-F442EB97B454}" type="slidenum">
              <a:rPr lang="en-BD" smtClean="0"/>
              <a:t>‹#›</a:t>
            </a:fld>
            <a:endParaRPr lang="en-BD"/>
          </a:p>
        </p:txBody>
      </p:sp>
    </p:spTree>
    <p:extLst>
      <p:ext uri="{BB962C8B-B14F-4D97-AF65-F5344CB8AC3E}">
        <p14:creationId xmlns:p14="http://schemas.microsoft.com/office/powerpoint/2010/main" val="1161835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53E77-1038-314D-BC7E-8823E93CA327}"/>
              </a:ext>
            </a:extLst>
          </p:cNvPr>
          <p:cNvSpPr>
            <a:spLocks noGrp="1"/>
          </p:cNvSpPr>
          <p:nvPr>
            <p:ph type="title"/>
          </p:nvPr>
        </p:nvSpPr>
        <p:spPr/>
        <p:txBody>
          <a:bodyPr/>
          <a:lstStyle/>
          <a:p>
            <a:r>
              <a:rPr lang="en-GB"/>
              <a:t>Click to edit Master title style</a:t>
            </a:r>
            <a:endParaRPr lang="en-BD"/>
          </a:p>
        </p:txBody>
      </p:sp>
      <p:sp>
        <p:nvSpPr>
          <p:cNvPr id="3" name="Vertical Text Placeholder 2">
            <a:extLst>
              <a:ext uri="{FF2B5EF4-FFF2-40B4-BE49-F238E27FC236}">
                <a16:creationId xmlns:a16="http://schemas.microsoft.com/office/drawing/2014/main" id="{45608503-1025-154C-8C94-609522E19C6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Date Placeholder 3">
            <a:extLst>
              <a:ext uri="{FF2B5EF4-FFF2-40B4-BE49-F238E27FC236}">
                <a16:creationId xmlns:a16="http://schemas.microsoft.com/office/drawing/2014/main" id="{78B6E9F5-C1AD-294B-BEA1-5D40C3F4EBCB}"/>
              </a:ext>
            </a:extLst>
          </p:cNvPr>
          <p:cNvSpPr>
            <a:spLocks noGrp="1"/>
          </p:cNvSpPr>
          <p:nvPr>
            <p:ph type="dt" sz="half" idx="10"/>
          </p:nvPr>
        </p:nvSpPr>
        <p:spPr/>
        <p:txBody>
          <a:bodyPr/>
          <a:lstStyle/>
          <a:p>
            <a:fld id="{27083374-1579-9C4D-8038-E6577C2FC85A}" type="datetimeFigureOut">
              <a:rPr lang="en-BD" smtClean="0"/>
              <a:t>9/2/26</a:t>
            </a:fld>
            <a:endParaRPr lang="en-BD"/>
          </a:p>
        </p:txBody>
      </p:sp>
      <p:sp>
        <p:nvSpPr>
          <p:cNvPr id="5" name="Footer Placeholder 4">
            <a:extLst>
              <a:ext uri="{FF2B5EF4-FFF2-40B4-BE49-F238E27FC236}">
                <a16:creationId xmlns:a16="http://schemas.microsoft.com/office/drawing/2014/main" id="{8574C87D-04D2-D84D-BD09-93C8036770A2}"/>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BFBE6566-3DAF-B94E-869A-62EB6322E268}"/>
              </a:ext>
            </a:extLst>
          </p:cNvPr>
          <p:cNvSpPr>
            <a:spLocks noGrp="1"/>
          </p:cNvSpPr>
          <p:nvPr>
            <p:ph type="sldNum" sz="quarter" idx="12"/>
          </p:nvPr>
        </p:nvSpPr>
        <p:spPr/>
        <p:txBody>
          <a:bodyPr/>
          <a:lstStyle/>
          <a:p>
            <a:fld id="{50A2CA7B-A35F-BA43-9142-F442EB97B454}" type="slidenum">
              <a:rPr lang="en-BD" smtClean="0"/>
              <a:t>‹#›</a:t>
            </a:fld>
            <a:endParaRPr lang="en-BD"/>
          </a:p>
        </p:txBody>
      </p:sp>
    </p:spTree>
    <p:extLst>
      <p:ext uri="{BB962C8B-B14F-4D97-AF65-F5344CB8AC3E}">
        <p14:creationId xmlns:p14="http://schemas.microsoft.com/office/powerpoint/2010/main" val="2398911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3487A2-5FEC-0148-916A-FB9748F70B5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D"/>
          </a:p>
        </p:txBody>
      </p:sp>
      <p:sp>
        <p:nvSpPr>
          <p:cNvPr id="3" name="Vertical Text Placeholder 2">
            <a:extLst>
              <a:ext uri="{FF2B5EF4-FFF2-40B4-BE49-F238E27FC236}">
                <a16:creationId xmlns:a16="http://schemas.microsoft.com/office/drawing/2014/main" id="{E9030895-7DF1-8F4E-9E34-17C4E380CDF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Date Placeholder 3">
            <a:extLst>
              <a:ext uri="{FF2B5EF4-FFF2-40B4-BE49-F238E27FC236}">
                <a16:creationId xmlns:a16="http://schemas.microsoft.com/office/drawing/2014/main" id="{BCC61CC6-AA2D-8846-8A1A-D98584D5CEEE}"/>
              </a:ext>
            </a:extLst>
          </p:cNvPr>
          <p:cNvSpPr>
            <a:spLocks noGrp="1"/>
          </p:cNvSpPr>
          <p:nvPr>
            <p:ph type="dt" sz="half" idx="10"/>
          </p:nvPr>
        </p:nvSpPr>
        <p:spPr/>
        <p:txBody>
          <a:bodyPr/>
          <a:lstStyle/>
          <a:p>
            <a:fld id="{27083374-1579-9C4D-8038-E6577C2FC85A}" type="datetimeFigureOut">
              <a:rPr lang="en-BD" smtClean="0"/>
              <a:t>9/2/26</a:t>
            </a:fld>
            <a:endParaRPr lang="en-BD"/>
          </a:p>
        </p:txBody>
      </p:sp>
      <p:sp>
        <p:nvSpPr>
          <p:cNvPr id="5" name="Footer Placeholder 4">
            <a:extLst>
              <a:ext uri="{FF2B5EF4-FFF2-40B4-BE49-F238E27FC236}">
                <a16:creationId xmlns:a16="http://schemas.microsoft.com/office/drawing/2014/main" id="{36941E29-26A9-4F40-B8BD-98B87ADD90CA}"/>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6CA660CE-C1C5-F548-BDB9-5FCC331262F5}"/>
              </a:ext>
            </a:extLst>
          </p:cNvPr>
          <p:cNvSpPr>
            <a:spLocks noGrp="1"/>
          </p:cNvSpPr>
          <p:nvPr>
            <p:ph type="sldNum" sz="quarter" idx="12"/>
          </p:nvPr>
        </p:nvSpPr>
        <p:spPr/>
        <p:txBody>
          <a:bodyPr/>
          <a:lstStyle/>
          <a:p>
            <a:fld id="{50A2CA7B-A35F-BA43-9142-F442EB97B454}" type="slidenum">
              <a:rPr lang="en-BD" smtClean="0"/>
              <a:t>‹#›</a:t>
            </a:fld>
            <a:endParaRPr lang="en-BD"/>
          </a:p>
        </p:txBody>
      </p:sp>
    </p:spTree>
    <p:extLst>
      <p:ext uri="{BB962C8B-B14F-4D97-AF65-F5344CB8AC3E}">
        <p14:creationId xmlns:p14="http://schemas.microsoft.com/office/powerpoint/2010/main" val="1957747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DE22B0-EAD5-9040-9F1B-905E69BAD9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D"/>
          </a:p>
        </p:txBody>
      </p:sp>
      <p:sp>
        <p:nvSpPr>
          <p:cNvPr id="3" name="Text Placeholder 2">
            <a:extLst>
              <a:ext uri="{FF2B5EF4-FFF2-40B4-BE49-F238E27FC236}">
                <a16:creationId xmlns:a16="http://schemas.microsoft.com/office/drawing/2014/main" id="{773491DA-F215-F340-9D1C-851ABEBB4F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Date Placeholder 3">
            <a:extLst>
              <a:ext uri="{FF2B5EF4-FFF2-40B4-BE49-F238E27FC236}">
                <a16:creationId xmlns:a16="http://schemas.microsoft.com/office/drawing/2014/main" id="{316ACC0B-3C98-1345-8C24-A37323A6F3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083374-1579-9C4D-8038-E6577C2FC85A}" type="datetimeFigureOut">
              <a:rPr lang="en-BD" smtClean="0"/>
              <a:t>9/2/26</a:t>
            </a:fld>
            <a:endParaRPr lang="en-BD"/>
          </a:p>
        </p:txBody>
      </p:sp>
      <p:sp>
        <p:nvSpPr>
          <p:cNvPr id="5" name="Footer Placeholder 4">
            <a:extLst>
              <a:ext uri="{FF2B5EF4-FFF2-40B4-BE49-F238E27FC236}">
                <a16:creationId xmlns:a16="http://schemas.microsoft.com/office/drawing/2014/main" id="{B87E7B54-1539-3848-9773-739506F08A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D"/>
          </a:p>
        </p:txBody>
      </p:sp>
      <p:sp>
        <p:nvSpPr>
          <p:cNvPr id="6" name="Slide Number Placeholder 5">
            <a:extLst>
              <a:ext uri="{FF2B5EF4-FFF2-40B4-BE49-F238E27FC236}">
                <a16:creationId xmlns:a16="http://schemas.microsoft.com/office/drawing/2014/main" id="{CDED14B8-5540-3049-9737-7030E833F1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A2CA7B-A35F-BA43-9142-F442EB97B454}" type="slidenum">
              <a:rPr lang="en-BD" smtClean="0"/>
              <a:t>‹#›</a:t>
            </a:fld>
            <a:endParaRPr lang="en-BD"/>
          </a:p>
        </p:txBody>
      </p:sp>
    </p:spTree>
    <p:extLst>
      <p:ext uri="{BB962C8B-B14F-4D97-AF65-F5344CB8AC3E}">
        <p14:creationId xmlns:p14="http://schemas.microsoft.com/office/powerpoint/2010/main" val="1984379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BA24-7397-114A-84BF-2A3824E6916A}"/>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BB3B606C-F48C-094D-B2DC-0A6F1BFFBEFC}"/>
              </a:ext>
            </a:extLst>
          </p:cNvPr>
          <p:cNvPicPr>
            <a:picLocks noGrp="1" noChangeAspect="1"/>
          </p:cNvPicPr>
          <p:nvPr>
            <p:ph idx="1"/>
          </p:nvPr>
        </p:nvPicPr>
        <p:blipFill>
          <a:blip r:embed="rId2"/>
          <a:stretch>
            <a:fillRect/>
          </a:stretch>
        </p:blipFill>
        <p:spPr>
          <a:xfrm>
            <a:off x="0" y="0"/>
            <a:ext cx="12333514" cy="6858000"/>
          </a:xfrm>
        </p:spPr>
      </p:pic>
      <p:sp>
        <p:nvSpPr>
          <p:cNvPr id="7" name="TextBox 6">
            <a:extLst>
              <a:ext uri="{FF2B5EF4-FFF2-40B4-BE49-F238E27FC236}">
                <a16:creationId xmlns:a16="http://schemas.microsoft.com/office/drawing/2014/main" id="{D1900F50-A54D-E74E-AC7E-C4B905BCC7E6}"/>
              </a:ext>
            </a:extLst>
          </p:cNvPr>
          <p:cNvSpPr txBox="1"/>
          <p:nvPr/>
        </p:nvSpPr>
        <p:spPr>
          <a:xfrm>
            <a:off x="3039836" y="3119148"/>
            <a:ext cx="6253842" cy="369332"/>
          </a:xfrm>
          <a:prstGeom prst="rect">
            <a:avLst/>
          </a:prstGeom>
          <a:noFill/>
        </p:spPr>
        <p:txBody>
          <a:bodyPr wrap="square">
            <a:spAutoFit/>
          </a:bodyPr>
          <a:lstStyle/>
          <a:p>
            <a:endParaRPr lang="en-BD" dirty="0"/>
          </a:p>
        </p:txBody>
      </p:sp>
      <p:sp>
        <p:nvSpPr>
          <p:cNvPr id="9" name="Rounded Rectangle 8">
            <a:extLst>
              <a:ext uri="{FF2B5EF4-FFF2-40B4-BE49-F238E27FC236}">
                <a16:creationId xmlns:a16="http://schemas.microsoft.com/office/drawing/2014/main" id="{E6DCC156-8FA8-9E4D-8021-9CDB62691890}"/>
              </a:ext>
            </a:extLst>
          </p:cNvPr>
          <p:cNvSpPr/>
          <p:nvPr/>
        </p:nvSpPr>
        <p:spPr>
          <a:xfrm>
            <a:off x="3152774" y="1454019"/>
            <a:ext cx="5312229" cy="261822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BD" dirty="0"/>
          </a:p>
        </p:txBody>
      </p:sp>
      <p:sp>
        <p:nvSpPr>
          <p:cNvPr id="10" name="TextBox 9">
            <a:extLst>
              <a:ext uri="{FF2B5EF4-FFF2-40B4-BE49-F238E27FC236}">
                <a16:creationId xmlns:a16="http://schemas.microsoft.com/office/drawing/2014/main" id="{41A22694-6B2D-8748-A12E-66A19C998C10}"/>
              </a:ext>
            </a:extLst>
          </p:cNvPr>
          <p:cNvSpPr txBox="1"/>
          <p:nvPr/>
        </p:nvSpPr>
        <p:spPr>
          <a:xfrm>
            <a:off x="3550103" y="1486920"/>
            <a:ext cx="4517572" cy="2585323"/>
          </a:xfrm>
          <a:prstGeom prst="rect">
            <a:avLst/>
          </a:prstGeom>
          <a:noFill/>
        </p:spPr>
        <p:txBody>
          <a:bodyPr wrap="square" rtlCol="0">
            <a:spAutoFit/>
          </a:bodyPr>
          <a:lstStyle/>
          <a:p>
            <a:pPr algn="ctr"/>
            <a:r>
              <a:rPr lang="en-BD" sz="5400" dirty="0">
                <a:latin typeface="Marker Felt Thin" panose="02000400000000000000" pitchFamily="2" charset="77"/>
              </a:rPr>
              <a:t>Nonverbal Messages</a:t>
            </a:r>
          </a:p>
          <a:p>
            <a:pPr algn="ctr"/>
            <a:endParaRPr lang="en-BD" sz="5400" dirty="0">
              <a:latin typeface="Marker Felt Thin" panose="02000400000000000000" pitchFamily="2" charset="77"/>
            </a:endParaRPr>
          </a:p>
        </p:txBody>
      </p:sp>
      <p:sp>
        <p:nvSpPr>
          <p:cNvPr id="11" name="TextBox 10">
            <a:extLst>
              <a:ext uri="{FF2B5EF4-FFF2-40B4-BE49-F238E27FC236}">
                <a16:creationId xmlns:a16="http://schemas.microsoft.com/office/drawing/2014/main" id="{8B4369A0-6AC8-BA4E-9434-F8ECC7870117}"/>
              </a:ext>
            </a:extLst>
          </p:cNvPr>
          <p:cNvSpPr txBox="1"/>
          <p:nvPr/>
        </p:nvSpPr>
        <p:spPr>
          <a:xfrm>
            <a:off x="4751614" y="3506166"/>
            <a:ext cx="2688772" cy="461665"/>
          </a:xfrm>
          <a:prstGeom prst="rect">
            <a:avLst/>
          </a:prstGeom>
          <a:noFill/>
        </p:spPr>
        <p:txBody>
          <a:bodyPr wrap="square" rtlCol="0">
            <a:spAutoFit/>
          </a:bodyPr>
          <a:lstStyle/>
          <a:p>
            <a:r>
              <a:rPr lang="en-BD" sz="2400" dirty="0">
                <a:latin typeface="Marker Felt Thin" panose="02000400000000000000" pitchFamily="2" charset="77"/>
              </a:rPr>
              <a:t>Week 3, NCA</a:t>
            </a:r>
          </a:p>
        </p:txBody>
      </p:sp>
    </p:spTree>
    <p:extLst>
      <p:ext uri="{BB962C8B-B14F-4D97-AF65-F5344CB8AC3E}">
        <p14:creationId xmlns:p14="http://schemas.microsoft.com/office/powerpoint/2010/main" val="2478499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55B5-BF54-9543-9D5B-0CB26356E2EA}"/>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CB813F6F-DFF5-B049-AB25-97C7D6B031E8}"/>
              </a:ext>
            </a:extLst>
          </p:cNvPr>
          <p:cNvPicPr>
            <a:picLocks noGrp="1" noChangeAspect="1"/>
          </p:cNvPicPr>
          <p:nvPr>
            <p:ph idx="1"/>
          </p:nvPr>
        </p:nvPicPr>
        <p:blipFill>
          <a:blip r:embed="rId2"/>
          <a:stretch>
            <a:fillRect/>
          </a:stretch>
        </p:blipFill>
        <p:spPr>
          <a:xfrm>
            <a:off x="0" y="0"/>
            <a:ext cx="12192000" cy="6858000"/>
          </a:xfrm>
        </p:spPr>
      </p:pic>
      <p:sp>
        <p:nvSpPr>
          <p:cNvPr id="6" name="TextBox 5">
            <a:extLst>
              <a:ext uri="{FF2B5EF4-FFF2-40B4-BE49-F238E27FC236}">
                <a16:creationId xmlns:a16="http://schemas.microsoft.com/office/drawing/2014/main" id="{2C23A973-AC4A-7842-9E8A-2C123EC83DEA}"/>
              </a:ext>
            </a:extLst>
          </p:cNvPr>
          <p:cNvSpPr txBox="1"/>
          <p:nvPr/>
        </p:nvSpPr>
        <p:spPr>
          <a:xfrm>
            <a:off x="3268436" y="1552278"/>
            <a:ext cx="5176158" cy="769441"/>
          </a:xfrm>
          <a:prstGeom prst="rect">
            <a:avLst/>
          </a:prstGeom>
          <a:noFill/>
        </p:spPr>
        <p:txBody>
          <a:bodyPr wrap="square" rtlCol="0">
            <a:spAutoFit/>
          </a:bodyPr>
          <a:lstStyle/>
          <a:p>
            <a:pPr algn="ctr"/>
            <a:r>
              <a:rPr lang="en-BD" sz="4400" dirty="0">
                <a:latin typeface="Marker Felt Thin" panose="02000400000000000000" pitchFamily="2" charset="77"/>
              </a:rPr>
              <a:t>Learning Objectives</a:t>
            </a:r>
          </a:p>
        </p:txBody>
      </p:sp>
      <p:sp>
        <p:nvSpPr>
          <p:cNvPr id="3" name="TextBox 2">
            <a:extLst>
              <a:ext uri="{FF2B5EF4-FFF2-40B4-BE49-F238E27FC236}">
                <a16:creationId xmlns:a16="http://schemas.microsoft.com/office/drawing/2014/main" id="{A5DA0578-FED0-284A-BF63-E158B23596F0}"/>
              </a:ext>
            </a:extLst>
          </p:cNvPr>
          <p:cNvSpPr txBox="1"/>
          <p:nvPr/>
        </p:nvSpPr>
        <p:spPr>
          <a:xfrm>
            <a:off x="3268436" y="2504033"/>
            <a:ext cx="5791200" cy="281288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BD" sz="2400" dirty="0">
                <a:latin typeface="Abadi MT Condensed Light" panose="020B0306030101010103" pitchFamily="34" charset="77"/>
              </a:rPr>
              <a:t>Understand nonverbal communication</a:t>
            </a:r>
          </a:p>
          <a:p>
            <a:pPr marL="285750" indent="-285750">
              <a:lnSpc>
                <a:spcPct val="150000"/>
              </a:lnSpc>
              <a:buFont typeface="Arial" panose="020B0604020202020204" pitchFamily="34" charset="0"/>
              <a:buChar char="•"/>
            </a:pPr>
            <a:r>
              <a:rPr lang="en-BD" sz="2400" dirty="0">
                <a:latin typeface="Abadi MT Condensed Light" panose="020B0306030101010103" pitchFamily="34" charset="77"/>
              </a:rPr>
              <a:t>Identify the </a:t>
            </a:r>
            <a:r>
              <a:rPr lang="en-BD" sz="2400" b="1" dirty="0">
                <a:solidFill>
                  <a:srgbClr val="0070C0"/>
                </a:solidFill>
                <a:latin typeface="Abadi MT Condensed Light" panose="020B0306030101010103" pitchFamily="34" charset="77"/>
              </a:rPr>
              <a:t>4 characteristics of nonverbal communication</a:t>
            </a:r>
          </a:p>
          <a:p>
            <a:pPr marL="285750" indent="-285750">
              <a:lnSpc>
                <a:spcPct val="150000"/>
              </a:lnSpc>
              <a:buFont typeface="Arial" panose="020B0604020202020204" pitchFamily="34" charset="0"/>
              <a:buChar char="•"/>
            </a:pPr>
            <a:r>
              <a:rPr lang="en-GB" sz="2400" dirty="0">
                <a:latin typeface="Abadi MT Condensed Light" panose="020B0306030101010103" pitchFamily="34" charset="77"/>
              </a:rPr>
              <a:t>I</a:t>
            </a:r>
            <a:r>
              <a:rPr lang="en-BD" sz="2400" dirty="0">
                <a:latin typeface="Abadi MT Condensed Light" panose="020B0306030101010103" pitchFamily="34" charset="77"/>
              </a:rPr>
              <a:t>dentify the different types of nonverbal communication: </a:t>
            </a:r>
            <a:r>
              <a:rPr lang="en-BD" sz="2400" b="1" dirty="0">
                <a:solidFill>
                  <a:srgbClr val="0070C0"/>
                </a:solidFill>
                <a:latin typeface="Abadi MT Condensed Light" panose="020B0306030101010103" pitchFamily="34" charset="77"/>
              </a:rPr>
              <a:t>body, voice, appearance</a:t>
            </a:r>
          </a:p>
        </p:txBody>
      </p:sp>
    </p:spTree>
    <p:extLst>
      <p:ext uri="{BB962C8B-B14F-4D97-AF65-F5344CB8AC3E}">
        <p14:creationId xmlns:p14="http://schemas.microsoft.com/office/powerpoint/2010/main" val="2929201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55B5-BF54-9543-9D5B-0CB26356E2EA}"/>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CB813F6F-DFF5-B049-AB25-97C7D6B031E8}"/>
              </a:ext>
            </a:extLst>
          </p:cNvPr>
          <p:cNvPicPr>
            <a:picLocks noGrp="1" noChangeAspect="1"/>
          </p:cNvPicPr>
          <p:nvPr>
            <p:ph idx="1"/>
          </p:nvPr>
        </p:nvPicPr>
        <p:blipFill>
          <a:blip r:embed="rId2"/>
          <a:stretch>
            <a:fillRect/>
          </a:stretch>
        </p:blipFill>
        <p:spPr>
          <a:xfrm>
            <a:off x="0" y="0"/>
            <a:ext cx="12192000" cy="6858000"/>
          </a:xfrm>
        </p:spPr>
      </p:pic>
      <p:sp>
        <p:nvSpPr>
          <p:cNvPr id="6" name="TextBox 5">
            <a:extLst>
              <a:ext uri="{FF2B5EF4-FFF2-40B4-BE49-F238E27FC236}">
                <a16:creationId xmlns:a16="http://schemas.microsoft.com/office/drawing/2014/main" id="{2C23A973-AC4A-7842-9E8A-2C123EC83DEA}"/>
              </a:ext>
            </a:extLst>
          </p:cNvPr>
          <p:cNvSpPr txBox="1"/>
          <p:nvPr/>
        </p:nvSpPr>
        <p:spPr>
          <a:xfrm>
            <a:off x="3243943" y="2893758"/>
            <a:ext cx="5704114" cy="1569660"/>
          </a:xfrm>
          <a:prstGeom prst="rect">
            <a:avLst/>
          </a:prstGeom>
          <a:noFill/>
        </p:spPr>
        <p:txBody>
          <a:bodyPr wrap="square" rtlCol="0">
            <a:spAutoFit/>
          </a:bodyPr>
          <a:lstStyle/>
          <a:p>
            <a:pPr algn="ctr"/>
            <a:r>
              <a:rPr lang="en-BD" sz="4800" dirty="0">
                <a:latin typeface="Marker Felt Thin" panose="02000400000000000000" pitchFamily="2" charset="77"/>
              </a:rPr>
              <a:t>What is nonverbal message?</a:t>
            </a:r>
          </a:p>
        </p:txBody>
      </p:sp>
    </p:spTree>
    <p:extLst>
      <p:ext uri="{BB962C8B-B14F-4D97-AF65-F5344CB8AC3E}">
        <p14:creationId xmlns:p14="http://schemas.microsoft.com/office/powerpoint/2010/main" val="3177636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57F5-900F-EF48-9B52-867104A3F061}"/>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4114089E-137E-ED40-93E9-AB0C8A7CF0F4}"/>
              </a:ext>
            </a:extLst>
          </p:cNvPr>
          <p:cNvPicPr>
            <a:picLocks noGrp="1" noChangeAspect="1"/>
          </p:cNvPicPr>
          <p:nvPr>
            <p:ph idx="1"/>
          </p:nvPr>
        </p:nvPicPr>
        <p:blipFill>
          <a:blip r:embed="rId2"/>
          <a:stretch>
            <a:fillRect/>
          </a:stretch>
        </p:blipFill>
        <p:spPr>
          <a:xfrm>
            <a:off x="-38100" y="-4989"/>
            <a:ext cx="12268200" cy="6858000"/>
          </a:xfrm>
        </p:spPr>
      </p:pic>
      <p:sp>
        <p:nvSpPr>
          <p:cNvPr id="6" name="TextBox 5">
            <a:extLst>
              <a:ext uri="{FF2B5EF4-FFF2-40B4-BE49-F238E27FC236}">
                <a16:creationId xmlns:a16="http://schemas.microsoft.com/office/drawing/2014/main" id="{FD4CB65E-D058-8A4B-96B2-EF2274FC89FD}"/>
              </a:ext>
            </a:extLst>
          </p:cNvPr>
          <p:cNvSpPr txBox="1"/>
          <p:nvPr/>
        </p:nvSpPr>
        <p:spPr>
          <a:xfrm>
            <a:off x="3203123" y="1027906"/>
            <a:ext cx="6517820" cy="584775"/>
          </a:xfrm>
          <a:prstGeom prst="rect">
            <a:avLst/>
          </a:prstGeom>
          <a:noFill/>
        </p:spPr>
        <p:txBody>
          <a:bodyPr wrap="square" rtlCol="0">
            <a:spAutoFit/>
          </a:bodyPr>
          <a:lstStyle/>
          <a:p>
            <a:pPr algn="ctr"/>
            <a:r>
              <a:rPr lang="en-BD" sz="3200" dirty="0">
                <a:latin typeface="Marker Felt Thin" panose="02000400000000000000" pitchFamily="2" charset="77"/>
              </a:rPr>
              <a:t>What is nonverbal message?</a:t>
            </a:r>
          </a:p>
        </p:txBody>
      </p:sp>
      <p:sp>
        <p:nvSpPr>
          <p:cNvPr id="7" name="TextBox 6">
            <a:extLst>
              <a:ext uri="{FF2B5EF4-FFF2-40B4-BE49-F238E27FC236}">
                <a16:creationId xmlns:a16="http://schemas.microsoft.com/office/drawing/2014/main" id="{B5F2927E-3A2E-5747-8501-44D8CD0691DD}"/>
              </a:ext>
            </a:extLst>
          </p:cNvPr>
          <p:cNvSpPr txBox="1"/>
          <p:nvPr/>
        </p:nvSpPr>
        <p:spPr>
          <a:xfrm>
            <a:off x="2242457" y="1612681"/>
            <a:ext cx="8229600" cy="3366819"/>
          </a:xfrm>
          <a:prstGeom prst="rect">
            <a:avLst/>
          </a:prstGeom>
          <a:noFill/>
        </p:spPr>
        <p:txBody>
          <a:bodyPr wrap="square" rtlCol="0">
            <a:spAutoFit/>
          </a:bodyPr>
          <a:lstStyle/>
          <a:p>
            <a:pPr marL="342900" indent="-342900">
              <a:lnSpc>
                <a:spcPct val="150000"/>
              </a:lnSpc>
              <a:buFont typeface="Wingdings" pitchFamily="2" charset="2"/>
              <a:buChar char="§"/>
            </a:pPr>
            <a:r>
              <a:rPr lang="en-GB" sz="2400" dirty="0">
                <a:latin typeface="Abadi MT Condensed Light" panose="020B0306030101010103" pitchFamily="34" charset="77"/>
              </a:rPr>
              <a:t>Communication exchanges are </a:t>
            </a:r>
            <a:r>
              <a:rPr lang="en-GB" sz="2400" b="1" dirty="0">
                <a:solidFill>
                  <a:srgbClr val="0070C0"/>
                </a:solidFill>
                <a:latin typeface="Abadi MT Condensed Light" panose="020B0306030101010103" pitchFamily="34" charset="77"/>
              </a:rPr>
              <a:t>more than verbal messages</a:t>
            </a:r>
            <a:r>
              <a:rPr lang="en-GB" sz="2400" dirty="0">
                <a:latin typeface="Abadi MT Condensed Light" panose="020B0306030101010103" pitchFamily="34" charset="77"/>
              </a:rPr>
              <a:t>. Communication exchanges are </a:t>
            </a:r>
            <a:r>
              <a:rPr lang="en-GB" sz="2400" b="1" dirty="0">
                <a:solidFill>
                  <a:srgbClr val="0070C0"/>
                </a:solidFill>
                <a:latin typeface="Abadi MT Condensed Light" panose="020B0306030101010103" pitchFamily="34" charset="77"/>
              </a:rPr>
              <a:t>also rich in nonverbal communication.</a:t>
            </a:r>
          </a:p>
          <a:p>
            <a:pPr marL="342900" indent="-342900">
              <a:lnSpc>
                <a:spcPct val="150000"/>
              </a:lnSpc>
              <a:buFont typeface="Wingdings" pitchFamily="2" charset="2"/>
              <a:buChar char="§"/>
            </a:pPr>
            <a:r>
              <a:rPr lang="en-GB" sz="2400" dirty="0">
                <a:latin typeface="Abadi MT Condensed Light" panose="020B0306030101010103" pitchFamily="34" charset="77"/>
              </a:rPr>
              <a:t>Nonverbal communication consists of all the messages we send in ways that </a:t>
            </a:r>
            <a:r>
              <a:rPr lang="en-GB" sz="2400" b="1" dirty="0">
                <a:solidFill>
                  <a:srgbClr val="0070C0"/>
                </a:solidFill>
                <a:latin typeface="Abadi MT Condensed Light" panose="020B0306030101010103" pitchFamily="34" charset="77"/>
              </a:rPr>
              <a:t>transcend spoken or written words</a:t>
            </a:r>
            <a:r>
              <a:rPr lang="en-GB" sz="2400" dirty="0">
                <a:latin typeface="Abadi MT Condensed Light" panose="020B0306030101010103" pitchFamily="34" charset="77"/>
              </a:rPr>
              <a:t>. More specifically, nonverbal messages are cues we send </a:t>
            </a:r>
            <a:r>
              <a:rPr lang="en-GB" sz="2400" b="1" dirty="0">
                <a:solidFill>
                  <a:srgbClr val="0070C0"/>
                </a:solidFill>
                <a:latin typeface="Abadi MT Condensed Light" panose="020B0306030101010103" pitchFamily="34" charset="77"/>
              </a:rPr>
              <a:t>with our body, voice and appearance to support, contradict, or even replace a verbal message.</a:t>
            </a:r>
          </a:p>
        </p:txBody>
      </p:sp>
    </p:spTree>
    <p:extLst>
      <p:ext uri="{BB962C8B-B14F-4D97-AF65-F5344CB8AC3E}">
        <p14:creationId xmlns:p14="http://schemas.microsoft.com/office/powerpoint/2010/main" val="3473310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57F5-900F-EF48-9B52-867104A3F061}"/>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4114089E-137E-ED40-93E9-AB0C8A7CF0F4}"/>
              </a:ext>
            </a:extLst>
          </p:cNvPr>
          <p:cNvPicPr>
            <a:picLocks noGrp="1" noChangeAspect="1"/>
          </p:cNvPicPr>
          <p:nvPr>
            <p:ph idx="1"/>
          </p:nvPr>
        </p:nvPicPr>
        <p:blipFill>
          <a:blip r:embed="rId2"/>
          <a:stretch>
            <a:fillRect/>
          </a:stretch>
        </p:blipFill>
        <p:spPr>
          <a:xfrm>
            <a:off x="-38100" y="-4989"/>
            <a:ext cx="12268200" cy="6858000"/>
          </a:xfrm>
        </p:spPr>
      </p:pic>
      <p:sp>
        <p:nvSpPr>
          <p:cNvPr id="6" name="TextBox 5">
            <a:extLst>
              <a:ext uri="{FF2B5EF4-FFF2-40B4-BE49-F238E27FC236}">
                <a16:creationId xmlns:a16="http://schemas.microsoft.com/office/drawing/2014/main" id="{FD4CB65E-D058-8A4B-96B2-EF2274FC89FD}"/>
              </a:ext>
            </a:extLst>
          </p:cNvPr>
          <p:cNvSpPr txBox="1"/>
          <p:nvPr/>
        </p:nvSpPr>
        <p:spPr>
          <a:xfrm>
            <a:off x="3098347" y="842849"/>
            <a:ext cx="6517820" cy="584775"/>
          </a:xfrm>
          <a:prstGeom prst="rect">
            <a:avLst/>
          </a:prstGeom>
          <a:noFill/>
        </p:spPr>
        <p:txBody>
          <a:bodyPr wrap="square" rtlCol="0">
            <a:spAutoFit/>
          </a:bodyPr>
          <a:lstStyle/>
          <a:p>
            <a:pPr algn="ctr"/>
            <a:r>
              <a:rPr lang="en-BD" sz="3200" dirty="0">
                <a:latin typeface="Marker Felt Thin" panose="02000400000000000000" pitchFamily="2" charset="77"/>
              </a:rPr>
              <a:t>What is nonverbal message?</a:t>
            </a:r>
          </a:p>
        </p:txBody>
      </p:sp>
      <p:sp>
        <p:nvSpPr>
          <p:cNvPr id="7" name="TextBox 6">
            <a:extLst>
              <a:ext uri="{FF2B5EF4-FFF2-40B4-BE49-F238E27FC236}">
                <a16:creationId xmlns:a16="http://schemas.microsoft.com/office/drawing/2014/main" id="{B5F2927E-3A2E-5747-8501-44D8CD0691DD}"/>
              </a:ext>
            </a:extLst>
          </p:cNvPr>
          <p:cNvSpPr txBox="1"/>
          <p:nvPr/>
        </p:nvSpPr>
        <p:spPr>
          <a:xfrm>
            <a:off x="2242457" y="1427624"/>
            <a:ext cx="8229600" cy="4474879"/>
          </a:xfrm>
          <a:prstGeom prst="rect">
            <a:avLst/>
          </a:prstGeom>
          <a:noFill/>
        </p:spPr>
        <p:txBody>
          <a:bodyPr wrap="square" rtlCol="0">
            <a:spAutoFit/>
          </a:bodyPr>
          <a:lstStyle/>
          <a:p>
            <a:pPr marL="342900" indent="-342900">
              <a:lnSpc>
                <a:spcPct val="150000"/>
              </a:lnSpc>
              <a:buFont typeface="Wingdings" pitchFamily="2" charset="2"/>
              <a:buChar char="§"/>
            </a:pPr>
            <a:r>
              <a:rPr lang="en-GB" sz="2400" dirty="0">
                <a:latin typeface="Abadi MT Condensed Light" panose="020B0306030101010103" pitchFamily="34" charset="77"/>
              </a:rPr>
              <a:t>Nonverbal messages play an important role in communication. In fact, 65-90% of meaning comes from the nonverbal messages we use to communicate in face-to-face interactions.</a:t>
            </a:r>
          </a:p>
          <a:p>
            <a:pPr marL="342900" indent="-342900">
              <a:lnSpc>
                <a:spcPct val="150000"/>
              </a:lnSpc>
              <a:buFont typeface="Wingdings" pitchFamily="2" charset="2"/>
              <a:buChar char="§"/>
            </a:pPr>
            <a:r>
              <a:rPr lang="en-GB" sz="2400" dirty="0">
                <a:latin typeface="Abadi MT Condensed Light" panose="020B0306030101010103" pitchFamily="34" charset="77"/>
              </a:rPr>
              <a:t>In other words, </a:t>
            </a:r>
            <a:r>
              <a:rPr lang="en-GB" sz="2400" b="1" dirty="0">
                <a:solidFill>
                  <a:srgbClr val="7030A0"/>
                </a:solidFill>
                <a:latin typeface="Abadi MT Condensed Light" panose="020B0306030101010103" pitchFamily="34" charset="77"/>
              </a:rPr>
              <a:t>the meaning we assign to any utterance is based on our interpretation of both the verbal and the nonverbal messages that accompany it. </a:t>
            </a:r>
          </a:p>
          <a:p>
            <a:pPr marL="342900" indent="-342900">
              <a:lnSpc>
                <a:spcPct val="150000"/>
              </a:lnSpc>
              <a:buFont typeface="Wingdings" pitchFamily="2" charset="2"/>
              <a:buChar char="§"/>
            </a:pPr>
            <a:r>
              <a:rPr lang="en-GB" sz="2400" dirty="0">
                <a:latin typeface="Abadi MT Condensed Light" panose="020B0306030101010103" pitchFamily="34" charset="77"/>
              </a:rPr>
              <a:t>Interpreting nonverbal messages accurately is </a:t>
            </a:r>
            <a:r>
              <a:rPr lang="en-GB" sz="2400" b="1" dirty="0">
                <a:solidFill>
                  <a:srgbClr val="0070C0"/>
                </a:solidFill>
                <a:latin typeface="Abadi MT Condensed Light" panose="020B0306030101010103" pitchFamily="34" charset="77"/>
              </a:rPr>
              <a:t>critical to understanding and responding appropriately to what others are saying.</a:t>
            </a:r>
          </a:p>
        </p:txBody>
      </p:sp>
    </p:spTree>
    <p:extLst>
      <p:ext uri="{BB962C8B-B14F-4D97-AF65-F5344CB8AC3E}">
        <p14:creationId xmlns:p14="http://schemas.microsoft.com/office/powerpoint/2010/main" val="3590969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6282E-8BF8-1949-AF8A-771CF46F17AD}"/>
              </a:ext>
            </a:extLst>
          </p:cNvPr>
          <p:cNvSpPr>
            <a:spLocks noGrp="1"/>
          </p:cNvSpPr>
          <p:nvPr>
            <p:ph type="ctrTitle"/>
          </p:nvPr>
        </p:nvSpPr>
        <p:spPr/>
        <p:txBody>
          <a:bodyPr/>
          <a:lstStyle/>
          <a:p>
            <a:endParaRPr lang="en-BD"/>
          </a:p>
        </p:txBody>
      </p:sp>
      <p:sp>
        <p:nvSpPr>
          <p:cNvPr id="3" name="Subtitle 2">
            <a:extLst>
              <a:ext uri="{FF2B5EF4-FFF2-40B4-BE49-F238E27FC236}">
                <a16:creationId xmlns:a16="http://schemas.microsoft.com/office/drawing/2014/main" id="{C5DE8107-6EF6-BA44-8F8D-50735D8DE0E6}"/>
              </a:ext>
            </a:extLst>
          </p:cNvPr>
          <p:cNvSpPr>
            <a:spLocks noGrp="1"/>
          </p:cNvSpPr>
          <p:nvPr>
            <p:ph type="subTitle" idx="1"/>
          </p:nvPr>
        </p:nvSpPr>
        <p:spPr/>
        <p:txBody>
          <a:bodyPr/>
          <a:lstStyle/>
          <a:p>
            <a:endParaRPr lang="en-BD"/>
          </a:p>
        </p:txBody>
      </p:sp>
      <p:pic>
        <p:nvPicPr>
          <p:cNvPr id="5" name="Picture 4">
            <a:extLst>
              <a:ext uri="{FF2B5EF4-FFF2-40B4-BE49-F238E27FC236}">
                <a16:creationId xmlns:a16="http://schemas.microsoft.com/office/drawing/2014/main" id="{4E617E88-D023-4643-B4F7-198A363B35CC}"/>
              </a:ext>
            </a:extLst>
          </p:cNvPr>
          <p:cNvPicPr>
            <a:picLocks noChangeAspect="1"/>
          </p:cNvPicPr>
          <p:nvPr/>
        </p:nvPicPr>
        <p:blipFill>
          <a:blip r:embed="rId2"/>
          <a:stretch>
            <a:fillRect/>
          </a:stretch>
        </p:blipFill>
        <p:spPr>
          <a:xfrm>
            <a:off x="0" y="0"/>
            <a:ext cx="12192000" cy="6858000"/>
          </a:xfrm>
          <a:prstGeom prst="rect">
            <a:avLst/>
          </a:prstGeom>
        </p:spPr>
      </p:pic>
      <p:pic>
        <p:nvPicPr>
          <p:cNvPr id="7" name="Content Placeholder 4">
            <a:extLst>
              <a:ext uri="{FF2B5EF4-FFF2-40B4-BE49-F238E27FC236}">
                <a16:creationId xmlns:a16="http://schemas.microsoft.com/office/drawing/2014/main" id="{08F7325F-6140-6F40-84F0-B42F4A39D401}"/>
              </a:ext>
            </a:extLst>
          </p:cNvPr>
          <p:cNvPicPr>
            <a:picLocks noChangeAspect="1"/>
          </p:cNvPicPr>
          <p:nvPr/>
        </p:nvPicPr>
        <p:blipFill>
          <a:blip r:embed="rId3"/>
          <a:stretch>
            <a:fillRect/>
          </a:stretch>
        </p:blipFill>
        <p:spPr>
          <a:xfrm>
            <a:off x="2286000" y="592112"/>
            <a:ext cx="7620000" cy="4800600"/>
          </a:xfrm>
          <a:prstGeom prst="rect">
            <a:avLst/>
          </a:prstGeom>
        </p:spPr>
      </p:pic>
      <p:sp>
        <p:nvSpPr>
          <p:cNvPr id="4" name="TextBox 3">
            <a:extLst>
              <a:ext uri="{FF2B5EF4-FFF2-40B4-BE49-F238E27FC236}">
                <a16:creationId xmlns:a16="http://schemas.microsoft.com/office/drawing/2014/main" id="{23C89398-54D2-4D44-A225-32E4959D7274}"/>
              </a:ext>
            </a:extLst>
          </p:cNvPr>
          <p:cNvSpPr txBox="1"/>
          <p:nvPr/>
        </p:nvSpPr>
        <p:spPr>
          <a:xfrm>
            <a:off x="2982685" y="5392712"/>
            <a:ext cx="6226629" cy="984885"/>
          </a:xfrm>
          <a:prstGeom prst="rect">
            <a:avLst/>
          </a:prstGeom>
          <a:solidFill>
            <a:schemeClr val="bg1"/>
          </a:solidFill>
        </p:spPr>
        <p:txBody>
          <a:bodyPr wrap="square" rtlCol="0">
            <a:spAutoFit/>
          </a:bodyPr>
          <a:lstStyle/>
          <a:p>
            <a:r>
              <a:rPr lang="en-GB" sz="2000" b="0" i="0" dirty="0">
                <a:effectLst/>
                <a:latin typeface="Abadi MT Condensed Light" panose="020B0306030101010103" pitchFamily="34" charset="77"/>
              </a:rPr>
              <a:t>Even though we don’t know what this person is speaking about, we can see his enthusiasm and engagement through his body language</a:t>
            </a:r>
            <a:endParaRPr lang="en-BD" sz="2000" dirty="0">
              <a:latin typeface="Abadi MT Condensed Light" panose="020B0306030101010103" pitchFamily="34" charset="77"/>
            </a:endParaRPr>
          </a:p>
          <a:p>
            <a:endParaRPr lang="en-BD" dirty="0"/>
          </a:p>
        </p:txBody>
      </p:sp>
    </p:spTree>
    <p:extLst>
      <p:ext uri="{BB962C8B-B14F-4D97-AF65-F5344CB8AC3E}">
        <p14:creationId xmlns:p14="http://schemas.microsoft.com/office/powerpoint/2010/main" val="2094965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55B5-BF54-9543-9D5B-0CB26356E2EA}"/>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CB813F6F-DFF5-B049-AB25-97C7D6B031E8}"/>
              </a:ext>
            </a:extLst>
          </p:cNvPr>
          <p:cNvPicPr>
            <a:picLocks noGrp="1" noChangeAspect="1"/>
          </p:cNvPicPr>
          <p:nvPr>
            <p:ph idx="1"/>
          </p:nvPr>
        </p:nvPicPr>
        <p:blipFill>
          <a:blip r:embed="rId2"/>
          <a:stretch>
            <a:fillRect/>
          </a:stretch>
        </p:blipFill>
        <p:spPr>
          <a:xfrm>
            <a:off x="0" y="0"/>
            <a:ext cx="12192000" cy="6858000"/>
          </a:xfrm>
        </p:spPr>
      </p:pic>
      <p:sp>
        <p:nvSpPr>
          <p:cNvPr id="6" name="TextBox 5">
            <a:extLst>
              <a:ext uri="{FF2B5EF4-FFF2-40B4-BE49-F238E27FC236}">
                <a16:creationId xmlns:a16="http://schemas.microsoft.com/office/drawing/2014/main" id="{2C23A973-AC4A-7842-9E8A-2C123EC83DEA}"/>
              </a:ext>
            </a:extLst>
          </p:cNvPr>
          <p:cNvSpPr txBox="1"/>
          <p:nvPr/>
        </p:nvSpPr>
        <p:spPr>
          <a:xfrm>
            <a:off x="3507921" y="2631852"/>
            <a:ext cx="5176158" cy="1446550"/>
          </a:xfrm>
          <a:prstGeom prst="rect">
            <a:avLst/>
          </a:prstGeom>
          <a:noFill/>
        </p:spPr>
        <p:txBody>
          <a:bodyPr wrap="square" rtlCol="0">
            <a:spAutoFit/>
          </a:bodyPr>
          <a:lstStyle/>
          <a:p>
            <a:pPr algn="ctr"/>
            <a:r>
              <a:rPr lang="en-BD" sz="4400" dirty="0">
                <a:latin typeface="Marker Felt Thin" panose="02000400000000000000" pitchFamily="2" charset="77"/>
              </a:rPr>
              <a:t>Types of Nonverbal Communication</a:t>
            </a:r>
          </a:p>
        </p:txBody>
      </p:sp>
    </p:spTree>
    <p:extLst>
      <p:ext uri="{BB962C8B-B14F-4D97-AF65-F5344CB8AC3E}">
        <p14:creationId xmlns:p14="http://schemas.microsoft.com/office/powerpoint/2010/main" val="1793706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6282E-8BF8-1949-AF8A-771CF46F17AD}"/>
              </a:ext>
            </a:extLst>
          </p:cNvPr>
          <p:cNvSpPr>
            <a:spLocks noGrp="1"/>
          </p:cNvSpPr>
          <p:nvPr>
            <p:ph type="ctrTitle"/>
          </p:nvPr>
        </p:nvSpPr>
        <p:spPr/>
        <p:txBody>
          <a:bodyPr/>
          <a:lstStyle/>
          <a:p>
            <a:endParaRPr lang="en-BD"/>
          </a:p>
        </p:txBody>
      </p:sp>
      <p:sp>
        <p:nvSpPr>
          <p:cNvPr id="3" name="Subtitle 2">
            <a:extLst>
              <a:ext uri="{FF2B5EF4-FFF2-40B4-BE49-F238E27FC236}">
                <a16:creationId xmlns:a16="http://schemas.microsoft.com/office/drawing/2014/main" id="{C5DE8107-6EF6-BA44-8F8D-50735D8DE0E6}"/>
              </a:ext>
            </a:extLst>
          </p:cNvPr>
          <p:cNvSpPr>
            <a:spLocks noGrp="1"/>
          </p:cNvSpPr>
          <p:nvPr>
            <p:ph type="subTitle" idx="1"/>
          </p:nvPr>
        </p:nvSpPr>
        <p:spPr/>
        <p:txBody>
          <a:bodyPr/>
          <a:lstStyle/>
          <a:p>
            <a:endParaRPr lang="en-BD"/>
          </a:p>
        </p:txBody>
      </p:sp>
      <p:pic>
        <p:nvPicPr>
          <p:cNvPr id="5" name="Picture 4">
            <a:extLst>
              <a:ext uri="{FF2B5EF4-FFF2-40B4-BE49-F238E27FC236}">
                <a16:creationId xmlns:a16="http://schemas.microsoft.com/office/drawing/2014/main" id="{4E617E88-D023-4643-B4F7-198A363B35CC}"/>
              </a:ext>
            </a:extLst>
          </p:cNvPr>
          <p:cNvPicPr>
            <a:picLocks noChangeAspect="1"/>
          </p:cNvPicPr>
          <p:nvPr/>
        </p:nvPicPr>
        <p:blipFill>
          <a:blip r:embed="rId2"/>
          <a:stretch>
            <a:fillRect/>
          </a:stretch>
        </p:blipFill>
        <p:spPr>
          <a:xfrm>
            <a:off x="0" y="0"/>
            <a:ext cx="12192000" cy="6858000"/>
          </a:xfrm>
          <a:prstGeom prst="rect">
            <a:avLst/>
          </a:prstGeom>
        </p:spPr>
      </p:pic>
      <p:sp>
        <p:nvSpPr>
          <p:cNvPr id="8" name="Oval 7">
            <a:extLst>
              <a:ext uri="{FF2B5EF4-FFF2-40B4-BE49-F238E27FC236}">
                <a16:creationId xmlns:a16="http://schemas.microsoft.com/office/drawing/2014/main" id="{19D4FB3F-4811-7C40-8B62-5CDCA3AD0CEF}"/>
              </a:ext>
            </a:extLst>
          </p:cNvPr>
          <p:cNvSpPr/>
          <p:nvPr/>
        </p:nvSpPr>
        <p:spPr>
          <a:xfrm>
            <a:off x="4506686" y="1753135"/>
            <a:ext cx="2928246" cy="20889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BD" sz="2400" dirty="0">
                <a:latin typeface="Marker Felt Thin" panose="02000400000000000000" pitchFamily="2" charset="77"/>
              </a:rPr>
              <a:t>Types of Nonverbal Communication</a:t>
            </a:r>
          </a:p>
          <a:p>
            <a:pPr algn="ctr"/>
            <a:endParaRPr lang="en-BD" dirty="0"/>
          </a:p>
        </p:txBody>
      </p:sp>
      <p:cxnSp>
        <p:nvCxnSpPr>
          <p:cNvPr id="10" name="Straight Arrow Connector 9">
            <a:extLst>
              <a:ext uri="{FF2B5EF4-FFF2-40B4-BE49-F238E27FC236}">
                <a16:creationId xmlns:a16="http://schemas.microsoft.com/office/drawing/2014/main" id="{080A93D1-AFAC-544F-AEAB-8343E5D7C56D}"/>
              </a:ext>
            </a:extLst>
          </p:cNvPr>
          <p:cNvCxnSpPr>
            <a:cxnSpLocks/>
          </p:cNvCxnSpPr>
          <p:nvPr/>
        </p:nvCxnSpPr>
        <p:spPr>
          <a:xfrm flipV="1">
            <a:off x="7554686" y="3450855"/>
            <a:ext cx="1015384" cy="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3333081E-DAE8-914A-896B-5F6309CD9AAD}"/>
              </a:ext>
            </a:extLst>
          </p:cNvPr>
          <p:cNvCxnSpPr>
            <a:cxnSpLocks/>
          </p:cNvCxnSpPr>
          <p:nvPr/>
        </p:nvCxnSpPr>
        <p:spPr>
          <a:xfrm>
            <a:off x="5949038" y="3978755"/>
            <a:ext cx="0" cy="83948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B334A198-93D8-A542-8590-46A7145D3A8B}"/>
              </a:ext>
            </a:extLst>
          </p:cNvPr>
          <p:cNvCxnSpPr>
            <a:cxnSpLocks/>
          </p:cNvCxnSpPr>
          <p:nvPr/>
        </p:nvCxnSpPr>
        <p:spPr>
          <a:xfrm flipH="1" flipV="1">
            <a:off x="3508213" y="3428999"/>
            <a:ext cx="998473" cy="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6" name="Oval 15">
            <a:extLst>
              <a:ext uri="{FF2B5EF4-FFF2-40B4-BE49-F238E27FC236}">
                <a16:creationId xmlns:a16="http://schemas.microsoft.com/office/drawing/2014/main" id="{B362B9E9-450B-8944-838A-28F4020A4BD2}"/>
              </a:ext>
            </a:extLst>
          </p:cNvPr>
          <p:cNvSpPr/>
          <p:nvPr/>
        </p:nvSpPr>
        <p:spPr>
          <a:xfrm>
            <a:off x="9018809" y="2868908"/>
            <a:ext cx="1943105" cy="133297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BD" sz="2000" b="1" dirty="0">
                <a:latin typeface="Abadi MT Condensed Light" panose="020B0306030101010103" pitchFamily="34" charset="77"/>
              </a:rPr>
              <a:t>Use of Body </a:t>
            </a:r>
          </a:p>
          <a:p>
            <a:pPr algn="ctr"/>
            <a:r>
              <a:rPr lang="en-BD" sz="2000" b="1" dirty="0">
                <a:latin typeface="Abadi MT Condensed Light" panose="020B0306030101010103" pitchFamily="34" charset="77"/>
              </a:rPr>
              <a:t>(Kinesics)</a:t>
            </a:r>
          </a:p>
        </p:txBody>
      </p:sp>
      <p:sp>
        <p:nvSpPr>
          <p:cNvPr id="17" name="Oval 16">
            <a:extLst>
              <a:ext uri="{FF2B5EF4-FFF2-40B4-BE49-F238E27FC236}">
                <a16:creationId xmlns:a16="http://schemas.microsoft.com/office/drawing/2014/main" id="{A8C547F6-86F6-9741-AAF5-A450C85D2197}"/>
              </a:ext>
            </a:extLst>
          </p:cNvPr>
          <p:cNvSpPr/>
          <p:nvPr/>
        </p:nvSpPr>
        <p:spPr>
          <a:xfrm>
            <a:off x="4733926" y="5078311"/>
            <a:ext cx="2223403" cy="133297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BD" sz="2000" b="1" dirty="0">
                <a:latin typeface="Abadi MT Condensed Light" panose="020B0306030101010103" pitchFamily="34" charset="77"/>
              </a:rPr>
              <a:t>Voice (Paralanguage)</a:t>
            </a:r>
          </a:p>
        </p:txBody>
      </p:sp>
      <p:sp>
        <p:nvSpPr>
          <p:cNvPr id="18" name="Oval 17">
            <a:extLst>
              <a:ext uri="{FF2B5EF4-FFF2-40B4-BE49-F238E27FC236}">
                <a16:creationId xmlns:a16="http://schemas.microsoft.com/office/drawing/2014/main" id="{48F326FA-FC40-9441-B379-9E32787FFE7A}"/>
              </a:ext>
            </a:extLst>
          </p:cNvPr>
          <p:cNvSpPr/>
          <p:nvPr/>
        </p:nvSpPr>
        <p:spPr>
          <a:xfrm>
            <a:off x="1654629" y="2797595"/>
            <a:ext cx="1793708" cy="133297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BD" sz="2000" b="1" dirty="0">
                <a:latin typeface="Abadi MT Condensed Light" panose="020B0306030101010103" pitchFamily="34" charset="77"/>
              </a:rPr>
              <a:t>Physical</a:t>
            </a:r>
          </a:p>
          <a:p>
            <a:pPr algn="ctr"/>
            <a:r>
              <a:rPr lang="en-BD" sz="2000" b="1" dirty="0">
                <a:latin typeface="Abadi MT Condensed Light" panose="020B0306030101010103" pitchFamily="34" charset="77"/>
              </a:rPr>
              <a:t>Appearance</a:t>
            </a:r>
          </a:p>
        </p:txBody>
      </p:sp>
    </p:spTree>
    <p:extLst>
      <p:ext uri="{BB962C8B-B14F-4D97-AF65-F5344CB8AC3E}">
        <p14:creationId xmlns:p14="http://schemas.microsoft.com/office/powerpoint/2010/main" val="2057086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6282E-8BF8-1949-AF8A-771CF46F17AD}"/>
              </a:ext>
            </a:extLst>
          </p:cNvPr>
          <p:cNvSpPr>
            <a:spLocks noGrp="1"/>
          </p:cNvSpPr>
          <p:nvPr>
            <p:ph type="ctrTitle"/>
          </p:nvPr>
        </p:nvSpPr>
        <p:spPr/>
        <p:txBody>
          <a:bodyPr/>
          <a:lstStyle/>
          <a:p>
            <a:endParaRPr lang="en-BD"/>
          </a:p>
        </p:txBody>
      </p:sp>
      <p:sp>
        <p:nvSpPr>
          <p:cNvPr id="3" name="Subtitle 2">
            <a:extLst>
              <a:ext uri="{FF2B5EF4-FFF2-40B4-BE49-F238E27FC236}">
                <a16:creationId xmlns:a16="http://schemas.microsoft.com/office/drawing/2014/main" id="{C5DE8107-6EF6-BA44-8F8D-50735D8DE0E6}"/>
              </a:ext>
            </a:extLst>
          </p:cNvPr>
          <p:cNvSpPr>
            <a:spLocks noGrp="1"/>
          </p:cNvSpPr>
          <p:nvPr>
            <p:ph type="subTitle" idx="1"/>
          </p:nvPr>
        </p:nvSpPr>
        <p:spPr/>
        <p:txBody>
          <a:bodyPr/>
          <a:lstStyle/>
          <a:p>
            <a:endParaRPr lang="en-BD"/>
          </a:p>
        </p:txBody>
      </p:sp>
      <p:pic>
        <p:nvPicPr>
          <p:cNvPr id="5" name="Picture 4">
            <a:extLst>
              <a:ext uri="{FF2B5EF4-FFF2-40B4-BE49-F238E27FC236}">
                <a16:creationId xmlns:a16="http://schemas.microsoft.com/office/drawing/2014/main" id="{4E617E88-D023-4643-B4F7-198A363B35CC}"/>
              </a:ext>
            </a:extLst>
          </p:cNvPr>
          <p:cNvPicPr>
            <a:picLocks noChangeAspect="1"/>
          </p:cNvPicPr>
          <p:nvPr/>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62F42A74-DA85-974D-825D-E6A407E0A3D0}"/>
              </a:ext>
            </a:extLst>
          </p:cNvPr>
          <p:cNvSpPr txBox="1"/>
          <p:nvPr/>
        </p:nvSpPr>
        <p:spPr>
          <a:xfrm>
            <a:off x="3443125" y="2586633"/>
            <a:ext cx="5305749" cy="1754326"/>
          </a:xfrm>
          <a:prstGeom prst="rect">
            <a:avLst/>
          </a:prstGeom>
          <a:noFill/>
        </p:spPr>
        <p:txBody>
          <a:bodyPr wrap="square" rtlCol="0">
            <a:spAutoFit/>
          </a:bodyPr>
          <a:lstStyle/>
          <a:p>
            <a:pPr algn="ctr"/>
            <a:r>
              <a:rPr lang="en-BD" sz="5400" dirty="0">
                <a:latin typeface="Marker Felt Thin" panose="02000400000000000000" pitchFamily="2" charset="77"/>
              </a:rPr>
              <a:t>Use of Body: Kinesics</a:t>
            </a:r>
          </a:p>
        </p:txBody>
      </p:sp>
    </p:spTree>
    <p:extLst>
      <p:ext uri="{BB962C8B-B14F-4D97-AF65-F5344CB8AC3E}">
        <p14:creationId xmlns:p14="http://schemas.microsoft.com/office/powerpoint/2010/main" val="331224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57F5-900F-EF48-9B52-867104A3F061}"/>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4114089E-137E-ED40-93E9-AB0C8A7CF0F4}"/>
              </a:ext>
            </a:extLst>
          </p:cNvPr>
          <p:cNvPicPr>
            <a:picLocks noGrp="1" noChangeAspect="1"/>
          </p:cNvPicPr>
          <p:nvPr>
            <p:ph idx="1"/>
          </p:nvPr>
        </p:nvPicPr>
        <p:blipFill>
          <a:blip r:embed="rId2"/>
          <a:stretch>
            <a:fillRect/>
          </a:stretch>
        </p:blipFill>
        <p:spPr>
          <a:xfrm>
            <a:off x="-38100" y="0"/>
            <a:ext cx="12268200" cy="6858000"/>
          </a:xfrm>
        </p:spPr>
      </p:pic>
      <p:sp>
        <p:nvSpPr>
          <p:cNvPr id="6" name="TextBox 5">
            <a:extLst>
              <a:ext uri="{FF2B5EF4-FFF2-40B4-BE49-F238E27FC236}">
                <a16:creationId xmlns:a16="http://schemas.microsoft.com/office/drawing/2014/main" id="{FD4CB65E-D058-8A4B-96B2-EF2274FC89FD}"/>
              </a:ext>
            </a:extLst>
          </p:cNvPr>
          <p:cNvSpPr txBox="1"/>
          <p:nvPr/>
        </p:nvSpPr>
        <p:spPr>
          <a:xfrm>
            <a:off x="3614057" y="195451"/>
            <a:ext cx="5573485" cy="584775"/>
          </a:xfrm>
          <a:prstGeom prst="rect">
            <a:avLst/>
          </a:prstGeom>
          <a:noFill/>
        </p:spPr>
        <p:txBody>
          <a:bodyPr wrap="square" rtlCol="0">
            <a:spAutoFit/>
          </a:bodyPr>
          <a:lstStyle/>
          <a:p>
            <a:pPr algn="ctr"/>
            <a:r>
              <a:rPr lang="en-BD" sz="3200" dirty="0">
                <a:latin typeface="Marker Felt Thin" panose="02000400000000000000" pitchFamily="2" charset="77"/>
              </a:rPr>
              <a:t>Use of Body: Kinesics</a:t>
            </a:r>
          </a:p>
        </p:txBody>
      </p:sp>
      <p:sp>
        <p:nvSpPr>
          <p:cNvPr id="7" name="TextBox 6">
            <a:extLst>
              <a:ext uri="{FF2B5EF4-FFF2-40B4-BE49-F238E27FC236}">
                <a16:creationId xmlns:a16="http://schemas.microsoft.com/office/drawing/2014/main" id="{B5F2927E-3A2E-5747-8501-44D8CD0691DD}"/>
              </a:ext>
            </a:extLst>
          </p:cNvPr>
          <p:cNvSpPr txBox="1"/>
          <p:nvPr/>
        </p:nvSpPr>
        <p:spPr>
          <a:xfrm>
            <a:off x="2084613" y="860601"/>
            <a:ext cx="8632372" cy="5385385"/>
          </a:xfrm>
          <a:prstGeom prst="rect">
            <a:avLst/>
          </a:prstGeom>
          <a:noFill/>
        </p:spPr>
        <p:txBody>
          <a:bodyPr wrap="square" rtlCol="0">
            <a:spAutoFit/>
          </a:bodyPr>
          <a:lstStyle/>
          <a:p>
            <a:pPr>
              <a:lnSpc>
                <a:spcPct val="150000"/>
              </a:lnSpc>
            </a:pPr>
            <a:r>
              <a:rPr lang="en-GB" sz="1900" b="1" dirty="0">
                <a:solidFill>
                  <a:srgbClr val="C00000"/>
                </a:solidFill>
                <a:latin typeface="Abadi MT Condensed Light" panose="020B0306030101010103" pitchFamily="34" charset="77"/>
              </a:rPr>
              <a:t>Kinesics</a:t>
            </a:r>
            <a:r>
              <a:rPr lang="en-GB" sz="1900" dirty="0">
                <a:latin typeface="Abadi MT Condensed Light" panose="020B0306030101010103" pitchFamily="34" charset="77"/>
              </a:rPr>
              <a:t> is the technical name for </a:t>
            </a:r>
            <a:r>
              <a:rPr lang="en-GB" sz="1900" b="1" dirty="0">
                <a:solidFill>
                  <a:srgbClr val="0070C0"/>
                </a:solidFill>
                <a:latin typeface="Abadi MT Condensed Light" panose="020B0306030101010103" pitchFamily="34" charset="77"/>
              </a:rPr>
              <a:t>what and how body motions communicate</a:t>
            </a:r>
            <a:r>
              <a:rPr lang="en-GB" sz="1900" dirty="0">
                <a:latin typeface="Abadi MT Condensed Light" panose="020B0306030101010103" pitchFamily="34" charset="77"/>
              </a:rPr>
              <a:t>. We may use </a:t>
            </a:r>
            <a:r>
              <a:rPr lang="en-GB" sz="1900" b="1" dirty="0">
                <a:solidFill>
                  <a:srgbClr val="0070C0"/>
                </a:solidFill>
                <a:latin typeface="Abadi MT Condensed Light" panose="020B0306030101010103" pitchFamily="34" charset="77"/>
              </a:rPr>
              <a:t>gestures, eye contact, facial expressions, posture and body movement. </a:t>
            </a:r>
            <a:r>
              <a:rPr lang="en-GB" sz="1900" dirty="0">
                <a:latin typeface="Abadi MT Condensed Light" panose="020B0306030101010103" pitchFamily="34" charset="77"/>
              </a:rPr>
              <a:t>It looks at how things like posture, hand movements, eye contact, and facial expressions contribute to communication. Kinesics plays </a:t>
            </a:r>
            <a:r>
              <a:rPr lang="en-GB" sz="1900" b="1" dirty="0">
                <a:solidFill>
                  <a:srgbClr val="0070C0"/>
                </a:solidFill>
                <a:latin typeface="Abadi MT Condensed Light" panose="020B0306030101010103" pitchFamily="34" charset="77"/>
              </a:rPr>
              <a:t>a huge role in public speaking because it can either enhance or undermine your message.</a:t>
            </a:r>
          </a:p>
          <a:p>
            <a:pPr>
              <a:lnSpc>
                <a:spcPct val="150000"/>
              </a:lnSpc>
            </a:pPr>
            <a:endParaRPr lang="en-GB" sz="1900" dirty="0">
              <a:latin typeface="Abadi MT Condensed Light" panose="020B0306030101010103" pitchFamily="34" charset="77"/>
            </a:endParaRPr>
          </a:p>
          <a:p>
            <a:pPr>
              <a:lnSpc>
                <a:spcPct val="150000"/>
              </a:lnSpc>
            </a:pPr>
            <a:r>
              <a:rPr lang="en-GB" sz="2200" b="1" dirty="0">
                <a:solidFill>
                  <a:srgbClr val="C00000"/>
                </a:solidFill>
                <a:latin typeface="Abadi MT Condensed Light" panose="020B0306030101010103" pitchFamily="34" charset="77"/>
              </a:rPr>
              <a:t>Gestures </a:t>
            </a:r>
            <a:r>
              <a:rPr lang="en-GB" sz="1900" dirty="0">
                <a:latin typeface="Abadi MT Condensed Light" panose="020B0306030101010103" pitchFamily="34" charset="77"/>
              </a:rPr>
              <a:t>- Gestures are the </a:t>
            </a:r>
            <a:r>
              <a:rPr lang="en-GB" sz="1900" b="1" dirty="0">
                <a:solidFill>
                  <a:srgbClr val="7030A0"/>
                </a:solidFill>
                <a:latin typeface="Abadi MT Condensed Light" panose="020B0306030101010103" pitchFamily="34" charset="77"/>
              </a:rPr>
              <a:t>movements of our hands, arms, and fingers to accompany or replace a verbal message. </a:t>
            </a:r>
            <a:r>
              <a:rPr lang="en-GB" sz="1900" b="1" dirty="0">
                <a:solidFill>
                  <a:srgbClr val="0070C0"/>
                </a:solidFill>
                <a:latin typeface="Abadi MT Condensed Light" panose="020B0306030101010103" pitchFamily="34" charset="77"/>
              </a:rPr>
              <a:t>You can use gestures when delivering speeches to describe or emphasize what you are saying or refer to presentational aids. </a:t>
            </a:r>
            <a:r>
              <a:rPr lang="en-GB" sz="1900" dirty="0">
                <a:latin typeface="Abadi MT Condensed Light" panose="020B0306030101010103" pitchFamily="34" charset="77"/>
                <a:ea typeface="Times New Roman" panose="02020603050405020304" pitchFamily="18" charset="0"/>
              </a:rPr>
              <a:t>H</a:t>
            </a:r>
            <a:r>
              <a:rPr lang="en-GB" sz="1900" dirty="0">
                <a:effectLst/>
                <a:latin typeface="Abadi MT Condensed Light" panose="020B0306030101010103" pitchFamily="34" charset="77"/>
                <a:ea typeface="Times New Roman" panose="02020603050405020304" pitchFamily="18" charset="0"/>
              </a:rPr>
              <a:t>and gestures can help emphasize points and keep the audience engaged.</a:t>
            </a:r>
            <a:r>
              <a:rPr lang="en-BD" sz="1900" dirty="0">
                <a:latin typeface="Abadi MT Condensed Light" panose="020B0306030101010103" pitchFamily="34" charset="77"/>
                <a:ea typeface="Times New Roman" panose="02020603050405020304" pitchFamily="18" charset="0"/>
              </a:rPr>
              <a:t> </a:t>
            </a:r>
            <a:r>
              <a:rPr lang="en-BD" sz="1900" dirty="0">
                <a:effectLst/>
                <a:latin typeface="Abadi MT Condensed Light" panose="020B0306030101010103" pitchFamily="34" charset="77"/>
                <a:ea typeface="Times New Roman" panose="02020603050405020304" pitchFamily="18" charset="0"/>
              </a:rPr>
              <a:t>Just as we rehearse our words for the best effect possible, we also need to think about and practice </a:t>
            </a:r>
            <a:r>
              <a:rPr lang="en-BD" sz="1900" b="1" dirty="0">
                <a:solidFill>
                  <a:srgbClr val="7030A0"/>
                </a:solidFill>
                <a:effectLst/>
                <a:latin typeface="Abadi MT Condensed Light" panose="020B0306030101010103" pitchFamily="34" charset="77"/>
                <a:ea typeface="Times New Roman" panose="02020603050405020304" pitchFamily="18" charset="0"/>
              </a:rPr>
              <a:t>gestures that will convey the meanings and emotions that we intend.</a:t>
            </a:r>
            <a:r>
              <a:rPr lang="en-BD" sz="1900" dirty="0">
                <a:effectLst/>
                <a:latin typeface="Abadi MT Condensed Light" panose="020B0306030101010103" pitchFamily="34" charset="77"/>
                <a:ea typeface="Times New Roman" panose="02020603050405020304" pitchFamily="18" charset="0"/>
              </a:rPr>
              <a:t> The best gestures to use are ones </a:t>
            </a:r>
            <a:r>
              <a:rPr lang="en-BD" sz="1900" b="1" dirty="0">
                <a:solidFill>
                  <a:srgbClr val="0070C0"/>
                </a:solidFill>
                <a:effectLst/>
                <a:latin typeface="Abadi MT Condensed Light" panose="020B0306030101010103" pitchFamily="34" charset="77"/>
                <a:ea typeface="Times New Roman" panose="02020603050405020304" pitchFamily="18" charset="0"/>
              </a:rPr>
              <a:t>that are natural and that emphasize what you’re saying. </a:t>
            </a:r>
            <a:r>
              <a:rPr lang="en-BD" sz="1900" dirty="0">
                <a:effectLst/>
                <a:latin typeface="Abadi MT Condensed Light" panose="020B0306030101010103" pitchFamily="34" charset="77"/>
                <a:ea typeface="Times New Roman" panose="02020603050405020304" pitchFamily="18" charset="0"/>
              </a:rPr>
              <a:t>Avoid gestures that distract the audience or change the meaning of your words. </a:t>
            </a:r>
            <a:endParaRPr lang="en-GB" sz="1900" dirty="0">
              <a:latin typeface="Abadi MT Condensed Light" panose="020B0306030101010103" pitchFamily="34" charset="77"/>
            </a:endParaRPr>
          </a:p>
        </p:txBody>
      </p:sp>
    </p:spTree>
    <p:extLst>
      <p:ext uri="{BB962C8B-B14F-4D97-AF65-F5344CB8AC3E}">
        <p14:creationId xmlns:p14="http://schemas.microsoft.com/office/powerpoint/2010/main" val="2049982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57F5-900F-EF48-9B52-867104A3F061}"/>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4114089E-137E-ED40-93E9-AB0C8A7CF0F4}"/>
              </a:ext>
            </a:extLst>
          </p:cNvPr>
          <p:cNvPicPr>
            <a:picLocks noGrp="1" noChangeAspect="1"/>
          </p:cNvPicPr>
          <p:nvPr>
            <p:ph idx="1"/>
          </p:nvPr>
        </p:nvPicPr>
        <p:blipFill>
          <a:blip r:embed="rId2"/>
          <a:stretch>
            <a:fillRect/>
          </a:stretch>
        </p:blipFill>
        <p:spPr>
          <a:xfrm>
            <a:off x="-38100" y="0"/>
            <a:ext cx="12268200" cy="6858000"/>
          </a:xfrm>
        </p:spPr>
      </p:pic>
      <p:sp>
        <p:nvSpPr>
          <p:cNvPr id="6" name="TextBox 5">
            <a:extLst>
              <a:ext uri="{FF2B5EF4-FFF2-40B4-BE49-F238E27FC236}">
                <a16:creationId xmlns:a16="http://schemas.microsoft.com/office/drawing/2014/main" id="{FD4CB65E-D058-8A4B-96B2-EF2274FC89FD}"/>
              </a:ext>
            </a:extLst>
          </p:cNvPr>
          <p:cNvSpPr txBox="1"/>
          <p:nvPr/>
        </p:nvSpPr>
        <p:spPr>
          <a:xfrm>
            <a:off x="3614057" y="195451"/>
            <a:ext cx="5573485" cy="584775"/>
          </a:xfrm>
          <a:prstGeom prst="rect">
            <a:avLst/>
          </a:prstGeom>
          <a:noFill/>
        </p:spPr>
        <p:txBody>
          <a:bodyPr wrap="square" rtlCol="0">
            <a:spAutoFit/>
          </a:bodyPr>
          <a:lstStyle/>
          <a:p>
            <a:pPr algn="ctr"/>
            <a:r>
              <a:rPr lang="en-BD" sz="3200" dirty="0">
                <a:latin typeface="Marker Felt Thin" panose="02000400000000000000" pitchFamily="2" charset="77"/>
              </a:rPr>
              <a:t>Use of Body: Kinesics</a:t>
            </a:r>
          </a:p>
        </p:txBody>
      </p:sp>
      <p:sp>
        <p:nvSpPr>
          <p:cNvPr id="7" name="TextBox 6">
            <a:extLst>
              <a:ext uri="{FF2B5EF4-FFF2-40B4-BE49-F238E27FC236}">
                <a16:creationId xmlns:a16="http://schemas.microsoft.com/office/drawing/2014/main" id="{B5F2927E-3A2E-5747-8501-44D8CD0691DD}"/>
              </a:ext>
            </a:extLst>
          </p:cNvPr>
          <p:cNvSpPr txBox="1"/>
          <p:nvPr/>
        </p:nvSpPr>
        <p:spPr>
          <a:xfrm>
            <a:off x="2084613" y="1071467"/>
            <a:ext cx="8632372" cy="4577472"/>
          </a:xfrm>
          <a:prstGeom prst="rect">
            <a:avLst/>
          </a:prstGeom>
          <a:noFill/>
        </p:spPr>
        <p:txBody>
          <a:bodyPr wrap="square" rtlCol="0">
            <a:spAutoFit/>
          </a:bodyPr>
          <a:lstStyle/>
          <a:p>
            <a:pPr marL="342900" indent="-342900">
              <a:lnSpc>
                <a:spcPct val="150000"/>
              </a:lnSpc>
              <a:buFont typeface="Wingdings" pitchFamily="2" charset="2"/>
              <a:buChar char="§"/>
            </a:pPr>
            <a:r>
              <a:rPr lang="en-GB" sz="2200" b="1" dirty="0">
                <a:solidFill>
                  <a:srgbClr val="C00000"/>
                </a:solidFill>
                <a:latin typeface="Abadi MT Condensed Light" panose="020B0306030101010103" pitchFamily="34" charset="77"/>
              </a:rPr>
              <a:t>Eye contact </a:t>
            </a:r>
            <a:r>
              <a:rPr lang="en-GB" sz="1900" dirty="0">
                <a:latin typeface="Abadi MT Condensed Light" panose="020B0306030101010103" pitchFamily="34" charset="77"/>
              </a:rPr>
              <a:t>– </a:t>
            </a:r>
            <a:r>
              <a:rPr lang="en-GB" sz="1900" b="1" dirty="0">
                <a:solidFill>
                  <a:srgbClr val="0070C0"/>
                </a:solidFill>
                <a:latin typeface="Abadi MT Condensed Light" panose="020B0306030101010103" pitchFamily="34" charset="77"/>
              </a:rPr>
              <a:t>The most important way to engage an audience is by looking at them.</a:t>
            </a:r>
            <a:r>
              <a:rPr lang="en-GB" sz="1900" dirty="0">
                <a:latin typeface="Abadi MT Condensed Light" panose="020B0306030101010103" pitchFamily="34" charset="77"/>
              </a:rPr>
              <a:t> Eye contact is one of the key ingredients to successful speaking. Making eye contact with your audience helps build a connection and shows confidence. A speaker who reads their notes constantly, looks at their feet or their visuals, and never looks up at the audience communicates that they are nervous and unprepared. A speaker who tries to look at every part of the audience will be sure to win them over by confidently engaging them with the material. </a:t>
            </a:r>
          </a:p>
          <a:p>
            <a:pPr marL="342900" indent="-342900">
              <a:lnSpc>
                <a:spcPct val="150000"/>
              </a:lnSpc>
              <a:buFont typeface="Wingdings" pitchFamily="2" charset="2"/>
              <a:buChar char="§"/>
            </a:pPr>
            <a:r>
              <a:rPr lang="en-GB" sz="2200" b="1" dirty="0">
                <a:solidFill>
                  <a:srgbClr val="C00000"/>
                </a:solidFill>
                <a:latin typeface="Abadi MT Condensed Light" panose="020B0306030101010103" pitchFamily="34" charset="77"/>
              </a:rPr>
              <a:t>Facial expression </a:t>
            </a:r>
            <a:r>
              <a:rPr lang="en-GB" sz="1900" b="1" dirty="0">
                <a:solidFill>
                  <a:srgbClr val="0070C0"/>
                </a:solidFill>
                <a:latin typeface="Abadi MT Condensed Light" panose="020B0306030101010103" pitchFamily="34" charset="77"/>
              </a:rPr>
              <a:t>- Facial expression is using facial muscles to communicate and they are very important when speaking</a:t>
            </a:r>
            <a:r>
              <a:rPr lang="en-GB" sz="1900" dirty="0">
                <a:latin typeface="Abadi MT Condensed Light" panose="020B0306030101010103" pitchFamily="34" charset="77"/>
              </a:rPr>
              <a:t>. They can also help animate your speech by enhancing the words you say, much like gestures. </a:t>
            </a:r>
            <a:r>
              <a:rPr lang="en-GB" sz="1900" b="1" dirty="0">
                <a:solidFill>
                  <a:srgbClr val="0070C0"/>
                </a:solidFill>
                <a:latin typeface="Abadi MT Condensed Light" panose="020B0306030101010103" pitchFamily="34" charset="77"/>
              </a:rPr>
              <a:t>It’s very important that your nonverbal facial expression reinforces the message you’re trying to get across to your audience. </a:t>
            </a:r>
          </a:p>
        </p:txBody>
      </p:sp>
    </p:spTree>
    <p:extLst>
      <p:ext uri="{BB962C8B-B14F-4D97-AF65-F5344CB8AC3E}">
        <p14:creationId xmlns:p14="http://schemas.microsoft.com/office/powerpoint/2010/main" val="1941953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57F5-900F-EF48-9B52-867104A3F061}"/>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4114089E-137E-ED40-93E9-AB0C8A7CF0F4}"/>
              </a:ext>
            </a:extLst>
          </p:cNvPr>
          <p:cNvPicPr>
            <a:picLocks noGrp="1" noChangeAspect="1"/>
          </p:cNvPicPr>
          <p:nvPr>
            <p:ph idx="1"/>
          </p:nvPr>
        </p:nvPicPr>
        <p:blipFill>
          <a:blip r:embed="rId2"/>
          <a:stretch>
            <a:fillRect/>
          </a:stretch>
        </p:blipFill>
        <p:spPr>
          <a:xfrm>
            <a:off x="-38100" y="0"/>
            <a:ext cx="12268200" cy="6858000"/>
          </a:xfrm>
        </p:spPr>
      </p:pic>
      <p:sp>
        <p:nvSpPr>
          <p:cNvPr id="6" name="TextBox 5">
            <a:extLst>
              <a:ext uri="{FF2B5EF4-FFF2-40B4-BE49-F238E27FC236}">
                <a16:creationId xmlns:a16="http://schemas.microsoft.com/office/drawing/2014/main" id="{FD4CB65E-D058-8A4B-96B2-EF2274FC89FD}"/>
              </a:ext>
            </a:extLst>
          </p:cNvPr>
          <p:cNvSpPr txBox="1"/>
          <p:nvPr/>
        </p:nvSpPr>
        <p:spPr>
          <a:xfrm>
            <a:off x="3614057" y="195451"/>
            <a:ext cx="5573485" cy="584775"/>
          </a:xfrm>
          <a:prstGeom prst="rect">
            <a:avLst/>
          </a:prstGeom>
          <a:noFill/>
        </p:spPr>
        <p:txBody>
          <a:bodyPr wrap="square" rtlCol="0">
            <a:spAutoFit/>
          </a:bodyPr>
          <a:lstStyle/>
          <a:p>
            <a:pPr algn="ctr"/>
            <a:r>
              <a:rPr lang="en-BD" sz="3200" dirty="0">
                <a:latin typeface="Marker Felt Thin" panose="02000400000000000000" pitchFamily="2" charset="77"/>
              </a:rPr>
              <a:t>Use of Body: Kinesics</a:t>
            </a:r>
          </a:p>
        </p:txBody>
      </p:sp>
      <p:sp>
        <p:nvSpPr>
          <p:cNvPr id="7" name="TextBox 6">
            <a:extLst>
              <a:ext uri="{FF2B5EF4-FFF2-40B4-BE49-F238E27FC236}">
                <a16:creationId xmlns:a16="http://schemas.microsoft.com/office/drawing/2014/main" id="{B5F2927E-3A2E-5747-8501-44D8CD0691DD}"/>
              </a:ext>
            </a:extLst>
          </p:cNvPr>
          <p:cNvSpPr txBox="1"/>
          <p:nvPr/>
        </p:nvSpPr>
        <p:spPr>
          <a:xfrm>
            <a:off x="2084613" y="805253"/>
            <a:ext cx="8632372" cy="3719288"/>
          </a:xfrm>
          <a:prstGeom prst="rect">
            <a:avLst/>
          </a:prstGeom>
          <a:noFill/>
        </p:spPr>
        <p:txBody>
          <a:bodyPr wrap="square" rtlCol="0">
            <a:spAutoFit/>
          </a:bodyPr>
          <a:lstStyle/>
          <a:p>
            <a:pPr marL="342900" indent="-342900">
              <a:lnSpc>
                <a:spcPct val="150000"/>
              </a:lnSpc>
              <a:buFont typeface="Wingdings" pitchFamily="2" charset="2"/>
              <a:buChar char="§"/>
            </a:pPr>
            <a:r>
              <a:rPr lang="en-GB" sz="2200" b="1" dirty="0">
                <a:solidFill>
                  <a:srgbClr val="C00000"/>
                </a:solidFill>
                <a:latin typeface="Abadi MT Condensed Light" panose="020B0306030101010103" pitchFamily="34" charset="77"/>
              </a:rPr>
              <a:t>Posture</a:t>
            </a:r>
            <a:r>
              <a:rPr lang="en-GB" sz="1900" dirty="0">
                <a:latin typeface="Abadi MT Condensed Light" panose="020B0306030101010103" pitchFamily="34" charset="77"/>
              </a:rPr>
              <a:t> - </a:t>
            </a:r>
            <a:r>
              <a:rPr lang="en-GB" sz="1900" b="1" dirty="0">
                <a:solidFill>
                  <a:srgbClr val="0070C0"/>
                </a:solidFill>
                <a:latin typeface="Abadi MT Condensed Light" panose="020B0306030101010103" pitchFamily="34" charset="77"/>
              </a:rPr>
              <a:t>Posture is how we position our body. </a:t>
            </a:r>
            <a:r>
              <a:rPr lang="en-GB" sz="1900" dirty="0">
                <a:latin typeface="Abadi MT Condensed Light" panose="020B0306030101010103" pitchFamily="34" charset="77"/>
              </a:rPr>
              <a:t>Posture can </a:t>
            </a:r>
            <a:r>
              <a:rPr lang="en-GB" sz="1900" b="1" dirty="0">
                <a:solidFill>
                  <a:srgbClr val="0070C0"/>
                </a:solidFill>
                <a:latin typeface="Abadi MT Condensed Light" panose="020B0306030101010103" pitchFamily="34" charset="77"/>
              </a:rPr>
              <a:t>communicate attentiveness, respect, and dominance too</a:t>
            </a:r>
            <a:r>
              <a:rPr lang="en-GB" sz="1900" dirty="0">
                <a:latin typeface="Abadi MT Condensed Light" panose="020B0306030101010103" pitchFamily="34" charset="77"/>
              </a:rPr>
              <a:t>. When giving a public speech, an upright stance communicate a sense of</a:t>
            </a:r>
            <a:r>
              <a:rPr lang="en-GB" sz="1900" b="1" dirty="0">
                <a:solidFill>
                  <a:srgbClr val="0070C0"/>
                </a:solidFill>
                <a:latin typeface="Abadi MT Condensed Light" panose="020B0306030101010103" pitchFamily="34" charset="77"/>
              </a:rPr>
              <a:t> confidence, authority and credibility </a:t>
            </a:r>
            <a:r>
              <a:rPr lang="en-GB" sz="1900" dirty="0">
                <a:latin typeface="Abadi MT Condensed Light" panose="020B0306030101010103" pitchFamily="34" charset="77"/>
              </a:rPr>
              <a:t>whereas speakers who slouch may be perceived as </a:t>
            </a:r>
            <a:r>
              <a:rPr lang="en-GB" sz="1900" b="1" dirty="0">
                <a:solidFill>
                  <a:srgbClr val="0070C0"/>
                </a:solidFill>
                <a:latin typeface="Abadi MT Condensed Light" panose="020B0306030101010103" pitchFamily="34" charset="77"/>
              </a:rPr>
              <a:t>lacking self confidence </a:t>
            </a:r>
            <a:r>
              <a:rPr lang="en-GB" sz="1900" dirty="0">
                <a:latin typeface="Abadi MT Condensed Light" panose="020B0306030101010103" pitchFamily="34" charset="77"/>
              </a:rPr>
              <a:t>and not caring about the topic, audience and occasion. </a:t>
            </a:r>
          </a:p>
          <a:p>
            <a:pPr marL="342900" indent="-342900">
              <a:lnSpc>
                <a:spcPct val="150000"/>
              </a:lnSpc>
              <a:buFont typeface="Wingdings" pitchFamily="2" charset="2"/>
              <a:buChar char="§"/>
            </a:pPr>
            <a:r>
              <a:rPr lang="en-GB" sz="2100" b="1" dirty="0">
                <a:solidFill>
                  <a:srgbClr val="C00000"/>
                </a:solidFill>
                <a:latin typeface="Abadi MT Condensed Light" panose="020B0306030101010103" pitchFamily="34" charset="77"/>
              </a:rPr>
              <a:t>Body Movement </a:t>
            </a:r>
            <a:r>
              <a:rPr lang="en-GB" sz="2100" dirty="0">
                <a:latin typeface="Abadi MT Condensed Light" panose="020B0306030101010103" pitchFamily="34" charset="77"/>
              </a:rPr>
              <a:t>- </a:t>
            </a:r>
            <a:r>
              <a:rPr lang="en-GB" sz="1900" b="1" dirty="0">
                <a:solidFill>
                  <a:srgbClr val="7030A0"/>
                </a:solidFill>
                <a:latin typeface="Abadi MT Condensed Light" panose="020B0306030101010103" pitchFamily="34" charset="77"/>
              </a:rPr>
              <a:t>Body movement is changing body position</a:t>
            </a:r>
            <a:r>
              <a:rPr lang="en-GB" sz="1900" dirty="0">
                <a:latin typeface="Abadi MT Condensed Light" panose="020B0306030101010103" pitchFamily="34" charset="77"/>
              </a:rPr>
              <a:t>. It can be </a:t>
            </a:r>
            <a:r>
              <a:rPr lang="en-GB" sz="1900" b="1" dirty="0">
                <a:solidFill>
                  <a:srgbClr val="7030A0"/>
                </a:solidFill>
                <a:latin typeface="Abadi MT Condensed Light" panose="020B0306030101010103" pitchFamily="34" charset="77"/>
              </a:rPr>
              <a:t>motivated (movement that helps clarify meaning) or unmotivated (movement that distracts listeners from the point being made)</a:t>
            </a:r>
            <a:r>
              <a:rPr lang="en-GB" sz="1900" dirty="0">
                <a:latin typeface="Abadi MT Condensed Light" panose="020B0306030101010103" pitchFamily="34" charset="77"/>
              </a:rPr>
              <a:t>. It is important to </a:t>
            </a:r>
            <a:r>
              <a:rPr lang="en-GB" sz="1900" b="1" dirty="0">
                <a:solidFill>
                  <a:srgbClr val="0070C0"/>
                </a:solidFill>
                <a:latin typeface="Abadi MT Condensed Light" panose="020B0306030101010103" pitchFamily="34" charset="77"/>
              </a:rPr>
              <a:t>engage only in motivated movement,</a:t>
            </a:r>
            <a:r>
              <a:rPr lang="en-GB" sz="1900" dirty="0">
                <a:latin typeface="Abadi MT Condensed Light" panose="020B0306030101010103" pitchFamily="34" charset="77"/>
              </a:rPr>
              <a:t> movement with a specific purpose such as emphasizing an important idea, referencing a presentational air, etc</a:t>
            </a:r>
            <a:r>
              <a:rPr lang="en-GB" sz="2100" dirty="0">
                <a:latin typeface="Abadi MT Condensed Light" panose="020B0306030101010103" pitchFamily="34" charset="77"/>
              </a:rPr>
              <a:t>.</a:t>
            </a:r>
          </a:p>
        </p:txBody>
      </p:sp>
    </p:spTree>
    <p:extLst>
      <p:ext uri="{BB962C8B-B14F-4D97-AF65-F5344CB8AC3E}">
        <p14:creationId xmlns:p14="http://schemas.microsoft.com/office/powerpoint/2010/main" val="1453023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6282E-8BF8-1949-AF8A-771CF46F17AD}"/>
              </a:ext>
            </a:extLst>
          </p:cNvPr>
          <p:cNvSpPr>
            <a:spLocks noGrp="1"/>
          </p:cNvSpPr>
          <p:nvPr>
            <p:ph type="ctrTitle"/>
          </p:nvPr>
        </p:nvSpPr>
        <p:spPr/>
        <p:txBody>
          <a:bodyPr/>
          <a:lstStyle/>
          <a:p>
            <a:endParaRPr lang="en-BD"/>
          </a:p>
        </p:txBody>
      </p:sp>
      <p:sp>
        <p:nvSpPr>
          <p:cNvPr id="3" name="Subtitle 2">
            <a:extLst>
              <a:ext uri="{FF2B5EF4-FFF2-40B4-BE49-F238E27FC236}">
                <a16:creationId xmlns:a16="http://schemas.microsoft.com/office/drawing/2014/main" id="{C5DE8107-6EF6-BA44-8F8D-50735D8DE0E6}"/>
              </a:ext>
            </a:extLst>
          </p:cNvPr>
          <p:cNvSpPr>
            <a:spLocks noGrp="1"/>
          </p:cNvSpPr>
          <p:nvPr>
            <p:ph type="subTitle" idx="1"/>
          </p:nvPr>
        </p:nvSpPr>
        <p:spPr/>
        <p:txBody>
          <a:bodyPr/>
          <a:lstStyle/>
          <a:p>
            <a:endParaRPr lang="en-BD"/>
          </a:p>
        </p:txBody>
      </p:sp>
      <p:pic>
        <p:nvPicPr>
          <p:cNvPr id="5" name="Picture 4">
            <a:extLst>
              <a:ext uri="{FF2B5EF4-FFF2-40B4-BE49-F238E27FC236}">
                <a16:creationId xmlns:a16="http://schemas.microsoft.com/office/drawing/2014/main" id="{4E617E88-D023-4643-B4F7-198A363B35CC}"/>
              </a:ext>
            </a:extLst>
          </p:cNvPr>
          <p:cNvPicPr>
            <a:picLocks noChangeAspect="1"/>
          </p:cNvPicPr>
          <p:nvPr/>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62F42A74-DA85-974D-825D-E6A407E0A3D0}"/>
              </a:ext>
            </a:extLst>
          </p:cNvPr>
          <p:cNvSpPr txBox="1"/>
          <p:nvPr/>
        </p:nvSpPr>
        <p:spPr>
          <a:xfrm>
            <a:off x="3334267" y="2632800"/>
            <a:ext cx="5305749" cy="1754326"/>
          </a:xfrm>
          <a:prstGeom prst="rect">
            <a:avLst/>
          </a:prstGeom>
          <a:noFill/>
        </p:spPr>
        <p:txBody>
          <a:bodyPr wrap="square" rtlCol="0">
            <a:spAutoFit/>
          </a:bodyPr>
          <a:lstStyle/>
          <a:p>
            <a:pPr algn="ctr"/>
            <a:r>
              <a:rPr lang="en-BD" sz="5400" dirty="0">
                <a:latin typeface="Marker Felt Thin" panose="02000400000000000000" pitchFamily="2" charset="77"/>
              </a:rPr>
              <a:t>Use of Voice: Paralanguage </a:t>
            </a:r>
          </a:p>
        </p:txBody>
      </p:sp>
    </p:spTree>
    <p:extLst>
      <p:ext uri="{BB962C8B-B14F-4D97-AF65-F5344CB8AC3E}">
        <p14:creationId xmlns:p14="http://schemas.microsoft.com/office/powerpoint/2010/main" val="1004526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57F5-900F-EF48-9B52-867104A3F061}"/>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4114089E-137E-ED40-93E9-AB0C8A7CF0F4}"/>
              </a:ext>
            </a:extLst>
          </p:cNvPr>
          <p:cNvPicPr>
            <a:picLocks noGrp="1" noChangeAspect="1"/>
          </p:cNvPicPr>
          <p:nvPr>
            <p:ph idx="1"/>
          </p:nvPr>
        </p:nvPicPr>
        <p:blipFill>
          <a:blip r:embed="rId2"/>
          <a:stretch>
            <a:fillRect/>
          </a:stretch>
        </p:blipFill>
        <p:spPr>
          <a:xfrm>
            <a:off x="-38100" y="-4989"/>
            <a:ext cx="12268200" cy="6858000"/>
          </a:xfrm>
        </p:spPr>
      </p:pic>
      <p:sp>
        <p:nvSpPr>
          <p:cNvPr id="6" name="TextBox 5">
            <a:extLst>
              <a:ext uri="{FF2B5EF4-FFF2-40B4-BE49-F238E27FC236}">
                <a16:creationId xmlns:a16="http://schemas.microsoft.com/office/drawing/2014/main" id="{FD4CB65E-D058-8A4B-96B2-EF2274FC89FD}"/>
              </a:ext>
            </a:extLst>
          </p:cNvPr>
          <p:cNvSpPr txBox="1"/>
          <p:nvPr/>
        </p:nvSpPr>
        <p:spPr>
          <a:xfrm>
            <a:off x="2443845" y="443131"/>
            <a:ext cx="7543801" cy="584775"/>
          </a:xfrm>
          <a:prstGeom prst="rect">
            <a:avLst/>
          </a:prstGeom>
          <a:noFill/>
        </p:spPr>
        <p:txBody>
          <a:bodyPr wrap="square" rtlCol="0">
            <a:spAutoFit/>
          </a:bodyPr>
          <a:lstStyle/>
          <a:p>
            <a:pPr algn="ctr"/>
            <a:r>
              <a:rPr lang="en-BD" sz="3200" dirty="0">
                <a:latin typeface="Marker Felt Thin" panose="02000400000000000000" pitchFamily="2" charset="77"/>
              </a:rPr>
              <a:t>Use of Voice: Paralanguage </a:t>
            </a:r>
          </a:p>
        </p:txBody>
      </p:sp>
      <p:sp>
        <p:nvSpPr>
          <p:cNvPr id="7" name="TextBox 6">
            <a:extLst>
              <a:ext uri="{FF2B5EF4-FFF2-40B4-BE49-F238E27FC236}">
                <a16:creationId xmlns:a16="http://schemas.microsoft.com/office/drawing/2014/main" id="{B5F2927E-3A2E-5747-8501-44D8CD0691DD}"/>
              </a:ext>
            </a:extLst>
          </p:cNvPr>
          <p:cNvSpPr txBox="1"/>
          <p:nvPr/>
        </p:nvSpPr>
        <p:spPr>
          <a:xfrm>
            <a:off x="2193467" y="1027906"/>
            <a:ext cx="8583389" cy="5675208"/>
          </a:xfrm>
          <a:prstGeom prst="rect">
            <a:avLst/>
          </a:prstGeom>
          <a:noFill/>
        </p:spPr>
        <p:txBody>
          <a:bodyPr wrap="square" rtlCol="0">
            <a:spAutoFit/>
          </a:bodyPr>
          <a:lstStyle/>
          <a:p>
            <a:pPr>
              <a:lnSpc>
                <a:spcPct val="150000"/>
              </a:lnSpc>
            </a:pPr>
            <a:r>
              <a:rPr lang="en-GB" sz="2000" b="1" dirty="0">
                <a:solidFill>
                  <a:srgbClr val="C00000"/>
                </a:solidFill>
                <a:latin typeface="Abadi MT Condensed Light" panose="020B0306030101010103" pitchFamily="34" charset="77"/>
              </a:rPr>
              <a:t>Paralanguage </a:t>
            </a:r>
            <a:r>
              <a:rPr lang="en-GB" sz="2000" b="1" dirty="0">
                <a:solidFill>
                  <a:srgbClr val="0070C0"/>
                </a:solidFill>
                <a:latin typeface="Abadi MT Condensed Light" panose="020B0306030101010103" pitchFamily="34" charset="77"/>
              </a:rPr>
              <a:t>refers to the vocal aspects of communication that go beyond the actual words spoken, encompassing elements such as pitch, speaking rate, pauses, and intonation. </a:t>
            </a:r>
            <a:r>
              <a:rPr lang="en-GB" sz="2000" dirty="0">
                <a:latin typeface="Abadi MT Condensed Light" panose="020B0306030101010103" pitchFamily="34" charset="77"/>
              </a:rPr>
              <a:t>These vocal cues can provide a wealth of information about the speaker's emotions, intentions, or level of sincerity, which may not be immediately evident from the words themselves.</a:t>
            </a:r>
          </a:p>
          <a:p>
            <a:pPr marL="342900" indent="-342900">
              <a:lnSpc>
                <a:spcPct val="150000"/>
              </a:lnSpc>
              <a:buFont typeface="Arial" panose="020B0604020202020204" pitchFamily="34" charset="0"/>
              <a:buChar char="•"/>
            </a:pPr>
            <a:r>
              <a:rPr lang="en-GB" sz="2000" b="1" dirty="0">
                <a:solidFill>
                  <a:srgbClr val="C00000"/>
                </a:solidFill>
                <a:latin typeface="Abadi MT Condensed Light" panose="020B0306030101010103" pitchFamily="34" charset="77"/>
              </a:rPr>
              <a:t>Pitch</a:t>
            </a:r>
            <a:r>
              <a:rPr lang="en-GB" sz="2000" dirty="0">
                <a:latin typeface="Abadi MT Condensed Light" panose="020B0306030101010103" pitchFamily="34" charset="77"/>
              </a:rPr>
              <a:t> – Pitch is the </a:t>
            </a:r>
            <a:r>
              <a:rPr lang="en-GB" sz="2000" b="1" dirty="0">
                <a:solidFill>
                  <a:srgbClr val="0070C0"/>
                </a:solidFill>
                <a:latin typeface="Abadi MT Condensed Light" panose="020B0306030101010103" pitchFamily="34" charset="77"/>
              </a:rPr>
              <a:t>highness or lowness of vocal tone</a:t>
            </a:r>
            <a:r>
              <a:rPr lang="en-GB" sz="2000" dirty="0">
                <a:latin typeface="Abadi MT Condensed Light" panose="020B0306030101010103" pitchFamily="34" charset="77"/>
              </a:rPr>
              <a:t>. </a:t>
            </a:r>
            <a:r>
              <a:rPr lang="en-GB" sz="2000" b="1" dirty="0">
                <a:solidFill>
                  <a:srgbClr val="7030A0"/>
                </a:solidFill>
                <a:latin typeface="Abadi MT Condensed Light" panose="020B0306030101010103" pitchFamily="34" charset="77"/>
              </a:rPr>
              <a:t>We raise and lower our pitch to emphasize ideas and emotion, as well as to signal a question</a:t>
            </a:r>
            <a:r>
              <a:rPr lang="en-GB" sz="2000" dirty="0">
                <a:latin typeface="Abadi MT Condensed Light" panose="020B0306030101010103" pitchFamily="34" charset="77"/>
              </a:rPr>
              <a:t>. We sometimes raise our pitch when feeling nervous or afraid. It is important to practice your speech using the </a:t>
            </a:r>
            <a:r>
              <a:rPr lang="en-GB" sz="2000" b="1" dirty="0">
                <a:solidFill>
                  <a:srgbClr val="0070C0"/>
                </a:solidFill>
                <a:latin typeface="Abadi MT Condensed Light" panose="020B0306030101010103" pitchFamily="34" charset="77"/>
              </a:rPr>
              <a:t>appropriate pitch</a:t>
            </a:r>
            <a:r>
              <a:rPr lang="en-GB" sz="2000" dirty="0">
                <a:latin typeface="Abadi MT Condensed Light" panose="020B0306030101010103" pitchFamily="34" charset="77"/>
              </a:rPr>
              <a:t>. </a:t>
            </a:r>
          </a:p>
          <a:p>
            <a:pPr>
              <a:lnSpc>
                <a:spcPct val="150000"/>
              </a:lnSpc>
            </a:pPr>
            <a:r>
              <a:rPr lang="en-GB" sz="2000" b="1" dirty="0">
                <a:solidFill>
                  <a:srgbClr val="C00000"/>
                </a:solidFill>
                <a:latin typeface="Abadi MT Condensed Light" panose="020B0306030101010103" pitchFamily="34" charset="77"/>
              </a:rPr>
              <a:t>Example: </a:t>
            </a:r>
            <a:r>
              <a:rPr lang="en-GB" sz="2000" dirty="0">
                <a:latin typeface="Abadi MT Condensed Light" panose="020B0306030101010103" pitchFamily="34" charset="77"/>
              </a:rPr>
              <a:t>If someone speaks in a flat, monotonous way, their message might seem dull or lacking in sincerity, even if the content is interesting. If you speak with energy and passion (a lively tone and varied pitch), your audience is likely to feel more engaged and excited about the topic.</a:t>
            </a:r>
          </a:p>
          <a:p>
            <a:pPr>
              <a:lnSpc>
                <a:spcPct val="150000"/>
              </a:lnSpc>
            </a:pPr>
            <a:endParaRPr lang="en-GB" sz="2400" dirty="0">
              <a:latin typeface="Abadi MT Condensed Light" panose="020B0306030101010103" pitchFamily="34" charset="77"/>
            </a:endParaRPr>
          </a:p>
        </p:txBody>
      </p:sp>
    </p:spTree>
    <p:extLst>
      <p:ext uri="{BB962C8B-B14F-4D97-AF65-F5344CB8AC3E}">
        <p14:creationId xmlns:p14="http://schemas.microsoft.com/office/powerpoint/2010/main" val="842039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57F5-900F-EF48-9B52-867104A3F061}"/>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4114089E-137E-ED40-93E9-AB0C8A7CF0F4}"/>
              </a:ext>
            </a:extLst>
          </p:cNvPr>
          <p:cNvPicPr>
            <a:picLocks noGrp="1" noChangeAspect="1"/>
          </p:cNvPicPr>
          <p:nvPr>
            <p:ph idx="1"/>
          </p:nvPr>
        </p:nvPicPr>
        <p:blipFill>
          <a:blip r:embed="rId2"/>
          <a:stretch>
            <a:fillRect/>
          </a:stretch>
        </p:blipFill>
        <p:spPr>
          <a:xfrm>
            <a:off x="-38100" y="-4989"/>
            <a:ext cx="12268200" cy="6858000"/>
          </a:xfrm>
        </p:spPr>
      </p:pic>
      <p:sp>
        <p:nvSpPr>
          <p:cNvPr id="6" name="TextBox 5">
            <a:extLst>
              <a:ext uri="{FF2B5EF4-FFF2-40B4-BE49-F238E27FC236}">
                <a16:creationId xmlns:a16="http://schemas.microsoft.com/office/drawing/2014/main" id="{FD4CB65E-D058-8A4B-96B2-EF2274FC89FD}"/>
              </a:ext>
            </a:extLst>
          </p:cNvPr>
          <p:cNvSpPr txBox="1"/>
          <p:nvPr/>
        </p:nvSpPr>
        <p:spPr>
          <a:xfrm>
            <a:off x="2443845" y="902888"/>
            <a:ext cx="7543801" cy="584775"/>
          </a:xfrm>
          <a:prstGeom prst="rect">
            <a:avLst/>
          </a:prstGeom>
          <a:noFill/>
        </p:spPr>
        <p:txBody>
          <a:bodyPr wrap="square" rtlCol="0">
            <a:spAutoFit/>
          </a:bodyPr>
          <a:lstStyle/>
          <a:p>
            <a:pPr algn="ctr"/>
            <a:r>
              <a:rPr lang="en-BD" sz="3200" dirty="0">
                <a:latin typeface="Marker Felt Thin" panose="02000400000000000000" pitchFamily="2" charset="77"/>
              </a:rPr>
              <a:t>Use of Voice: Paralanguage </a:t>
            </a:r>
          </a:p>
        </p:txBody>
      </p:sp>
      <p:sp>
        <p:nvSpPr>
          <p:cNvPr id="7" name="TextBox 6">
            <a:extLst>
              <a:ext uri="{FF2B5EF4-FFF2-40B4-BE49-F238E27FC236}">
                <a16:creationId xmlns:a16="http://schemas.microsoft.com/office/drawing/2014/main" id="{B5F2927E-3A2E-5747-8501-44D8CD0691DD}"/>
              </a:ext>
            </a:extLst>
          </p:cNvPr>
          <p:cNvSpPr txBox="1"/>
          <p:nvPr/>
        </p:nvSpPr>
        <p:spPr>
          <a:xfrm>
            <a:off x="2204354" y="1347182"/>
            <a:ext cx="8229600" cy="454412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1900" b="1" dirty="0">
                <a:solidFill>
                  <a:srgbClr val="C00000"/>
                </a:solidFill>
                <a:latin typeface="Abadi MT Condensed Light" panose="020B0306030101010103" pitchFamily="34" charset="77"/>
              </a:rPr>
              <a:t>Rate</a:t>
            </a:r>
            <a:r>
              <a:rPr lang="en-GB" sz="1900" dirty="0">
                <a:latin typeface="Abadi MT Condensed Light" panose="020B0306030101010103" pitchFamily="34" charset="77"/>
              </a:rPr>
              <a:t> – </a:t>
            </a:r>
            <a:r>
              <a:rPr lang="en-GB" sz="1900" b="1" dirty="0">
                <a:solidFill>
                  <a:srgbClr val="0070C0"/>
                </a:solidFill>
                <a:latin typeface="Abadi MT Condensed Light" panose="020B0306030101010103" pitchFamily="34" charset="77"/>
              </a:rPr>
              <a:t>Rate is the speed at which a person speaks.  </a:t>
            </a:r>
            <a:r>
              <a:rPr lang="en-GB" sz="1900" b="1" dirty="0">
                <a:solidFill>
                  <a:srgbClr val="7030A0"/>
                </a:solidFill>
                <a:latin typeface="Abadi MT Condensed Light" panose="020B0306030101010103" pitchFamily="34" charset="77"/>
              </a:rPr>
              <a:t>Controlling the rate at which one speaks is often one of the most challenging things a speaker has to do. Control your pace—don’t rush through the material, and use pauses for emphasis.  </a:t>
            </a:r>
            <a:r>
              <a:rPr lang="en-GB" sz="1900" dirty="0">
                <a:latin typeface="Abadi MT Condensed Light" panose="020B0306030101010103" pitchFamily="34" charset="77"/>
              </a:rPr>
              <a:t>Speaking too quickly can also make your audience tune out from listening to the speech. Rapid speech can sometimes make you seem less credible or harder to understand.</a:t>
            </a:r>
          </a:p>
          <a:p>
            <a:pPr marL="342900" indent="-342900">
              <a:lnSpc>
                <a:spcPct val="150000"/>
              </a:lnSpc>
              <a:buFont typeface="Arial" panose="020B0604020202020204" pitchFamily="34" charset="0"/>
              <a:buChar char="•"/>
            </a:pPr>
            <a:r>
              <a:rPr lang="en-GB" sz="1900" b="1" dirty="0">
                <a:solidFill>
                  <a:srgbClr val="C00000"/>
                </a:solidFill>
                <a:latin typeface="Abadi MT Condensed Light" panose="020B0306030101010103" pitchFamily="34" charset="77"/>
              </a:rPr>
              <a:t>Intonation</a:t>
            </a:r>
            <a:r>
              <a:rPr lang="en-GB" sz="1900" dirty="0">
                <a:latin typeface="Abadi MT Condensed Light" panose="020B0306030101010103" pitchFamily="34" charset="77"/>
              </a:rPr>
              <a:t> - Intonation is </a:t>
            </a:r>
            <a:r>
              <a:rPr lang="en-GB" sz="1900" b="1" dirty="0">
                <a:solidFill>
                  <a:srgbClr val="0070C0"/>
                </a:solidFill>
                <a:latin typeface="Abadi MT Condensed Light" panose="020B0306030101010103" pitchFamily="34" charset="77"/>
              </a:rPr>
              <a:t>the variety, melody, or inflection in one’s voice</a:t>
            </a:r>
            <a:r>
              <a:rPr lang="en-GB" sz="1900" dirty="0">
                <a:latin typeface="Abadi MT Condensed Light" panose="020B0306030101010103" pitchFamily="34" charset="77"/>
              </a:rPr>
              <a:t>. </a:t>
            </a:r>
            <a:r>
              <a:rPr lang="en-GB" sz="1900" b="1" dirty="0">
                <a:solidFill>
                  <a:srgbClr val="7030A0"/>
                </a:solidFill>
                <a:latin typeface="Abadi MT Condensed Light" panose="020B0306030101010103" pitchFamily="34" charset="77"/>
              </a:rPr>
              <a:t>Vocal variety is the key to making sure the audience stays connected to the speech</a:t>
            </a:r>
            <a:r>
              <a:rPr lang="en-GB" sz="1900" dirty="0">
                <a:latin typeface="Abadi MT Condensed Light" panose="020B0306030101010103" pitchFamily="34" charset="77"/>
              </a:rPr>
              <a:t>. Without variety, the audience fails to engage with the speaker because the voice comes across as </a:t>
            </a:r>
            <a:r>
              <a:rPr lang="en-GB" sz="1900" b="1" dirty="0">
                <a:solidFill>
                  <a:srgbClr val="0070C0"/>
                </a:solidFill>
                <a:latin typeface="Abadi MT Condensed Light" panose="020B0306030101010103" pitchFamily="34" charset="77"/>
              </a:rPr>
              <a:t>monotone (absent from pitch variety) or bored.</a:t>
            </a:r>
          </a:p>
          <a:p>
            <a:pPr>
              <a:lnSpc>
                <a:spcPct val="150000"/>
              </a:lnSpc>
            </a:pPr>
            <a:endParaRPr lang="en-GB" sz="2400" dirty="0">
              <a:latin typeface="Abadi MT Condensed Light" panose="020B0306030101010103" pitchFamily="34" charset="77"/>
            </a:endParaRPr>
          </a:p>
        </p:txBody>
      </p:sp>
    </p:spTree>
    <p:extLst>
      <p:ext uri="{BB962C8B-B14F-4D97-AF65-F5344CB8AC3E}">
        <p14:creationId xmlns:p14="http://schemas.microsoft.com/office/powerpoint/2010/main" val="54123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57F5-900F-EF48-9B52-867104A3F061}"/>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4114089E-137E-ED40-93E9-AB0C8A7CF0F4}"/>
              </a:ext>
            </a:extLst>
          </p:cNvPr>
          <p:cNvPicPr>
            <a:picLocks noGrp="1" noChangeAspect="1"/>
          </p:cNvPicPr>
          <p:nvPr>
            <p:ph idx="1"/>
          </p:nvPr>
        </p:nvPicPr>
        <p:blipFill>
          <a:blip r:embed="rId2"/>
          <a:stretch>
            <a:fillRect/>
          </a:stretch>
        </p:blipFill>
        <p:spPr>
          <a:xfrm>
            <a:off x="-38100" y="-4989"/>
            <a:ext cx="12268200" cy="6858000"/>
          </a:xfrm>
        </p:spPr>
      </p:pic>
      <p:sp>
        <p:nvSpPr>
          <p:cNvPr id="6" name="TextBox 5">
            <a:extLst>
              <a:ext uri="{FF2B5EF4-FFF2-40B4-BE49-F238E27FC236}">
                <a16:creationId xmlns:a16="http://schemas.microsoft.com/office/drawing/2014/main" id="{FD4CB65E-D058-8A4B-96B2-EF2274FC89FD}"/>
              </a:ext>
            </a:extLst>
          </p:cNvPr>
          <p:cNvSpPr txBox="1"/>
          <p:nvPr/>
        </p:nvSpPr>
        <p:spPr>
          <a:xfrm>
            <a:off x="2443845" y="902888"/>
            <a:ext cx="7543801" cy="584775"/>
          </a:xfrm>
          <a:prstGeom prst="rect">
            <a:avLst/>
          </a:prstGeom>
          <a:noFill/>
        </p:spPr>
        <p:txBody>
          <a:bodyPr wrap="square" rtlCol="0">
            <a:spAutoFit/>
          </a:bodyPr>
          <a:lstStyle/>
          <a:p>
            <a:pPr algn="ctr"/>
            <a:r>
              <a:rPr lang="en-BD" sz="3200" dirty="0">
                <a:latin typeface="Marker Felt Thin" panose="02000400000000000000" pitchFamily="2" charset="77"/>
              </a:rPr>
              <a:t>Use of Voice: Paralanguage </a:t>
            </a:r>
          </a:p>
        </p:txBody>
      </p:sp>
      <p:sp>
        <p:nvSpPr>
          <p:cNvPr id="7" name="TextBox 6">
            <a:extLst>
              <a:ext uri="{FF2B5EF4-FFF2-40B4-BE49-F238E27FC236}">
                <a16:creationId xmlns:a16="http://schemas.microsoft.com/office/drawing/2014/main" id="{B5F2927E-3A2E-5747-8501-44D8CD0691DD}"/>
              </a:ext>
            </a:extLst>
          </p:cNvPr>
          <p:cNvSpPr txBox="1"/>
          <p:nvPr/>
        </p:nvSpPr>
        <p:spPr>
          <a:xfrm>
            <a:off x="2204354" y="1347182"/>
            <a:ext cx="8229600" cy="392703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2100" b="1" dirty="0">
                <a:solidFill>
                  <a:srgbClr val="C00000"/>
                </a:solidFill>
                <a:latin typeface="Abadi MT Condensed Light" panose="020B0306030101010103" pitchFamily="34" charset="77"/>
              </a:rPr>
              <a:t>Articulation</a:t>
            </a:r>
            <a:r>
              <a:rPr lang="en-GB" sz="2100" dirty="0">
                <a:latin typeface="Abadi MT Condensed Light" panose="020B0306030101010103" pitchFamily="34" charset="77"/>
              </a:rPr>
              <a:t> - </a:t>
            </a:r>
            <a:r>
              <a:rPr lang="en-GB" sz="2100" b="1" dirty="0">
                <a:solidFill>
                  <a:srgbClr val="0070C0"/>
                </a:solidFill>
                <a:latin typeface="Abadi MT Condensed Light" panose="020B0306030101010103" pitchFamily="34" charset="77"/>
              </a:rPr>
              <a:t>Articulation is how clearly the speaker pronounces words. </a:t>
            </a:r>
            <a:r>
              <a:rPr lang="en-GB" sz="2100" dirty="0">
                <a:latin typeface="Abadi MT Condensed Light" panose="020B0306030101010103" pitchFamily="34" charset="77"/>
              </a:rPr>
              <a:t>When some sounds are slurred together or dropped out of a word, the word may not be understood by the audience. </a:t>
            </a:r>
            <a:r>
              <a:rPr lang="en-GB" sz="2100" b="1" dirty="0">
                <a:solidFill>
                  <a:srgbClr val="7030A0"/>
                </a:solidFill>
                <a:latin typeface="Abadi MT Condensed Light" panose="020B0306030101010103" pitchFamily="34" charset="77"/>
              </a:rPr>
              <a:t>To use proper articulation, a speaker must use their articulators: tongue, teeth, and lips</a:t>
            </a:r>
            <a:r>
              <a:rPr lang="en-GB" sz="2100" dirty="0">
                <a:latin typeface="Abadi MT Condensed Light" panose="020B0306030101010103" pitchFamily="34" charset="77"/>
              </a:rPr>
              <a:t>. When a speaker uses improper diction, the hearer cannot make out the word spoken and often requests a repeat of what was said. In public speaking, a hearer cannot request a repeat and therefore poor articulation can make a listener tune out. </a:t>
            </a:r>
            <a:r>
              <a:rPr lang="en-GB" sz="2100" b="1" dirty="0">
                <a:solidFill>
                  <a:srgbClr val="0070C0"/>
                </a:solidFill>
                <a:latin typeface="Abadi MT Condensed Light" panose="020B0306030101010103" pitchFamily="34" charset="77"/>
              </a:rPr>
              <a:t>It is important to say all parts of the word in order to speak clearly.</a:t>
            </a:r>
          </a:p>
        </p:txBody>
      </p:sp>
    </p:spTree>
    <p:extLst>
      <p:ext uri="{BB962C8B-B14F-4D97-AF65-F5344CB8AC3E}">
        <p14:creationId xmlns:p14="http://schemas.microsoft.com/office/powerpoint/2010/main" val="1510663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57F5-900F-EF48-9B52-867104A3F061}"/>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4114089E-137E-ED40-93E9-AB0C8A7CF0F4}"/>
              </a:ext>
            </a:extLst>
          </p:cNvPr>
          <p:cNvPicPr>
            <a:picLocks noGrp="1" noChangeAspect="1"/>
          </p:cNvPicPr>
          <p:nvPr>
            <p:ph idx="1"/>
          </p:nvPr>
        </p:nvPicPr>
        <p:blipFill>
          <a:blip r:embed="rId2"/>
          <a:stretch>
            <a:fillRect/>
          </a:stretch>
        </p:blipFill>
        <p:spPr>
          <a:xfrm>
            <a:off x="-38100" y="-4989"/>
            <a:ext cx="12268200" cy="6858000"/>
          </a:xfrm>
        </p:spPr>
      </p:pic>
      <p:sp>
        <p:nvSpPr>
          <p:cNvPr id="6" name="TextBox 5">
            <a:extLst>
              <a:ext uri="{FF2B5EF4-FFF2-40B4-BE49-F238E27FC236}">
                <a16:creationId xmlns:a16="http://schemas.microsoft.com/office/drawing/2014/main" id="{FD4CB65E-D058-8A4B-96B2-EF2274FC89FD}"/>
              </a:ext>
            </a:extLst>
          </p:cNvPr>
          <p:cNvSpPr txBox="1"/>
          <p:nvPr/>
        </p:nvSpPr>
        <p:spPr>
          <a:xfrm>
            <a:off x="2443845" y="902888"/>
            <a:ext cx="7543801" cy="584775"/>
          </a:xfrm>
          <a:prstGeom prst="rect">
            <a:avLst/>
          </a:prstGeom>
          <a:noFill/>
        </p:spPr>
        <p:txBody>
          <a:bodyPr wrap="square" rtlCol="0">
            <a:spAutoFit/>
          </a:bodyPr>
          <a:lstStyle/>
          <a:p>
            <a:pPr algn="ctr"/>
            <a:r>
              <a:rPr lang="en-BD" sz="3200" dirty="0">
                <a:latin typeface="Marker Felt Thin" panose="02000400000000000000" pitchFamily="2" charset="77"/>
              </a:rPr>
              <a:t>Use of Voice: Paralanguage </a:t>
            </a:r>
          </a:p>
        </p:txBody>
      </p:sp>
      <p:sp>
        <p:nvSpPr>
          <p:cNvPr id="7" name="TextBox 6">
            <a:extLst>
              <a:ext uri="{FF2B5EF4-FFF2-40B4-BE49-F238E27FC236}">
                <a16:creationId xmlns:a16="http://schemas.microsoft.com/office/drawing/2014/main" id="{B5F2927E-3A2E-5747-8501-44D8CD0691DD}"/>
              </a:ext>
            </a:extLst>
          </p:cNvPr>
          <p:cNvSpPr txBox="1"/>
          <p:nvPr/>
        </p:nvSpPr>
        <p:spPr>
          <a:xfrm>
            <a:off x="2204354" y="1347182"/>
            <a:ext cx="8539846" cy="157049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2200" b="1" dirty="0">
                <a:solidFill>
                  <a:srgbClr val="0070C0"/>
                </a:solidFill>
                <a:latin typeface="Abadi MT Condensed Light" panose="020B0306030101010103" pitchFamily="34" charset="77"/>
              </a:rPr>
              <a:t>A speaker who adjusts their tone for emphasis, speaks with confidence, and uses pauses effectively is often more persuasive and compelling than one who speaks monotonously or without emotional variation.</a:t>
            </a:r>
          </a:p>
        </p:txBody>
      </p:sp>
    </p:spTree>
    <p:extLst>
      <p:ext uri="{BB962C8B-B14F-4D97-AF65-F5344CB8AC3E}">
        <p14:creationId xmlns:p14="http://schemas.microsoft.com/office/powerpoint/2010/main" val="38278646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6282E-8BF8-1949-AF8A-771CF46F17AD}"/>
              </a:ext>
            </a:extLst>
          </p:cNvPr>
          <p:cNvSpPr>
            <a:spLocks noGrp="1"/>
          </p:cNvSpPr>
          <p:nvPr>
            <p:ph type="ctrTitle"/>
          </p:nvPr>
        </p:nvSpPr>
        <p:spPr/>
        <p:txBody>
          <a:bodyPr/>
          <a:lstStyle/>
          <a:p>
            <a:endParaRPr lang="en-BD"/>
          </a:p>
        </p:txBody>
      </p:sp>
      <p:sp>
        <p:nvSpPr>
          <p:cNvPr id="3" name="Subtitle 2">
            <a:extLst>
              <a:ext uri="{FF2B5EF4-FFF2-40B4-BE49-F238E27FC236}">
                <a16:creationId xmlns:a16="http://schemas.microsoft.com/office/drawing/2014/main" id="{C5DE8107-6EF6-BA44-8F8D-50735D8DE0E6}"/>
              </a:ext>
            </a:extLst>
          </p:cNvPr>
          <p:cNvSpPr>
            <a:spLocks noGrp="1"/>
          </p:cNvSpPr>
          <p:nvPr>
            <p:ph type="subTitle" idx="1"/>
          </p:nvPr>
        </p:nvSpPr>
        <p:spPr/>
        <p:txBody>
          <a:bodyPr/>
          <a:lstStyle/>
          <a:p>
            <a:endParaRPr lang="en-BD"/>
          </a:p>
        </p:txBody>
      </p:sp>
      <p:pic>
        <p:nvPicPr>
          <p:cNvPr id="5" name="Picture 4">
            <a:extLst>
              <a:ext uri="{FF2B5EF4-FFF2-40B4-BE49-F238E27FC236}">
                <a16:creationId xmlns:a16="http://schemas.microsoft.com/office/drawing/2014/main" id="{4E617E88-D023-4643-B4F7-198A363B35CC}"/>
              </a:ext>
            </a:extLst>
          </p:cNvPr>
          <p:cNvPicPr>
            <a:picLocks noChangeAspect="1"/>
          </p:cNvPicPr>
          <p:nvPr/>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62F42A74-DA85-974D-825D-E6A407E0A3D0}"/>
              </a:ext>
            </a:extLst>
          </p:cNvPr>
          <p:cNvSpPr txBox="1"/>
          <p:nvPr/>
        </p:nvSpPr>
        <p:spPr>
          <a:xfrm>
            <a:off x="3323381" y="2316163"/>
            <a:ext cx="5305749" cy="1754326"/>
          </a:xfrm>
          <a:prstGeom prst="rect">
            <a:avLst/>
          </a:prstGeom>
          <a:noFill/>
        </p:spPr>
        <p:txBody>
          <a:bodyPr wrap="square" rtlCol="0">
            <a:spAutoFit/>
          </a:bodyPr>
          <a:lstStyle/>
          <a:p>
            <a:pPr algn="ctr"/>
            <a:r>
              <a:rPr lang="en-BD" sz="5400" dirty="0">
                <a:latin typeface="Marker Felt Thin" panose="02000400000000000000" pitchFamily="2" charset="77"/>
              </a:rPr>
              <a:t>Physical Appearance</a:t>
            </a:r>
          </a:p>
        </p:txBody>
      </p:sp>
    </p:spTree>
    <p:extLst>
      <p:ext uri="{BB962C8B-B14F-4D97-AF65-F5344CB8AC3E}">
        <p14:creationId xmlns:p14="http://schemas.microsoft.com/office/powerpoint/2010/main" val="1411558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57F5-900F-EF48-9B52-867104A3F061}"/>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4114089E-137E-ED40-93E9-AB0C8A7CF0F4}"/>
              </a:ext>
            </a:extLst>
          </p:cNvPr>
          <p:cNvPicPr>
            <a:picLocks noGrp="1" noChangeAspect="1"/>
          </p:cNvPicPr>
          <p:nvPr>
            <p:ph idx="1"/>
          </p:nvPr>
        </p:nvPicPr>
        <p:blipFill>
          <a:blip r:embed="rId2"/>
          <a:stretch>
            <a:fillRect/>
          </a:stretch>
        </p:blipFill>
        <p:spPr>
          <a:xfrm>
            <a:off x="-38100" y="-4989"/>
            <a:ext cx="12268200" cy="6858000"/>
          </a:xfrm>
        </p:spPr>
      </p:pic>
      <p:sp>
        <p:nvSpPr>
          <p:cNvPr id="6" name="TextBox 5">
            <a:extLst>
              <a:ext uri="{FF2B5EF4-FFF2-40B4-BE49-F238E27FC236}">
                <a16:creationId xmlns:a16="http://schemas.microsoft.com/office/drawing/2014/main" id="{FD4CB65E-D058-8A4B-96B2-EF2274FC89FD}"/>
              </a:ext>
            </a:extLst>
          </p:cNvPr>
          <p:cNvSpPr txBox="1"/>
          <p:nvPr/>
        </p:nvSpPr>
        <p:spPr>
          <a:xfrm>
            <a:off x="3537856" y="929934"/>
            <a:ext cx="5573485" cy="584775"/>
          </a:xfrm>
          <a:prstGeom prst="rect">
            <a:avLst/>
          </a:prstGeom>
          <a:noFill/>
        </p:spPr>
        <p:txBody>
          <a:bodyPr wrap="square" rtlCol="0">
            <a:spAutoFit/>
          </a:bodyPr>
          <a:lstStyle/>
          <a:p>
            <a:pPr algn="ctr"/>
            <a:r>
              <a:rPr lang="en-BD" sz="3200" dirty="0">
                <a:latin typeface="Marker Felt Thin" panose="02000400000000000000" pitchFamily="2" charset="77"/>
              </a:rPr>
              <a:t>Physical Appearance</a:t>
            </a:r>
          </a:p>
        </p:txBody>
      </p:sp>
      <p:sp>
        <p:nvSpPr>
          <p:cNvPr id="7" name="TextBox 6">
            <a:extLst>
              <a:ext uri="{FF2B5EF4-FFF2-40B4-BE49-F238E27FC236}">
                <a16:creationId xmlns:a16="http://schemas.microsoft.com/office/drawing/2014/main" id="{B5F2927E-3A2E-5747-8501-44D8CD0691DD}"/>
              </a:ext>
            </a:extLst>
          </p:cNvPr>
          <p:cNvSpPr txBox="1"/>
          <p:nvPr/>
        </p:nvSpPr>
        <p:spPr>
          <a:xfrm>
            <a:off x="2209798" y="1480445"/>
            <a:ext cx="8229600" cy="516737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2200" dirty="0">
                <a:latin typeface="Abadi MT Condensed Light" panose="020B0306030101010103" pitchFamily="34" charset="77"/>
              </a:rPr>
              <a:t>When we meet new people, we are likely to </a:t>
            </a:r>
            <a:r>
              <a:rPr lang="en-GB" sz="2200" b="1" dirty="0">
                <a:solidFill>
                  <a:srgbClr val="0070C0"/>
                </a:solidFill>
                <a:latin typeface="Abadi MT Condensed Light" panose="020B0306030101010103" pitchFamily="34" charset="77"/>
              </a:rPr>
              <a:t>form our first impression of them based on how they are dressed and groomed</a:t>
            </a:r>
            <a:r>
              <a:rPr lang="en-GB" sz="2200" dirty="0">
                <a:latin typeface="Abadi MT Condensed Light" panose="020B0306030101010103" pitchFamily="34" charset="77"/>
              </a:rPr>
              <a:t>. Thus, </a:t>
            </a:r>
            <a:r>
              <a:rPr lang="en-GB" sz="2200" b="1" dirty="0">
                <a:solidFill>
                  <a:srgbClr val="7030A0"/>
                </a:solidFill>
                <a:latin typeface="Abadi MT Condensed Light" panose="020B0306030101010103" pitchFamily="34" charset="77"/>
              </a:rPr>
              <a:t>we can influence how others are likely to perceive us by our clothing and grooming choices while speaking publicly.</a:t>
            </a:r>
            <a:endParaRPr lang="en-GB" sz="2200" dirty="0">
              <a:latin typeface="Abadi MT Condensed Light" panose="020B0306030101010103" pitchFamily="34" charset="77"/>
            </a:endParaRPr>
          </a:p>
          <a:p>
            <a:pPr marL="342900" indent="-342900">
              <a:lnSpc>
                <a:spcPct val="150000"/>
              </a:lnSpc>
              <a:buFont typeface="Arial" panose="020B0604020202020204" pitchFamily="34" charset="0"/>
              <a:buChar char="•"/>
            </a:pPr>
            <a:r>
              <a:rPr lang="en-GB" sz="2200" dirty="0">
                <a:latin typeface="Abadi MT Condensed Light" panose="020B0306030101010103" pitchFamily="34" charset="77"/>
              </a:rPr>
              <a:t>A neatly groomed and professional appearance sends important message about a speaker’s commitment to the topic and occasion. </a:t>
            </a:r>
          </a:p>
          <a:p>
            <a:pPr marL="342900" indent="-342900">
              <a:lnSpc>
                <a:spcPct val="150000"/>
              </a:lnSpc>
              <a:buFont typeface="Arial" panose="020B0604020202020204" pitchFamily="34" charset="0"/>
              <a:buChar char="•"/>
            </a:pPr>
            <a:r>
              <a:rPr lang="en-GB" sz="2200" dirty="0">
                <a:latin typeface="Abadi MT Condensed Light" panose="020B0306030101010103" pitchFamily="34" charset="77"/>
              </a:rPr>
              <a:t>The </a:t>
            </a:r>
            <a:r>
              <a:rPr lang="en-GB" sz="2200" b="1" dirty="0">
                <a:latin typeface="Abadi MT Condensed Light" panose="020B0306030101010103" pitchFamily="34" charset="77"/>
              </a:rPr>
              <a:t>“</a:t>
            </a:r>
            <a:r>
              <a:rPr lang="en-GB" sz="2200" b="1" dirty="0">
                <a:solidFill>
                  <a:srgbClr val="0070C0"/>
                </a:solidFill>
                <a:latin typeface="Abadi MT Condensed Light" panose="020B0306030101010103" pitchFamily="34" charset="77"/>
              </a:rPr>
              <a:t>right” clothes for a speaking situation will depend on your personal tastes, preferences, and intentions as well as the situation in which you’ll be speaking, including the audience’s expectations and the nature of the event.</a:t>
            </a:r>
          </a:p>
          <a:p>
            <a:pPr>
              <a:lnSpc>
                <a:spcPct val="150000"/>
              </a:lnSpc>
            </a:pPr>
            <a:endParaRPr lang="en-GB" sz="2400" dirty="0">
              <a:latin typeface="Abadi MT Condensed Light" panose="020B0306030101010103" pitchFamily="34" charset="77"/>
            </a:endParaRPr>
          </a:p>
        </p:txBody>
      </p:sp>
    </p:spTree>
    <p:extLst>
      <p:ext uri="{BB962C8B-B14F-4D97-AF65-F5344CB8AC3E}">
        <p14:creationId xmlns:p14="http://schemas.microsoft.com/office/powerpoint/2010/main" val="905808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57F5-900F-EF48-9B52-867104A3F061}"/>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4114089E-137E-ED40-93E9-AB0C8A7CF0F4}"/>
              </a:ext>
            </a:extLst>
          </p:cNvPr>
          <p:cNvPicPr>
            <a:picLocks noGrp="1" noChangeAspect="1"/>
          </p:cNvPicPr>
          <p:nvPr>
            <p:ph idx="1"/>
          </p:nvPr>
        </p:nvPicPr>
        <p:blipFill>
          <a:blip r:embed="rId2"/>
          <a:stretch>
            <a:fillRect/>
          </a:stretch>
        </p:blipFill>
        <p:spPr>
          <a:xfrm>
            <a:off x="-38100" y="-4989"/>
            <a:ext cx="12268200" cy="6858000"/>
          </a:xfrm>
        </p:spPr>
      </p:pic>
      <p:sp>
        <p:nvSpPr>
          <p:cNvPr id="6" name="TextBox 5">
            <a:extLst>
              <a:ext uri="{FF2B5EF4-FFF2-40B4-BE49-F238E27FC236}">
                <a16:creationId xmlns:a16="http://schemas.microsoft.com/office/drawing/2014/main" id="{FD4CB65E-D058-8A4B-96B2-EF2274FC89FD}"/>
              </a:ext>
            </a:extLst>
          </p:cNvPr>
          <p:cNvSpPr txBox="1"/>
          <p:nvPr/>
        </p:nvSpPr>
        <p:spPr>
          <a:xfrm>
            <a:off x="3537856" y="929934"/>
            <a:ext cx="5573485" cy="584775"/>
          </a:xfrm>
          <a:prstGeom prst="rect">
            <a:avLst/>
          </a:prstGeom>
          <a:noFill/>
        </p:spPr>
        <p:txBody>
          <a:bodyPr wrap="square" rtlCol="0">
            <a:spAutoFit/>
          </a:bodyPr>
          <a:lstStyle/>
          <a:p>
            <a:pPr algn="ctr"/>
            <a:r>
              <a:rPr lang="en-BD" sz="3200" dirty="0">
                <a:latin typeface="Marker Felt Thin" panose="02000400000000000000" pitchFamily="2" charset="77"/>
              </a:rPr>
              <a:t>Physical Appearance</a:t>
            </a:r>
          </a:p>
        </p:txBody>
      </p:sp>
      <p:sp>
        <p:nvSpPr>
          <p:cNvPr id="7" name="TextBox 6">
            <a:extLst>
              <a:ext uri="{FF2B5EF4-FFF2-40B4-BE49-F238E27FC236}">
                <a16:creationId xmlns:a16="http://schemas.microsoft.com/office/drawing/2014/main" id="{B5F2927E-3A2E-5747-8501-44D8CD0691DD}"/>
              </a:ext>
            </a:extLst>
          </p:cNvPr>
          <p:cNvSpPr txBox="1"/>
          <p:nvPr/>
        </p:nvSpPr>
        <p:spPr>
          <a:xfrm>
            <a:off x="2209798" y="1104106"/>
            <a:ext cx="8229600" cy="2812821"/>
          </a:xfrm>
          <a:prstGeom prst="rect">
            <a:avLst/>
          </a:prstGeom>
          <a:noFill/>
        </p:spPr>
        <p:txBody>
          <a:bodyPr wrap="square" rtlCol="0">
            <a:spAutoFit/>
          </a:bodyPr>
          <a:lstStyle/>
          <a:p>
            <a:pPr>
              <a:lnSpc>
                <a:spcPct val="150000"/>
              </a:lnSpc>
            </a:pPr>
            <a:endParaRPr lang="en-GB" sz="2400" dirty="0">
              <a:latin typeface="Abadi MT Condensed Light" panose="020B0306030101010103" pitchFamily="34" charset="77"/>
            </a:endParaRPr>
          </a:p>
          <a:p>
            <a:pPr marL="457200" indent="-457200">
              <a:lnSpc>
                <a:spcPct val="150000"/>
              </a:lnSpc>
              <a:buAutoNum type="arabicPeriod"/>
            </a:pPr>
            <a:r>
              <a:rPr lang="en-GB" sz="2400" b="1" dirty="0">
                <a:solidFill>
                  <a:srgbClr val="7030A0"/>
                </a:solidFill>
                <a:latin typeface="Abadi MT Condensed Light" panose="020B0306030101010103" pitchFamily="34" charset="77"/>
              </a:rPr>
              <a:t>Consider the audience and occasion.</a:t>
            </a:r>
          </a:p>
          <a:p>
            <a:pPr marL="457200" indent="-457200">
              <a:lnSpc>
                <a:spcPct val="150000"/>
              </a:lnSpc>
              <a:buAutoNum type="arabicPeriod"/>
            </a:pPr>
            <a:r>
              <a:rPr lang="en-GB" sz="2400" b="1" dirty="0">
                <a:solidFill>
                  <a:srgbClr val="7030A0"/>
                </a:solidFill>
                <a:latin typeface="Abadi MT Condensed Light" panose="020B0306030101010103" pitchFamily="34" charset="77"/>
              </a:rPr>
              <a:t>Consider your topic and purpose.</a:t>
            </a:r>
          </a:p>
          <a:p>
            <a:pPr marL="457200" indent="-457200">
              <a:lnSpc>
                <a:spcPct val="150000"/>
              </a:lnSpc>
              <a:buAutoNum type="arabicPeriod"/>
            </a:pPr>
            <a:r>
              <a:rPr lang="en-GB" sz="2400" b="1" dirty="0">
                <a:solidFill>
                  <a:srgbClr val="7030A0"/>
                </a:solidFill>
                <a:latin typeface="Abadi MT Condensed Light" panose="020B0306030101010103" pitchFamily="34" charset="77"/>
              </a:rPr>
              <a:t>Avoid extremes.</a:t>
            </a:r>
          </a:p>
          <a:p>
            <a:pPr>
              <a:lnSpc>
                <a:spcPct val="150000"/>
              </a:lnSpc>
            </a:pPr>
            <a:r>
              <a:rPr lang="en-GB" sz="2400" b="1" dirty="0">
                <a:solidFill>
                  <a:srgbClr val="7030A0"/>
                </a:solidFill>
                <a:latin typeface="Abadi MT Condensed Light" panose="020B0306030101010103" pitchFamily="34" charset="77"/>
              </a:rPr>
              <a:t> </a:t>
            </a:r>
          </a:p>
        </p:txBody>
      </p:sp>
    </p:spTree>
    <p:extLst>
      <p:ext uri="{BB962C8B-B14F-4D97-AF65-F5344CB8AC3E}">
        <p14:creationId xmlns:p14="http://schemas.microsoft.com/office/powerpoint/2010/main" val="2176115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6282E-8BF8-1949-AF8A-771CF46F17AD}"/>
              </a:ext>
            </a:extLst>
          </p:cNvPr>
          <p:cNvSpPr>
            <a:spLocks noGrp="1"/>
          </p:cNvSpPr>
          <p:nvPr>
            <p:ph type="ctrTitle"/>
          </p:nvPr>
        </p:nvSpPr>
        <p:spPr/>
        <p:txBody>
          <a:bodyPr/>
          <a:lstStyle/>
          <a:p>
            <a:endParaRPr lang="en-BD"/>
          </a:p>
        </p:txBody>
      </p:sp>
      <p:sp>
        <p:nvSpPr>
          <p:cNvPr id="3" name="Subtitle 2">
            <a:extLst>
              <a:ext uri="{FF2B5EF4-FFF2-40B4-BE49-F238E27FC236}">
                <a16:creationId xmlns:a16="http://schemas.microsoft.com/office/drawing/2014/main" id="{C5DE8107-6EF6-BA44-8F8D-50735D8DE0E6}"/>
              </a:ext>
            </a:extLst>
          </p:cNvPr>
          <p:cNvSpPr>
            <a:spLocks noGrp="1"/>
          </p:cNvSpPr>
          <p:nvPr>
            <p:ph type="subTitle" idx="1"/>
          </p:nvPr>
        </p:nvSpPr>
        <p:spPr/>
        <p:txBody>
          <a:bodyPr/>
          <a:lstStyle/>
          <a:p>
            <a:endParaRPr lang="en-BD"/>
          </a:p>
        </p:txBody>
      </p:sp>
      <p:pic>
        <p:nvPicPr>
          <p:cNvPr id="5" name="Picture 4">
            <a:extLst>
              <a:ext uri="{FF2B5EF4-FFF2-40B4-BE49-F238E27FC236}">
                <a16:creationId xmlns:a16="http://schemas.microsoft.com/office/drawing/2014/main" id="{4E617E88-D023-4643-B4F7-198A363B35CC}"/>
              </a:ext>
            </a:extLst>
          </p:cNvPr>
          <p:cNvPicPr>
            <a:picLocks noChangeAspect="1"/>
          </p:cNvPicPr>
          <p:nvPr/>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62F42A74-DA85-974D-825D-E6A407E0A3D0}"/>
              </a:ext>
            </a:extLst>
          </p:cNvPr>
          <p:cNvSpPr txBox="1"/>
          <p:nvPr/>
        </p:nvSpPr>
        <p:spPr>
          <a:xfrm>
            <a:off x="3471377" y="1844596"/>
            <a:ext cx="5305749" cy="2585323"/>
          </a:xfrm>
          <a:prstGeom prst="rect">
            <a:avLst/>
          </a:prstGeom>
          <a:noFill/>
        </p:spPr>
        <p:txBody>
          <a:bodyPr wrap="square" rtlCol="0">
            <a:spAutoFit/>
          </a:bodyPr>
          <a:lstStyle/>
          <a:p>
            <a:pPr algn="ctr"/>
            <a:r>
              <a:rPr lang="en-BD" sz="5400" dirty="0">
                <a:latin typeface="Marker Felt Thin" panose="02000400000000000000" pitchFamily="2" charset="77"/>
              </a:rPr>
              <a:t>Characteristics of Nonverbal Communication</a:t>
            </a:r>
          </a:p>
        </p:txBody>
      </p:sp>
    </p:spTree>
    <p:extLst>
      <p:ext uri="{BB962C8B-B14F-4D97-AF65-F5344CB8AC3E}">
        <p14:creationId xmlns:p14="http://schemas.microsoft.com/office/powerpoint/2010/main" val="334635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57F5-900F-EF48-9B52-867104A3F061}"/>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4114089E-137E-ED40-93E9-AB0C8A7CF0F4}"/>
              </a:ext>
            </a:extLst>
          </p:cNvPr>
          <p:cNvPicPr>
            <a:picLocks noGrp="1" noChangeAspect="1"/>
          </p:cNvPicPr>
          <p:nvPr>
            <p:ph idx="1"/>
          </p:nvPr>
        </p:nvPicPr>
        <p:blipFill>
          <a:blip r:embed="rId2"/>
          <a:stretch>
            <a:fillRect/>
          </a:stretch>
        </p:blipFill>
        <p:spPr>
          <a:xfrm>
            <a:off x="-38100" y="-4989"/>
            <a:ext cx="12268200" cy="6858000"/>
          </a:xfrm>
        </p:spPr>
      </p:pic>
      <p:sp>
        <p:nvSpPr>
          <p:cNvPr id="6" name="TextBox 5">
            <a:extLst>
              <a:ext uri="{FF2B5EF4-FFF2-40B4-BE49-F238E27FC236}">
                <a16:creationId xmlns:a16="http://schemas.microsoft.com/office/drawing/2014/main" id="{FD4CB65E-D058-8A4B-96B2-EF2274FC89FD}"/>
              </a:ext>
            </a:extLst>
          </p:cNvPr>
          <p:cNvSpPr txBox="1"/>
          <p:nvPr/>
        </p:nvSpPr>
        <p:spPr>
          <a:xfrm>
            <a:off x="2321380" y="852139"/>
            <a:ext cx="8368392" cy="584775"/>
          </a:xfrm>
          <a:prstGeom prst="rect">
            <a:avLst/>
          </a:prstGeom>
          <a:noFill/>
        </p:spPr>
        <p:txBody>
          <a:bodyPr wrap="square" rtlCol="0">
            <a:spAutoFit/>
          </a:bodyPr>
          <a:lstStyle/>
          <a:p>
            <a:pPr algn="ctr"/>
            <a:r>
              <a:rPr lang="en-BD" sz="3200" dirty="0">
                <a:latin typeface="Marker Felt Thin" panose="02000400000000000000" pitchFamily="2" charset="77"/>
              </a:rPr>
              <a:t>Characteristics of Nonverbal Communciation</a:t>
            </a:r>
          </a:p>
        </p:txBody>
      </p:sp>
      <p:sp>
        <p:nvSpPr>
          <p:cNvPr id="7" name="TextBox 6">
            <a:extLst>
              <a:ext uri="{FF2B5EF4-FFF2-40B4-BE49-F238E27FC236}">
                <a16:creationId xmlns:a16="http://schemas.microsoft.com/office/drawing/2014/main" id="{B5F2927E-3A2E-5747-8501-44D8CD0691DD}"/>
              </a:ext>
            </a:extLst>
          </p:cNvPr>
          <p:cNvSpPr txBox="1"/>
          <p:nvPr/>
        </p:nvSpPr>
        <p:spPr>
          <a:xfrm>
            <a:off x="2242457" y="1436914"/>
            <a:ext cx="8229600" cy="4474879"/>
          </a:xfrm>
          <a:prstGeom prst="rect">
            <a:avLst/>
          </a:prstGeom>
          <a:noFill/>
        </p:spPr>
        <p:txBody>
          <a:bodyPr wrap="square" rtlCol="0">
            <a:spAutoFit/>
          </a:bodyPr>
          <a:lstStyle/>
          <a:p>
            <a:pPr>
              <a:lnSpc>
                <a:spcPct val="150000"/>
              </a:lnSpc>
            </a:pPr>
            <a:r>
              <a:rPr lang="en-GB" sz="2400" b="1" dirty="0">
                <a:solidFill>
                  <a:srgbClr val="C00000"/>
                </a:solidFill>
                <a:latin typeface="Abadi MT Condensed Light" panose="020B0306030101010103" pitchFamily="34" charset="77"/>
              </a:rPr>
              <a:t>1. Nonverbal communication is inevitable </a:t>
            </a:r>
            <a:r>
              <a:rPr lang="en-GB" sz="2400" dirty="0">
                <a:latin typeface="Abadi MT Condensed Light" panose="020B0306030101010103" pitchFamily="34" charset="77"/>
              </a:rPr>
              <a:t>– The phrase “We cannot NOT communicate” captures the essence of this characteristic. If you are in the presence of someone else, </a:t>
            </a:r>
            <a:r>
              <a:rPr lang="en-GB" sz="2400" b="1" dirty="0">
                <a:solidFill>
                  <a:srgbClr val="0070C0"/>
                </a:solidFill>
                <a:latin typeface="Abadi MT Condensed Light" panose="020B0306030101010103" pitchFamily="34" charset="77"/>
              </a:rPr>
              <a:t>your nonverbal messages (whether intentional or not) are communicating</a:t>
            </a:r>
            <a:r>
              <a:rPr lang="en-GB" sz="2400" dirty="0">
                <a:latin typeface="Abadi MT Condensed Light" panose="020B0306030101010103" pitchFamily="34" charset="77"/>
              </a:rPr>
              <a:t>. For example, when a student yawns and stares off into the distance during class, his or her teacher may notice this behaviour and assign meaning to it. They may either interpret it as a sign of boredom or as a sign of fatigue, or even disrespect. Meanwhile, the student maybe unaware of all the messages their behaviour is sending.</a:t>
            </a:r>
          </a:p>
        </p:txBody>
      </p:sp>
    </p:spTree>
    <p:extLst>
      <p:ext uri="{BB962C8B-B14F-4D97-AF65-F5344CB8AC3E}">
        <p14:creationId xmlns:p14="http://schemas.microsoft.com/office/powerpoint/2010/main" val="3572515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57F5-900F-EF48-9B52-867104A3F061}"/>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4114089E-137E-ED40-93E9-AB0C8A7CF0F4}"/>
              </a:ext>
            </a:extLst>
          </p:cNvPr>
          <p:cNvPicPr>
            <a:picLocks noGrp="1" noChangeAspect="1"/>
          </p:cNvPicPr>
          <p:nvPr>
            <p:ph idx="1"/>
          </p:nvPr>
        </p:nvPicPr>
        <p:blipFill>
          <a:blip r:embed="rId2"/>
          <a:stretch>
            <a:fillRect/>
          </a:stretch>
        </p:blipFill>
        <p:spPr>
          <a:xfrm>
            <a:off x="-38100" y="-4989"/>
            <a:ext cx="12268200" cy="6858000"/>
          </a:xfrm>
        </p:spPr>
      </p:pic>
      <p:sp>
        <p:nvSpPr>
          <p:cNvPr id="6" name="TextBox 5">
            <a:extLst>
              <a:ext uri="{FF2B5EF4-FFF2-40B4-BE49-F238E27FC236}">
                <a16:creationId xmlns:a16="http://schemas.microsoft.com/office/drawing/2014/main" id="{FD4CB65E-D058-8A4B-96B2-EF2274FC89FD}"/>
              </a:ext>
            </a:extLst>
          </p:cNvPr>
          <p:cNvSpPr txBox="1"/>
          <p:nvPr/>
        </p:nvSpPr>
        <p:spPr>
          <a:xfrm>
            <a:off x="2321380" y="852139"/>
            <a:ext cx="8368392" cy="584775"/>
          </a:xfrm>
          <a:prstGeom prst="rect">
            <a:avLst/>
          </a:prstGeom>
          <a:noFill/>
        </p:spPr>
        <p:txBody>
          <a:bodyPr wrap="square" rtlCol="0">
            <a:spAutoFit/>
          </a:bodyPr>
          <a:lstStyle/>
          <a:p>
            <a:pPr algn="ctr"/>
            <a:r>
              <a:rPr lang="en-BD" sz="3200" dirty="0">
                <a:latin typeface="Marker Felt Thin" panose="02000400000000000000" pitchFamily="2" charset="77"/>
              </a:rPr>
              <a:t>Characteristics of Nonverbal Communciation</a:t>
            </a:r>
          </a:p>
        </p:txBody>
      </p:sp>
      <p:sp>
        <p:nvSpPr>
          <p:cNvPr id="7" name="TextBox 6">
            <a:extLst>
              <a:ext uri="{FF2B5EF4-FFF2-40B4-BE49-F238E27FC236}">
                <a16:creationId xmlns:a16="http://schemas.microsoft.com/office/drawing/2014/main" id="{B5F2927E-3A2E-5747-8501-44D8CD0691DD}"/>
              </a:ext>
            </a:extLst>
          </p:cNvPr>
          <p:cNvSpPr txBox="1"/>
          <p:nvPr/>
        </p:nvSpPr>
        <p:spPr>
          <a:xfrm>
            <a:off x="2242457" y="1436914"/>
            <a:ext cx="8229600" cy="3920882"/>
          </a:xfrm>
          <a:prstGeom prst="rect">
            <a:avLst/>
          </a:prstGeom>
          <a:noFill/>
        </p:spPr>
        <p:txBody>
          <a:bodyPr wrap="square" rtlCol="0">
            <a:spAutoFit/>
          </a:bodyPr>
          <a:lstStyle/>
          <a:p>
            <a:pPr>
              <a:lnSpc>
                <a:spcPct val="150000"/>
              </a:lnSpc>
            </a:pPr>
            <a:r>
              <a:rPr lang="en-GB" sz="2400" b="1" dirty="0">
                <a:solidFill>
                  <a:srgbClr val="C00000"/>
                </a:solidFill>
                <a:latin typeface="Abadi MT Condensed Light" panose="020B0306030101010103" pitchFamily="34" charset="77"/>
              </a:rPr>
              <a:t>2. Nonverbal communication is the primary conveyer of emotions </a:t>
            </a:r>
            <a:r>
              <a:rPr lang="en-GB" sz="2400" dirty="0">
                <a:latin typeface="Abadi MT Condensed Light" panose="020B0306030101010103" pitchFamily="34" charset="77"/>
              </a:rPr>
              <a:t>– </a:t>
            </a:r>
            <a:r>
              <a:rPr lang="en-GB" sz="2400" b="1" dirty="0">
                <a:solidFill>
                  <a:srgbClr val="0070C0"/>
                </a:solidFill>
                <a:latin typeface="Abadi MT Condensed Light" panose="020B0306030101010103" pitchFamily="34" charset="77"/>
              </a:rPr>
              <a:t>We interpret how others feel about what they are communicating based almost entirely on their verbal messages</a:t>
            </a:r>
            <a:r>
              <a:rPr lang="en-GB" sz="2400" dirty="0">
                <a:latin typeface="Abadi MT Condensed Light" panose="020B0306030101010103" pitchFamily="34" charset="77"/>
              </a:rPr>
              <a:t>. In fact, 90 percent of the emotional meaning of messages is conveyed nonverbally. So, when your friend frowns, clenches her fists, and forcefully says, “I am NOT angry!” her friend ignores the verbal message and believes the contradicting nonverbal messages, which communicated that Sam is actually very angry. </a:t>
            </a:r>
          </a:p>
        </p:txBody>
      </p:sp>
    </p:spTree>
    <p:extLst>
      <p:ext uri="{BB962C8B-B14F-4D97-AF65-F5344CB8AC3E}">
        <p14:creationId xmlns:p14="http://schemas.microsoft.com/office/powerpoint/2010/main" val="2046978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57F5-900F-EF48-9B52-867104A3F061}"/>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4114089E-137E-ED40-93E9-AB0C8A7CF0F4}"/>
              </a:ext>
            </a:extLst>
          </p:cNvPr>
          <p:cNvPicPr>
            <a:picLocks noGrp="1" noChangeAspect="1"/>
          </p:cNvPicPr>
          <p:nvPr>
            <p:ph idx="1"/>
          </p:nvPr>
        </p:nvPicPr>
        <p:blipFill>
          <a:blip r:embed="rId2"/>
          <a:stretch>
            <a:fillRect/>
          </a:stretch>
        </p:blipFill>
        <p:spPr>
          <a:xfrm>
            <a:off x="-38100" y="-4989"/>
            <a:ext cx="12268200" cy="6858000"/>
          </a:xfrm>
        </p:spPr>
      </p:pic>
      <p:sp>
        <p:nvSpPr>
          <p:cNvPr id="6" name="TextBox 5">
            <a:extLst>
              <a:ext uri="{FF2B5EF4-FFF2-40B4-BE49-F238E27FC236}">
                <a16:creationId xmlns:a16="http://schemas.microsoft.com/office/drawing/2014/main" id="{FD4CB65E-D058-8A4B-96B2-EF2274FC89FD}"/>
              </a:ext>
            </a:extLst>
          </p:cNvPr>
          <p:cNvSpPr txBox="1"/>
          <p:nvPr/>
        </p:nvSpPr>
        <p:spPr>
          <a:xfrm>
            <a:off x="2321380" y="852139"/>
            <a:ext cx="8368392" cy="584775"/>
          </a:xfrm>
          <a:prstGeom prst="rect">
            <a:avLst/>
          </a:prstGeom>
          <a:noFill/>
        </p:spPr>
        <p:txBody>
          <a:bodyPr wrap="square" rtlCol="0">
            <a:spAutoFit/>
          </a:bodyPr>
          <a:lstStyle/>
          <a:p>
            <a:pPr algn="ctr"/>
            <a:r>
              <a:rPr lang="en-BD" sz="3200" dirty="0">
                <a:latin typeface="Marker Felt Thin" panose="02000400000000000000" pitchFamily="2" charset="77"/>
              </a:rPr>
              <a:t>Characteristics of Nonverbal Communciation</a:t>
            </a:r>
          </a:p>
        </p:txBody>
      </p:sp>
      <p:sp>
        <p:nvSpPr>
          <p:cNvPr id="7" name="TextBox 6">
            <a:extLst>
              <a:ext uri="{FF2B5EF4-FFF2-40B4-BE49-F238E27FC236}">
                <a16:creationId xmlns:a16="http://schemas.microsoft.com/office/drawing/2014/main" id="{B5F2927E-3A2E-5747-8501-44D8CD0691DD}"/>
              </a:ext>
            </a:extLst>
          </p:cNvPr>
          <p:cNvSpPr txBox="1"/>
          <p:nvPr/>
        </p:nvSpPr>
        <p:spPr>
          <a:xfrm>
            <a:off x="2242457" y="1436914"/>
            <a:ext cx="8229600" cy="4474879"/>
          </a:xfrm>
          <a:prstGeom prst="rect">
            <a:avLst/>
          </a:prstGeom>
          <a:noFill/>
        </p:spPr>
        <p:txBody>
          <a:bodyPr wrap="square" rtlCol="0">
            <a:spAutoFit/>
          </a:bodyPr>
          <a:lstStyle/>
          <a:p>
            <a:pPr>
              <a:lnSpc>
                <a:spcPct val="150000"/>
              </a:lnSpc>
            </a:pPr>
            <a:r>
              <a:rPr lang="en-GB" sz="2400" b="1" dirty="0">
                <a:solidFill>
                  <a:srgbClr val="C00000"/>
                </a:solidFill>
                <a:latin typeface="Abadi MT Condensed Light" panose="020B0306030101010103" pitchFamily="34" charset="77"/>
              </a:rPr>
              <a:t>3. Nonverbal communication is multi-</a:t>
            </a:r>
            <a:r>
              <a:rPr lang="en-GB" sz="2400" b="1" dirty="0" err="1">
                <a:solidFill>
                  <a:srgbClr val="C00000"/>
                </a:solidFill>
                <a:latin typeface="Abadi MT Condensed Light" panose="020B0306030101010103" pitchFamily="34" charset="77"/>
              </a:rPr>
              <a:t>channeled</a:t>
            </a:r>
            <a:r>
              <a:rPr lang="en-GB" sz="2400" b="1" dirty="0">
                <a:solidFill>
                  <a:srgbClr val="C00000"/>
                </a:solidFill>
                <a:latin typeface="Abadi MT Condensed Light" panose="020B0306030101010103" pitchFamily="34" charset="77"/>
              </a:rPr>
              <a:t> </a:t>
            </a:r>
            <a:r>
              <a:rPr lang="en-GB" sz="2400" dirty="0">
                <a:latin typeface="Abadi MT Condensed Light" panose="020B0306030101010103" pitchFamily="34" charset="77"/>
              </a:rPr>
              <a:t>– </a:t>
            </a:r>
            <a:r>
              <a:rPr lang="en-GB" sz="2400" b="1" dirty="0">
                <a:solidFill>
                  <a:srgbClr val="0070C0"/>
                </a:solidFill>
                <a:latin typeface="Abadi MT Condensed Light" panose="020B0306030101010103" pitchFamily="34" charset="77"/>
              </a:rPr>
              <a:t>We perceive meaning from a combination of different nonverbal behaviours including, for example, posture, gestures, facial expression, vocal pitch and rate, and appearance</a:t>
            </a:r>
            <a:r>
              <a:rPr lang="en-GB" sz="2400" dirty="0">
                <a:latin typeface="Abadi MT Condensed Light" panose="020B0306030101010103" pitchFamily="34" charset="77"/>
              </a:rPr>
              <a:t>. So, when a parent observes their child’s failure to maintain eye contact, their bowed head, the parent may decide that the child is lying when he/she says they did not hit their sibling. The fact that nonverbal communication is multi-</a:t>
            </a:r>
            <a:r>
              <a:rPr lang="en-GB" sz="2400" dirty="0" err="1">
                <a:latin typeface="Abadi MT Condensed Light" panose="020B0306030101010103" pitchFamily="34" charset="77"/>
              </a:rPr>
              <a:t>channeled</a:t>
            </a:r>
            <a:r>
              <a:rPr lang="en-GB" sz="2400" dirty="0">
                <a:latin typeface="Abadi MT Condensed Light" panose="020B0306030101010103" pitchFamily="34" charset="77"/>
              </a:rPr>
              <a:t> is one reason people are more likely to believe nonverbal communication when nonverbal behaviours contradict the verbal message.</a:t>
            </a:r>
          </a:p>
        </p:txBody>
      </p:sp>
    </p:spTree>
    <p:extLst>
      <p:ext uri="{BB962C8B-B14F-4D97-AF65-F5344CB8AC3E}">
        <p14:creationId xmlns:p14="http://schemas.microsoft.com/office/powerpoint/2010/main" val="28665136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57F5-900F-EF48-9B52-867104A3F061}"/>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4114089E-137E-ED40-93E9-AB0C8A7CF0F4}"/>
              </a:ext>
            </a:extLst>
          </p:cNvPr>
          <p:cNvPicPr>
            <a:picLocks noGrp="1" noChangeAspect="1"/>
          </p:cNvPicPr>
          <p:nvPr>
            <p:ph idx="1"/>
          </p:nvPr>
        </p:nvPicPr>
        <p:blipFill>
          <a:blip r:embed="rId2"/>
          <a:stretch>
            <a:fillRect/>
          </a:stretch>
        </p:blipFill>
        <p:spPr>
          <a:xfrm>
            <a:off x="-38100" y="-4989"/>
            <a:ext cx="12268200" cy="6858000"/>
          </a:xfrm>
        </p:spPr>
      </p:pic>
      <p:sp>
        <p:nvSpPr>
          <p:cNvPr id="6" name="TextBox 5">
            <a:extLst>
              <a:ext uri="{FF2B5EF4-FFF2-40B4-BE49-F238E27FC236}">
                <a16:creationId xmlns:a16="http://schemas.microsoft.com/office/drawing/2014/main" id="{FD4CB65E-D058-8A4B-96B2-EF2274FC89FD}"/>
              </a:ext>
            </a:extLst>
          </p:cNvPr>
          <p:cNvSpPr txBox="1"/>
          <p:nvPr/>
        </p:nvSpPr>
        <p:spPr>
          <a:xfrm>
            <a:off x="2321380" y="852139"/>
            <a:ext cx="8368392" cy="584775"/>
          </a:xfrm>
          <a:prstGeom prst="rect">
            <a:avLst/>
          </a:prstGeom>
          <a:noFill/>
        </p:spPr>
        <p:txBody>
          <a:bodyPr wrap="square" rtlCol="0">
            <a:spAutoFit/>
          </a:bodyPr>
          <a:lstStyle/>
          <a:p>
            <a:pPr algn="ctr"/>
            <a:r>
              <a:rPr lang="en-BD" sz="3200" dirty="0">
                <a:latin typeface="Marker Felt Thin" panose="02000400000000000000" pitchFamily="2" charset="77"/>
              </a:rPr>
              <a:t>Characteristics of Nonverbal Communciation</a:t>
            </a:r>
          </a:p>
        </p:txBody>
      </p:sp>
      <p:sp>
        <p:nvSpPr>
          <p:cNvPr id="7" name="TextBox 6">
            <a:extLst>
              <a:ext uri="{FF2B5EF4-FFF2-40B4-BE49-F238E27FC236}">
                <a16:creationId xmlns:a16="http://schemas.microsoft.com/office/drawing/2014/main" id="{B5F2927E-3A2E-5747-8501-44D8CD0691DD}"/>
              </a:ext>
            </a:extLst>
          </p:cNvPr>
          <p:cNvSpPr txBox="1"/>
          <p:nvPr/>
        </p:nvSpPr>
        <p:spPr>
          <a:xfrm>
            <a:off x="2242457" y="1436914"/>
            <a:ext cx="8229600" cy="4474879"/>
          </a:xfrm>
          <a:prstGeom prst="rect">
            <a:avLst/>
          </a:prstGeom>
          <a:noFill/>
        </p:spPr>
        <p:txBody>
          <a:bodyPr wrap="square" rtlCol="0">
            <a:spAutoFit/>
          </a:bodyPr>
          <a:lstStyle/>
          <a:p>
            <a:pPr>
              <a:lnSpc>
                <a:spcPct val="150000"/>
              </a:lnSpc>
            </a:pPr>
            <a:r>
              <a:rPr lang="en-GB" sz="2400" b="1" dirty="0">
                <a:solidFill>
                  <a:srgbClr val="C00000"/>
                </a:solidFill>
                <a:latin typeface="Abadi MT Condensed Light" panose="020B0306030101010103" pitchFamily="34" charset="77"/>
              </a:rPr>
              <a:t>4. Nonverbal communication is ambiguous </a:t>
            </a:r>
            <a:r>
              <a:rPr lang="en-GB" sz="2400" dirty="0">
                <a:latin typeface="Abadi MT Condensed Light" panose="020B0306030101010103" pitchFamily="34" charset="77"/>
              </a:rPr>
              <a:t>– Very few nonverbal messages mean the same thing to everyone. </a:t>
            </a:r>
            <a:r>
              <a:rPr lang="en-GB" sz="2400" b="1" dirty="0">
                <a:solidFill>
                  <a:srgbClr val="0070C0"/>
                </a:solidFill>
                <a:latin typeface="Abadi MT Condensed Light" panose="020B0306030101010103" pitchFamily="34" charset="77"/>
              </a:rPr>
              <a:t>The meaning of one nonverbal behaviour can vary based on culture,  gender, and even context or situation</a:t>
            </a:r>
            <a:r>
              <a:rPr lang="en-GB" sz="2400" dirty="0">
                <a:latin typeface="Abadi MT Condensed Light" panose="020B0306030101010103" pitchFamily="34" charset="77"/>
              </a:rPr>
              <a:t>. For example, in the dominant American culture, direct eye contact is understood as a sign of respect. In some cultures, however, direct eye contact might be interpreted as being disrespectful. </a:t>
            </a:r>
            <a:r>
              <a:rPr lang="en-GB" sz="2400" b="1" dirty="0">
                <a:solidFill>
                  <a:srgbClr val="0070C0"/>
                </a:solidFill>
                <a:latin typeface="Abadi MT Condensed Light" panose="020B0306030101010103" pitchFamily="34" charset="77"/>
              </a:rPr>
              <a:t>Not only can the meaning vary among different cultures, but the meaning of the same nonverbal message also can differ based on the situation.</a:t>
            </a:r>
          </a:p>
        </p:txBody>
      </p:sp>
    </p:spTree>
    <p:extLst>
      <p:ext uri="{BB962C8B-B14F-4D97-AF65-F5344CB8AC3E}">
        <p14:creationId xmlns:p14="http://schemas.microsoft.com/office/powerpoint/2010/main" val="26422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6282E-8BF8-1949-AF8A-771CF46F17AD}"/>
              </a:ext>
            </a:extLst>
          </p:cNvPr>
          <p:cNvSpPr>
            <a:spLocks noGrp="1"/>
          </p:cNvSpPr>
          <p:nvPr>
            <p:ph type="ctrTitle"/>
          </p:nvPr>
        </p:nvSpPr>
        <p:spPr/>
        <p:txBody>
          <a:bodyPr/>
          <a:lstStyle/>
          <a:p>
            <a:endParaRPr lang="en-BD"/>
          </a:p>
        </p:txBody>
      </p:sp>
      <p:sp>
        <p:nvSpPr>
          <p:cNvPr id="3" name="Subtitle 2">
            <a:extLst>
              <a:ext uri="{FF2B5EF4-FFF2-40B4-BE49-F238E27FC236}">
                <a16:creationId xmlns:a16="http://schemas.microsoft.com/office/drawing/2014/main" id="{C5DE8107-6EF6-BA44-8F8D-50735D8DE0E6}"/>
              </a:ext>
            </a:extLst>
          </p:cNvPr>
          <p:cNvSpPr>
            <a:spLocks noGrp="1"/>
          </p:cNvSpPr>
          <p:nvPr>
            <p:ph type="subTitle" idx="1"/>
          </p:nvPr>
        </p:nvSpPr>
        <p:spPr/>
        <p:txBody>
          <a:bodyPr/>
          <a:lstStyle/>
          <a:p>
            <a:endParaRPr lang="en-BD"/>
          </a:p>
        </p:txBody>
      </p:sp>
      <p:pic>
        <p:nvPicPr>
          <p:cNvPr id="5" name="Picture 4">
            <a:extLst>
              <a:ext uri="{FF2B5EF4-FFF2-40B4-BE49-F238E27FC236}">
                <a16:creationId xmlns:a16="http://schemas.microsoft.com/office/drawing/2014/main" id="{4E617E88-D023-4643-B4F7-198A363B35CC}"/>
              </a:ext>
            </a:extLst>
          </p:cNvPr>
          <p:cNvPicPr>
            <a:picLocks noChangeAspect="1"/>
          </p:cNvPicPr>
          <p:nvPr/>
        </p:nvPicPr>
        <p:blipFill>
          <a:blip r:embed="rId2"/>
          <a:stretch>
            <a:fillRect/>
          </a:stretch>
        </p:blipFill>
        <p:spPr>
          <a:xfrm>
            <a:off x="-2" y="0"/>
            <a:ext cx="12192000" cy="6858000"/>
          </a:xfrm>
          <a:prstGeom prst="rect">
            <a:avLst/>
          </a:prstGeom>
        </p:spPr>
      </p:pic>
      <p:sp>
        <p:nvSpPr>
          <p:cNvPr id="7" name="TextBox 6">
            <a:extLst>
              <a:ext uri="{FF2B5EF4-FFF2-40B4-BE49-F238E27FC236}">
                <a16:creationId xmlns:a16="http://schemas.microsoft.com/office/drawing/2014/main" id="{A51443E6-D1C4-B84D-A147-CFA391F0C32E}"/>
              </a:ext>
            </a:extLst>
          </p:cNvPr>
          <p:cNvSpPr txBox="1"/>
          <p:nvPr/>
        </p:nvSpPr>
        <p:spPr>
          <a:xfrm>
            <a:off x="4746171" y="4429919"/>
            <a:ext cx="2764972" cy="584775"/>
          </a:xfrm>
          <a:prstGeom prst="rect">
            <a:avLst/>
          </a:prstGeom>
          <a:noFill/>
        </p:spPr>
        <p:txBody>
          <a:bodyPr wrap="square" rtlCol="0">
            <a:spAutoFit/>
          </a:bodyPr>
          <a:lstStyle/>
          <a:p>
            <a:pPr algn="ctr"/>
            <a:endParaRPr lang="en-BD" sz="3200" dirty="0">
              <a:solidFill>
                <a:schemeClr val="bg1"/>
              </a:solidFill>
              <a:latin typeface="Marker Felt Thin" panose="02000400000000000000" pitchFamily="2" charset="77"/>
            </a:endParaRPr>
          </a:p>
        </p:txBody>
      </p:sp>
      <p:sp>
        <p:nvSpPr>
          <p:cNvPr id="4" name="TextBox 3">
            <a:extLst>
              <a:ext uri="{FF2B5EF4-FFF2-40B4-BE49-F238E27FC236}">
                <a16:creationId xmlns:a16="http://schemas.microsoft.com/office/drawing/2014/main" id="{DB870D57-8E6F-6B43-8F38-9A68ED5EC5AF}"/>
              </a:ext>
            </a:extLst>
          </p:cNvPr>
          <p:cNvSpPr txBox="1"/>
          <p:nvPr/>
        </p:nvSpPr>
        <p:spPr>
          <a:xfrm>
            <a:off x="2808514" y="1797171"/>
            <a:ext cx="6335486" cy="1436099"/>
          </a:xfrm>
          <a:prstGeom prst="rect">
            <a:avLst/>
          </a:prstGeom>
          <a:noFill/>
        </p:spPr>
        <p:txBody>
          <a:bodyPr wrap="square" rtlCol="0">
            <a:spAutoFit/>
          </a:bodyPr>
          <a:lstStyle/>
          <a:p>
            <a:pPr>
              <a:lnSpc>
                <a:spcPct val="150000"/>
              </a:lnSpc>
            </a:pPr>
            <a:r>
              <a:rPr lang="en-GB" sz="2000" dirty="0" err="1">
                <a:latin typeface="Abadi MT Condensed Light" panose="020B0306030101010103" pitchFamily="34" charset="77"/>
              </a:rPr>
              <a:t>Verderber</a:t>
            </a:r>
            <a:r>
              <a:rPr lang="en-GB" sz="2000" dirty="0">
                <a:latin typeface="Abadi MT Condensed Light" panose="020B0306030101010103" pitchFamily="34" charset="77"/>
              </a:rPr>
              <a:t>, K. S., </a:t>
            </a:r>
            <a:r>
              <a:rPr lang="en-GB" sz="2000" dirty="0" err="1">
                <a:latin typeface="Abadi MT Condensed Light" panose="020B0306030101010103" pitchFamily="34" charset="77"/>
              </a:rPr>
              <a:t>Verderber</a:t>
            </a:r>
            <a:r>
              <a:rPr lang="en-GB" sz="2000" dirty="0">
                <a:latin typeface="Abadi MT Condensed Light" panose="020B0306030101010103" pitchFamily="34" charset="77"/>
              </a:rPr>
              <a:t>, R. F., &amp; </a:t>
            </a:r>
            <a:r>
              <a:rPr lang="en-GB" sz="2000" dirty="0" err="1">
                <a:latin typeface="Abadi MT Condensed Light" panose="020B0306030101010103" pitchFamily="34" charset="77"/>
              </a:rPr>
              <a:t>Sellnow</a:t>
            </a:r>
            <a:r>
              <a:rPr lang="en-GB" sz="2000" dirty="0">
                <a:latin typeface="Abadi MT Condensed Light" panose="020B0306030101010103" pitchFamily="34" charset="77"/>
              </a:rPr>
              <a:t>, D. D. (2016). Verbal Messages. In COMM4 (pp. 44–47). essay, Cengage Learning. </a:t>
            </a:r>
          </a:p>
          <a:p>
            <a:pPr>
              <a:lnSpc>
                <a:spcPct val="150000"/>
              </a:lnSpc>
            </a:pPr>
            <a:endParaRPr lang="en-GB" sz="2000" dirty="0">
              <a:latin typeface="Abadi MT Condensed Light" panose="020B0306030101010103" pitchFamily="34" charset="77"/>
            </a:endParaRPr>
          </a:p>
        </p:txBody>
      </p:sp>
      <p:sp>
        <p:nvSpPr>
          <p:cNvPr id="6" name="TextBox 5">
            <a:extLst>
              <a:ext uri="{FF2B5EF4-FFF2-40B4-BE49-F238E27FC236}">
                <a16:creationId xmlns:a16="http://schemas.microsoft.com/office/drawing/2014/main" id="{0D19F8C4-852D-3541-8927-7B508D00D63C}"/>
              </a:ext>
            </a:extLst>
          </p:cNvPr>
          <p:cNvSpPr txBox="1"/>
          <p:nvPr/>
        </p:nvSpPr>
        <p:spPr>
          <a:xfrm>
            <a:off x="3984172" y="1191901"/>
            <a:ext cx="3820886" cy="523220"/>
          </a:xfrm>
          <a:prstGeom prst="rect">
            <a:avLst/>
          </a:prstGeom>
          <a:noFill/>
        </p:spPr>
        <p:txBody>
          <a:bodyPr wrap="square" rtlCol="0">
            <a:spAutoFit/>
          </a:bodyPr>
          <a:lstStyle/>
          <a:p>
            <a:pPr algn="ctr"/>
            <a:r>
              <a:rPr lang="en-BD" sz="2800" dirty="0">
                <a:latin typeface="Marker Felt Thin" panose="02000400000000000000" pitchFamily="2" charset="77"/>
              </a:rPr>
              <a:t>Works Cited</a:t>
            </a:r>
          </a:p>
        </p:txBody>
      </p:sp>
    </p:spTree>
    <p:extLst>
      <p:ext uri="{BB962C8B-B14F-4D97-AF65-F5344CB8AC3E}">
        <p14:creationId xmlns:p14="http://schemas.microsoft.com/office/powerpoint/2010/main" val="23859702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55B5-BF54-9543-9D5B-0CB26356E2EA}"/>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CB813F6F-DFF5-B049-AB25-97C7D6B031E8}"/>
              </a:ext>
            </a:extLst>
          </p:cNvPr>
          <p:cNvPicPr>
            <a:picLocks noGrp="1" noChangeAspect="1"/>
          </p:cNvPicPr>
          <p:nvPr>
            <p:ph idx="1"/>
          </p:nvPr>
        </p:nvPicPr>
        <p:blipFill>
          <a:blip r:embed="rId2"/>
          <a:stretch>
            <a:fillRect/>
          </a:stretch>
        </p:blipFill>
        <p:spPr>
          <a:xfrm>
            <a:off x="0" y="0"/>
            <a:ext cx="12192000" cy="6858000"/>
          </a:xfrm>
        </p:spPr>
      </p:pic>
      <p:sp>
        <p:nvSpPr>
          <p:cNvPr id="6" name="TextBox 5">
            <a:extLst>
              <a:ext uri="{FF2B5EF4-FFF2-40B4-BE49-F238E27FC236}">
                <a16:creationId xmlns:a16="http://schemas.microsoft.com/office/drawing/2014/main" id="{2C23A973-AC4A-7842-9E8A-2C123EC83DEA}"/>
              </a:ext>
            </a:extLst>
          </p:cNvPr>
          <p:cNvSpPr txBox="1"/>
          <p:nvPr/>
        </p:nvSpPr>
        <p:spPr>
          <a:xfrm>
            <a:off x="3102429" y="2827794"/>
            <a:ext cx="5704114" cy="769441"/>
          </a:xfrm>
          <a:prstGeom prst="rect">
            <a:avLst/>
          </a:prstGeom>
          <a:noFill/>
        </p:spPr>
        <p:txBody>
          <a:bodyPr wrap="square" rtlCol="0">
            <a:spAutoFit/>
          </a:bodyPr>
          <a:lstStyle/>
          <a:p>
            <a:pPr algn="ctr"/>
            <a:r>
              <a:rPr lang="en-BD" sz="4400" dirty="0">
                <a:latin typeface="Marker Felt Thin" panose="02000400000000000000" pitchFamily="2" charset="77"/>
              </a:rPr>
              <a:t>Thank You</a:t>
            </a:r>
          </a:p>
        </p:txBody>
      </p:sp>
    </p:spTree>
    <p:extLst>
      <p:ext uri="{BB962C8B-B14F-4D97-AF65-F5344CB8AC3E}">
        <p14:creationId xmlns:p14="http://schemas.microsoft.com/office/powerpoint/2010/main" val="17553238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1367</TotalTime>
  <Words>1790</Words>
  <Application>Microsoft Macintosh PowerPoint</Application>
  <PresentationFormat>Widescreen</PresentationFormat>
  <Paragraphs>68</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Abadi MT Condensed Light</vt:lpstr>
      <vt:lpstr>Arial</vt:lpstr>
      <vt:lpstr>Calibri</vt:lpstr>
      <vt:lpstr>Calibri Light</vt:lpstr>
      <vt:lpstr>Marker Felt Thin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Sara Chowdhury</cp:lastModifiedBy>
  <cp:revision>64</cp:revision>
  <dcterms:created xsi:type="dcterms:W3CDTF">2023-02-01T09:47:03Z</dcterms:created>
  <dcterms:modified xsi:type="dcterms:W3CDTF">2026-02-09T05:18:23Z</dcterms:modified>
</cp:coreProperties>
</file>