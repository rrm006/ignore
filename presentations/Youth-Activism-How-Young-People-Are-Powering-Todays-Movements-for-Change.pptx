
<file path=[Content_Types].xml><?xml version="1.0" encoding="utf-8"?>
<Types xmlns="http://schemas.openxmlformats.org/package/2006/content-types">
  <Default Extension="fntdata" ContentType="application/x-fontdata"/>
  <Default Extension="jpeg" ContentType="image/jpeg"/>
  <Default Extension="mov" ContentType="video/quicktime"/>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63" r:id="rId2"/>
    <p:sldId id="256" r:id="rId3"/>
    <p:sldId id="257" r:id="rId4"/>
    <p:sldId id="258" r:id="rId5"/>
    <p:sldId id="259" r:id="rId6"/>
    <p:sldId id="260" r:id="rId7"/>
    <p:sldId id="261" r:id="rId8"/>
    <p:sldId id="262" r:id="rId9"/>
  </p:sldIdLst>
  <p:sldSz cx="9144000" cy="5143500" type="screen16x9"/>
  <p:notesSz cx="5143500" cy="9144000"/>
  <p:embeddedFontLst>
    <p:embeddedFont>
      <p:font typeface="Calibri" panose="020F0502020204030204" pitchFamily="34" charset="0"/>
      <p:regular r:id="rId11"/>
      <p:bold r:id="rId12"/>
      <p:italic r:id="rId13"/>
      <p:boldItalic r:id="rId14"/>
    </p:embeddedFont>
    <p:embeddedFont>
      <p:font typeface="Geist" panose="020B0604020202020204" charset="0"/>
      <p:regular r:id="rId15"/>
    </p:embeddedFont>
    <p:embeddedFont>
      <p:font typeface="Noto Serif 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6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1249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gladeshi Gen-Z 🇧🇩  savebangladeshistudents  protest  vairalshort  youtubeshorts - Nafsin BRO (720p, h264)">
            <a:hlinkClick r:id="" action="ppaction://media"/>
            <a:extLst>
              <a:ext uri="{FF2B5EF4-FFF2-40B4-BE49-F238E27FC236}">
                <a16:creationId xmlns:a16="http://schemas.microsoft.com/office/drawing/2014/main" id="{1D3368B6-2FCF-4DD7-92B8-ADBD9B4FA9D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4592" y="0"/>
            <a:ext cx="9089408" cy="5143500"/>
          </a:xfrm>
          <a:prstGeom prst="rect">
            <a:avLst/>
          </a:prstGeom>
        </p:spPr>
      </p:pic>
    </p:spTree>
    <p:extLst>
      <p:ext uri="{BB962C8B-B14F-4D97-AF65-F5344CB8AC3E}">
        <p14:creationId xmlns:p14="http://schemas.microsoft.com/office/powerpoint/2010/main" val="4106861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16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5543550" y="0"/>
            <a:ext cx="3600450" cy="51435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496119" y="462483"/>
            <a:ext cx="4722763" cy="1633538"/>
          </a:xfrm>
          <a:prstGeom prst="rect">
            <a:avLst/>
          </a:prstGeom>
          <a:noFill/>
          <a:ln/>
        </p:spPr>
        <p:txBody>
          <a:bodyPr wrap="square" lIns="0" tIns="0" rIns="0" bIns="0" rtlCol="0" anchor="t">
            <a:normAutofit/>
          </a:bodyPr>
          <a:lstStyle/>
          <a:p>
            <a:pPr marL="0" indent="0" algn="l">
              <a:lnSpc>
                <a:spcPct val="104000"/>
              </a:lnSpc>
              <a:buNone/>
            </a:pPr>
            <a:r>
              <a:rPr lang="en-US" sz="2550" b="1" dirty="0">
                <a:solidFill>
                  <a:srgbClr val="006747"/>
                </a:solidFill>
                <a:latin typeface="Noto Serif Bold" pitchFamily="34" charset="0"/>
                <a:ea typeface="Noto Serif Bold" pitchFamily="34" charset="-122"/>
                <a:cs typeface="Noto Serif Bold" pitchFamily="34" charset="-120"/>
              </a:rPr>
              <a:t>Youth Activism: How Young People Are Powering Today’s Movements for Change</a:t>
            </a:r>
            <a:endParaRPr lang="en-US" sz="2550" dirty="0"/>
          </a:p>
        </p:txBody>
      </p:sp>
      <p:sp>
        <p:nvSpPr>
          <p:cNvPr id="4" name="Text 1"/>
          <p:cNvSpPr/>
          <p:nvPr/>
        </p:nvSpPr>
        <p:spPr>
          <a:xfrm>
            <a:off x="496119" y="2144167"/>
            <a:ext cx="4722763" cy="408236"/>
          </a:xfrm>
          <a:prstGeom prst="rect">
            <a:avLst/>
          </a:prstGeom>
          <a:noFill/>
          <a:ln/>
        </p:spPr>
        <p:txBody>
          <a:bodyPr wrap="square" lIns="0" tIns="0" rIns="0" bIns="0" rtlCol="0" anchor="t">
            <a:normAutofit/>
          </a:bodyPr>
          <a:lstStyle/>
          <a:p>
            <a:pPr marL="0" indent="0" algn="l">
              <a:lnSpc>
                <a:spcPct val="104000"/>
              </a:lnSpc>
              <a:buNone/>
            </a:pPr>
            <a:r>
              <a:rPr lang="en-US" sz="1250" b="1" dirty="0">
                <a:solidFill>
                  <a:srgbClr val="006747"/>
                </a:solidFill>
                <a:latin typeface="Noto Serif Bold" pitchFamily="34" charset="0"/>
                <a:ea typeface="Noto Serif Bold" pitchFamily="34" charset="-122"/>
                <a:cs typeface="Noto Serif Bold" pitchFamily="34" charset="-120"/>
              </a:rPr>
              <a:t>How digital platforms and grassroots networks are accelerating global action</a:t>
            </a:r>
            <a:endParaRPr lang="en-US" sz="1250" dirty="0"/>
          </a:p>
        </p:txBody>
      </p:sp>
      <p:sp>
        <p:nvSpPr>
          <p:cNvPr id="5" name="Text 2"/>
          <p:cNvSpPr/>
          <p:nvPr/>
        </p:nvSpPr>
        <p:spPr>
          <a:xfrm>
            <a:off x="496119" y="2733080"/>
            <a:ext cx="5179963" cy="200844"/>
          </a:xfrm>
          <a:prstGeom prst="rect">
            <a:avLst/>
          </a:prstGeom>
          <a:noFill/>
          <a:ln/>
        </p:spPr>
        <p:txBody>
          <a:bodyPr wrap="none" lIns="0" tIns="0" rIns="0" bIns="0" rtlCol="0" anchor="t"/>
          <a:lstStyle/>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Presenter: Rafiur Rahman Mashrafi — North South University</a:t>
            </a:r>
            <a:endParaRPr lang="en-US" sz="1000" dirty="0"/>
          </a:p>
        </p:txBody>
      </p:sp>
      <p:sp>
        <p:nvSpPr>
          <p:cNvPr id="6" name="Text 3"/>
          <p:cNvSpPr/>
          <p:nvPr/>
        </p:nvSpPr>
        <p:spPr>
          <a:xfrm>
            <a:off x="692125" y="3204939"/>
            <a:ext cx="4526756" cy="401687"/>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"In July 2024, thousands of students walked out of their classrooms—and within weeks, a 15-year government had fallen."</a:t>
            </a:r>
            <a:endParaRPr lang="en-US" sz="1000" dirty="0"/>
          </a:p>
        </p:txBody>
      </p:sp>
      <p:sp>
        <p:nvSpPr>
          <p:cNvPr id="7" name="Shape 4"/>
          <p:cNvSpPr/>
          <p:nvPr/>
        </p:nvSpPr>
        <p:spPr>
          <a:xfrm>
            <a:off x="496119" y="3069431"/>
            <a:ext cx="14288" cy="672703"/>
          </a:xfrm>
          <a:prstGeom prst="roundRect">
            <a:avLst>
              <a:gd name="adj" fmla="val 49998"/>
            </a:avLst>
          </a:prstGeom>
          <a:solidFill>
            <a:srgbClr val="006747"/>
          </a:solidFill>
          <a:ln/>
        </p:spPr>
      </p:sp>
      <p:sp>
        <p:nvSpPr>
          <p:cNvPr id="8" name="Text 5"/>
          <p:cNvSpPr/>
          <p:nvPr/>
        </p:nvSpPr>
        <p:spPr>
          <a:xfrm>
            <a:off x="496119" y="3877642"/>
            <a:ext cx="4722763" cy="803374"/>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Today, young people are leading movements for social, political, and environmental change by organizing through digital platforms and grassroots networks. This presentation explores three key examples: climate action, digital humanitarian campaigns, and Bangladesh's own 2024 student movement.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5543550" y="0"/>
            <a:ext cx="3600450" cy="51435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496119" y="418356"/>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b="1" dirty="0">
                <a:solidFill>
                  <a:srgbClr val="006747"/>
                </a:solidFill>
                <a:latin typeface="Noto Serif Bold" pitchFamily="34" charset="0"/>
                <a:ea typeface="Noto Serif Bold" pitchFamily="34" charset="-122"/>
                <a:cs typeface="Noto Serif Bold" pitchFamily="34" charset="-120"/>
              </a:rPr>
              <a:t>Why Youth Movements Matter</a:t>
            </a:r>
            <a:endParaRPr lang="en-US" sz="2400" dirty="0"/>
          </a:p>
        </p:txBody>
      </p:sp>
      <p:sp>
        <p:nvSpPr>
          <p:cNvPr id="4" name="Text 1"/>
          <p:cNvSpPr/>
          <p:nvPr/>
        </p:nvSpPr>
        <p:spPr>
          <a:xfrm>
            <a:off x="496119" y="1356196"/>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4B4A4A"/>
                </a:solidFill>
                <a:latin typeface="Noto Serif Light" pitchFamily="34" charset="0"/>
                <a:ea typeface="Noto Serif Light" pitchFamily="34" charset="-122"/>
                <a:cs typeface="Noto Serif Light" pitchFamily="34" charset="-120"/>
              </a:rPr>
              <a:t>01</a:t>
            </a:r>
            <a:endParaRPr lang="en-US" sz="950" dirty="0"/>
          </a:p>
        </p:txBody>
      </p:sp>
      <p:sp>
        <p:nvSpPr>
          <p:cNvPr id="5" name="Shape 2"/>
          <p:cNvSpPr/>
          <p:nvPr/>
        </p:nvSpPr>
        <p:spPr>
          <a:xfrm>
            <a:off x="496119" y="1552649"/>
            <a:ext cx="2307134" cy="14288"/>
          </a:xfrm>
          <a:prstGeom prst="rect">
            <a:avLst/>
          </a:prstGeom>
          <a:solidFill>
            <a:srgbClr val="006747"/>
          </a:solidFill>
          <a:ln/>
        </p:spPr>
      </p:sp>
      <p:sp>
        <p:nvSpPr>
          <p:cNvPr id="6" name="Text 3"/>
          <p:cNvSpPr/>
          <p:nvPr/>
        </p:nvSpPr>
        <p:spPr>
          <a:xfrm>
            <a:off x="496119" y="1643211"/>
            <a:ext cx="2307134" cy="193849"/>
          </a:xfrm>
          <a:prstGeom prst="rect">
            <a:avLst/>
          </a:prstGeom>
          <a:noFill/>
          <a:ln/>
        </p:spPr>
        <p:txBody>
          <a:bodyPr wrap="none" lIns="0" tIns="0" rIns="0" bIns="0" rtlCol="0" anchor="t"/>
          <a:lstStyle/>
          <a:p>
            <a:pPr marL="0" indent="0" algn="l">
              <a:lnSpc>
                <a:spcPct val="104000"/>
              </a:lnSpc>
              <a:buNone/>
            </a:pPr>
            <a:endParaRPr lang="en-US" sz="1200" dirty="0"/>
          </a:p>
        </p:txBody>
      </p:sp>
      <p:sp>
        <p:nvSpPr>
          <p:cNvPr id="7" name="Text 4"/>
          <p:cNvSpPr/>
          <p:nvPr/>
        </p:nvSpPr>
        <p:spPr>
          <a:xfrm>
            <a:off x="496119" y="1902172"/>
            <a:ext cx="2307134" cy="558105"/>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4B4A4A"/>
                </a:solidFill>
                <a:latin typeface="Geist" pitchFamily="34" charset="0"/>
                <a:ea typeface="Geist" pitchFamily="34" charset="-122"/>
                <a:cs typeface="Geist" pitchFamily="34" charset="-120"/>
              </a:rPr>
              <a:t>In July 2024, student protests in Dhaka helped trigger sweeping political change in Bangladesh.</a:t>
            </a:r>
            <a:endParaRPr lang="en-US" sz="950" dirty="0"/>
          </a:p>
        </p:txBody>
      </p:sp>
      <p:sp>
        <p:nvSpPr>
          <p:cNvPr id="8" name="Text 5"/>
          <p:cNvSpPr/>
          <p:nvPr/>
        </p:nvSpPr>
        <p:spPr>
          <a:xfrm>
            <a:off x="2911748" y="1356196"/>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4B4A4A"/>
                </a:solidFill>
                <a:latin typeface="Noto Serif Light" pitchFamily="34" charset="0"/>
                <a:ea typeface="Noto Serif Light" pitchFamily="34" charset="-122"/>
                <a:cs typeface="Noto Serif Light" pitchFamily="34" charset="-120"/>
              </a:rPr>
              <a:t>02</a:t>
            </a:r>
            <a:endParaRPr lang="en-US" sz="950" dirty="0"/>
          </a:p>
        </p:txBody>
      </p:sp>
      <p:sp>
        <p:nvSpPr>
          <p:cNvPr id="9" name="Shape 6"/>
          <p:cNvSpPr/>
          <p:nvPr/>
        </p:nvSpPr>
        <p:spPr>
          <a:xfrm>
            <a:off x="2911748" y="1552649"/>
            <a:ext cx="2307134" cy="14288"/>
          </a:xfrm>
          <a:prstGeom prst="rect">
            <a:avLst/>
          </a:prstGeom>
          <a:solidFill>
            <a:srgbClr val="006747"/>
          </a:solidFill>
          <a:ln/>
        </p:spPr>
      </p:sp>
      <p:sp>
        <p:nvSpPr>
          <p:cNvPr id="10" name="Text 7"/>
          <p:cNvSpPr/>
          <p:nvPr/>
        </p:nvSpPr>
        <p:spPr>
          <a:xfrm>
            <a:off x="2911748" y="1643211"/>
            <a:ext cx="2307134" cy="193849"/>
          </a:xfrm>
          <a:prstGeom prst="rect">
            <a:avLst/>
          </a:prstGeom>
          <a:noFill/>
          <a:ln/>
        </p:spPr>
        <p:txBody>
          <a:bodyPr wrap="none" lIns="0" tIns="0" rIns="0" bIns="0" rtlCol="0" anchor="t"/>
          <a:lstStyle/>
          <a:p>
            <a:pPr marL="0" indent="0" algn="l">
              <a:lnSpc>
                <a:spcPct val="104000"/>
              </a:lnSpc>
              <a:buNone/>
            </a:pPr>
            <a:endParaRPr lang="en-US" sz="1200" dirty="0"/>
          </a:p>
        </p:txBody>
      </p:sp>
      <p:sp>
        <p:nvSpPr>
          <p:cNvPr id="11" name="Text 8"/>
          <p:cNvSpPr/>
          <p:nvPr/>
        </p:nvSpPr>
        <p:spPr>
          <a:xfrm>
            <a:off x="2911748" y="1902172"/>
            <a:ext cx="2307134" cy="744141"/>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4B4A4A"/>
                </a:solidFill>
                <a:latin typeface="Geist" pitchFamily="34" charset="0"/>
                <a:ea typeface="Geist" pitchFamily="34" charset="-122"/>
                <a:cs typeface="Geist" pitchFamily="34" charset="-120"/>
              </a:rPr>
              <a:t>Across the world, young people are reshaping politics, climate action, and social justice through digital platforms and grassroots organizing.</a:t>
            </a:r>
            <a:endParaRPr lang="en-US" sz="950" dirty="0"/>
          </a:p>
        </p:txBody>
      </p:sp>
      <p:sp>
        <p:nvSpPr>
          <p:cNvPr id="12" name="Text 9"/>
          <p:cNvSpPr/>
          <p:nvPr/>
        </p:nvSpPr>
        <p:spPr>
          <a:xfrm>
            <a:off x="496119" y="2847826"/>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4B4A4A"/>
                </a:solidFill>
                <a:latin typeface="Noto Serif Light" pitchFamily="34" charset="0"/>
                <a:ea typeface="Noto Serif Light" pitchFamily="34" charset="-122"/>
                <a:cs typeface="Noto Serif Light" pitchFamily="34" charset="-120"/>
              </a:rPr>
              <a:t>03</a:t>
            </a:r>
            <a:endParaRPr lang="en-US" sz="950" dirty="0"/>
          </a:p>
        </p:txBody>
      </p:sp>
      <p:sp>
        <p:nvSpPr>
          <p:cNvPr id="13" name="Shape 10"/>
          <p:cNvSpPr/>
          <p:nvPr/>
        </p:nvSpPr>
        <p:spPr>
          <a:xfrm>
            <a:off x="496119" y="3044279"/>
            <a:ext cx="4722763" cy="14288"/>
          </a:xfrm>
          <a:prstGeom prst="rect">
            <a:avLst/>
          </a:prstGeom>
          <a:solidFill>
            <a:srgbClr val="006747"/>
          </a:solidFill>
          <a:ln/>
        </p:spPr>
      </p:sp>
      <p:sp>
        <p:nvSpPr>
          <p:cNvPr id="14" name="Text 11"/>
          <p:cNvSpPr/>
          <p:nvPr/>
        </p:nvSpPr>
        <p:spPr>
          <a:xfrm>
            <a:off x="496119" y="3134841"/>
            <a:ext cx="4722763" cy="193849"/>
          </a:xfrm>
          <a:prstGeom prst="rect">
            <a:avLst/>
          </a:prstGeom>
          <a:noFill/>
          <a:ln/>
        </p:spPr>
        <p:txBody>
          <a:bodyPr wrap="none" lIns="0" tIns="0" rIns="0" bIns="0" rtlCol="0" anchor="t"/>
          <a:lstStyle/>
          <a:p>
            <a:pPr marL="0" indent="0" algn="l">
              <a:lnSpc>
                <a:spcPct val="104000"/>
              </a:lnSpc>
              <a:buNone/>
            </a:pPr>
            <a:r>
              <a:rPr lang="en-US" sz="1200" b="1" dirty="0">
                <a:solidFill>
                  <a:srgbClr val="4B4A4A"/>
                </a:solidFill>
                <a:latin typeface="Noto Serif Bold" pitchFamily="34" charset="0"/>
                <a:ea typeface="Noto Serif Bold" pitchFamily="34" charset="-122"/>
                <a:cs typeface="Noto Serif Bold" pitchFamily="34" charset="-120"/>
              </a:rPr>
              <a:t>What’s Next</a:t>
            </a:r>
            <a:endParaRPr lang="en-US" sz="1200" dirty="0"/>
          </a:p>
        </p:txBody>
      </p:sp>
      <p:sp>
        <p:nvSpPr>
          <p:cNvPr id="15" name="Text 12"/>
          <p:cNvSpPr/>
          <p:nvPr/>
        </p:nvSpPr>
        <p:spPr>
          <a:xfrm>
            <a:off x="496119" y="3393802"/>
            <a:ext cx="4722763" cy="372070"/>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4B4A4A"/>
                </a:solidFill>
                <a:latin typeface="Geist" pitchFamily="34" charset="0"/>
                <a:ea typeface="Geist" pitchFamily="34" charset="-122"/>
                <a:cs typeface="Geist" pitchFamily="34" charset="-120"/>
              </a:rPr>
              <a:t>1) Climate action • 2) Digital humanitarian and social justice campaigns • 3) Bangladesh's July Uprising</a:t>
            </a:r>
            <a:endParaRPr lang="en-US" sz="950" dirty="0"/>
          </a:p>
        </p:txBody>
      </p:sp>
      <p:sp>
        <p:nvSpPr>
          <p:cNvPr id="16" name="Text 13"/>
          <p:cNvSpPr/>
          <p:nvPr/>
        </p:nvSpPr>
        <p:spPr>
          <a:xfrm>
            <a:off x="496119" y="3980929"/>
            <a:ext cx="4722763" cy="744141"/>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4B4A4A"/>
                </a:solidFill>
                <a:latin typeface="Geist" pitchFamily="34" charset="0"/>
                <a:ea typeface="Geist" pitchFamily="34" charset="-122"/>
                <a:cs typeface="Geist" pitchFamily="34" charset="-120"/>
              </a:rPr>
              <a:t>Young people today are not just protesting—they are meeting directly with government leaders, taking their fights to international courts, and using social media to organize and fundraise for humanitarian causes. This generation is reshaping how movements for change happen.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19944"/>
            <a:ext cx="8151763" cy="442987"/>
          </a:xfrm>
          <a:prstGeom prst="rect">
            <a:avLst/>
          </a:prstGeom>
          <a:noFill/>
          <a:ln/>
        </p:spPr>
        <p:txBody>
          <a:bodyPr wrap="none" lIns="0" tIns="0" rIns="0" bIns="0" rtlCol="0" anchor="t"/>
          <a:lstStyle/>
          <a:p>
            <a:pPr marL="0" indent="0" algn="l">
              <a:lnSpc>
                <a:spcPct val="104000"/>
              </a:lnSpc>
              <a:buNone/>
            </a:pPr>
            <a:r>
              <a:rPr lang="en-US" sz="2750" b="1" dirty="0">
                <a:solidFill>
                  <a:srgbClr val="006747"/>
                </a:solidFill>
                <a:latin typeface="Noto Serif Bold" pitchFamily="34" charset="0"/>
                <a:ea typeface="Noto Serif Bold" pitchFamily="34" charset="-122"/>
                <a:cs typeface="Noto Serif Bold" pitchFamily="34" charset="-120"/>
              </a:rPr>
              <a:t>Student-Led Climate Action</a:t>
            </a:r>
            <a:endParaRPr lang="en-US" sz="2750" dirty="0"/>
          </a:p>
        </p:txBody>
      </p:sp>
      <p:sp>
        <p:nvSpPr>
          <p:cNvPr id="3" name="Text 1"/>
          <p:cNvSpPr/>
          <p:nvPr/>
        </p:nvSpPr>
        <p:spPr>
          <a:xfrm>
            <a:off x="496119" y="1346448"/>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Student-led climate action has grown into one of the most organized youth movements in the world. Students are not just protesting anymore—they are meeting directly with government leaders and taking their fight to international courts.</a:t>
            </a:r>
            <a:endParaRPr lang="en-US" sz="1100" dirty="0"/>
          </a:p>
        </p:txBody>
      </p:sp>
      <p:pic>
        <p:nvPicPr>
          <p:cNvPr id="4" name="Image 0" descr="preencoded.png"/>
          <p:cNvPicPr>
            <a:picLocks noChangeAspect="1"/>
          </p:cNvPicPr>
          <p:nvPr/>
        </p:nvPicPr>
        <p:blipFill>
          <a:blip r:embed="rId3"/>
          <a:stretch>
            <a:fillRect/>
          </a:stretch>
        </p:blipFill>
        <p:spPr>
          <a:xfrm>
            <a:off x="496119" y="1959546"/>
            <a:ext cx="753740" cy="465832"/>
          </a:xfrm>
          <a:prstGeom prst="rect">
            <a:avLst/>
          </a:prstGeom>
        </p:spPr>
      </p:pic>
      <p:sp>
        <p:nvSpPr>
          <p:cNvPr id="5" name="Text 2"/>
          <p:cNvSpPr/>
          <p:nvPr/>
        </p:nvSpPr>
        <p:spPr>
          <a:xfrm>
            <a:off x="1427038" y="1959546"/>
            <a:ext cx="1668214" cy="442913"/>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From classrooms to city hall</a:t>
            </a:r>
            <a:endParaRPr lang="en-US" sz="1350" dirty="0"/>
          </a:p>
        </p:txBody>
      </p:sp>
      <p:sp>
        <p:nvSpPr>
          <p:cNvPr id="6" name="Text 3"/>
          <p:cNvSpPr/>
          <p:nvPr/>
        </p:nvSpPr>
        <p:spPr>
          <a:xfrm>
            <a:off x="1427038" y="2487513"/>
            <a:ext cx="1668214" cy="1814513"/>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On Earth Day 2025, student advisory boards brought youth voices directly to local leaders, including examples from the University of Vermont and the Atlanta Youth Climate Summit.</a:t>
            </a:r>
            <a:endParaRPr lang="en-US" sz="1100" dirty="0"/>
          </a:p>
        </p:txBody>
      </p:sp>
      <p:pic>
        <p:nvPicPr>
          <p:cNvPr id="7" name="Image 1" descr="preencoded.png"/>
          <p:cNvPicPr>
            <a:picLocks noChangeAspect="1"/>
          </p:cNvPicPr>
          <p:nvPr/>
        </p:nvPicPr>
        <p:blipFill>
          <a:blip r:embed="rId4"/>
          <a:stretch>
            <a:fillRect/>
          </a:stretch>
        </p:blipFill>
        <p:spPr>
          <a:xfrm>
            <a:off x="3272433" y="1959546"/>
            <a:ext cx="753740" cy="465832"/>
          </a:xfrm>
          <a:prstGeom prst="rect">
            <a:avLst/>
          </a:prstGeom>
        </p:spPr>
      </p:pic>
      <p:sp>
        <p:nvSpPr>
          <p:cNvPr id="8" name="Text 4"/>
          <p:cNvSpPr/>
          <p:nvPr/>
        </p:nvSpPr>
        <p:spPr>
          <a:xfrm>
            <a:off x="4203353" y="1959546"/>
            <a:ext cx="1668214" cy="664369"/>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Building global adaptation networks</a:t>
            </a:r>
            <a:endParaRPr lang="en-US" sz="1350" dirty="0"/>
          </a:p>
        </p:txBody>
      </p:sp>
      <p:sp>
        <p:nvSpPr>
          <p:cNvPr id="9" name="Text 5"/>
          <p:cNvSpPr/>
          <p:nvPr/>
        </p:nvSpPr>
        <p:spPr>
          <a:xfrm>
            <a:off x="4203353" y="2708970"/>
            <a:ext cx="1668214" cy="1814513"/>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The Global Center on Adaptation’s Youth Climate Adaptation Action Day helped expand the Youth Adaptation Network by 20,000 members in 2025.</a:t>
            </a:r>
            <a:endParaRPr lang="en-US" sz="1100" dirty="0"/>
          </a:p>
        </p:txBody>
      </p:sp>
      <p:pic>
        <p:nvPicPr>
          <p:cNvPr id="10" name="Image 2" descr="preencoded.png"/>
          <p:cNvPicPr>
            <a:picLocks noChangeAspect="1"/>
          </p:cNvPicPr>
          <p:nvPr/>
        </p:nvPicPr>
        <p:blipFill>
          <a:blip r:embed="rId5"/>
          <a:stretch>
            <a:fillRect/>
          </a:stretch>
        </p:blipFill>
        <p:spPr>
          <a:xfrm>
            <a:off x="6048747" y="1959546"/>
            <a:ext cx="753740" cy="465832"/>
          </a:xfrm>
          <a:prstGeom prst="rect">
            <a:avLst/>
          </a:prstGeom>
        </p:spPr>
      </p:pic>
      <p:sp>
        <p:nvSpPr>
          <p:cNvPr id="11" name="Text 6"/>
          <p:cNvSpPr/>
          <p:nvPr/>
        </p:nvSpPr>
        <p:spPr>
          <a:xfrm>
            <a:off x="6979667" y="1959546"/>
            <a:ext cx="1668214" cy="664369"/>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4B4A4A"/>
                </a:solidFill>
                <a:latin typeface="Noto Serif Bold" pitchFamily="34" charset="0"/>
                <a:ea typeface="Noto Serif Bold" pitchFamily="34" charset="-122"/>
                <a:cs typeface="Noto Serif Bold" pitchFamily="34" charset="-120"/>
              </a:rPr>
              <a:t>Turning advocacy into legal influence</a:t>
            </a:r>
            <a:endParaRPr lang="en-US" sz="1350" dirty="0"/>
          </a:p>
        </p:txBody>
      </p:sp>
      <p:sp>
        <p:nvSpPr>
          <p:cNvPr id="12" name="Text 7"/>
          <p:cNvSpPr/>
          <p:nvPr/>
        </p:nvSpPr>
        <p:spPr>
          <a:xfrm>
            <a:off x="6979667" y="2708970"/>
            <a:ext cx="1668214"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B4A4A"/>
                </a:solidFill>
                <a:latin typeface="Geist" pitchFamily="34" charset="0"/>
                <a:ea typeface="Geist" pitchFamily="34" charset="-122"/>
                <a:cs typeface="Geist" pitchFamily="34" charset="-120"/>
              </a:rPr>
              <a:t>World’s Youth for Climate Justice helped drive the ICJ’s July 23, 2025 advisory opinion on states’ climate obligations.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28030"/>
            <a:ext cx="8151763" cy="664518"/>
          </a:xfrm>
          <a:prstGeom prst="rect">
            <a:avLst/>
          </a:prstGeom>
          <a:noFill/>
          <a:ln/>
        </p:spPr>
        <p:txBody>
          <a:bodyPr wrap="square" lIns="0" tIns="0" rIns="0" bIns="0" rtlCol="0" anchor="t">
            <a:normAutofit/>
          </a:bodyPr>
          <a:lstStyle/>
          <a:p>
            <a:pPr marL="0" indent="0" algn="l">
              <a:lnSpc>
                <a:spcPct val="104000"/>
              </a:lnSpc>
              <a:buNone/>
            </a:pPr>
            <a:r>
              <a:rPr lang="en-US" sz="2050" b="1" dirty="0">
                <a:solidFill>
                  <a:srgbClr val="006747"/>
                </a:solidFill>
                <a:latin typeface="Noto Serif Bold" pitchFamily="34" charset="0"/>
                <a:ea typeface="Noto Serif Bold" pitchFamily="34" charset="-122"/>
                <a:cs typeface="Noto Serif Bold" pitchFamily="34" charset="-120"/>
              </a:rPr>
              <a:t>Digital Organizing for Humanitarian and Social Justice Campaigns</a:t>
            </a:r>
            <a:endParaRPr lang="en-US" sz="2050" dirty="0"/>
          </a:p>
        </p:txBody>
      </p:sp>
      <p:sp>
        <p:nvSpPr>
          <p:cNvPr id="3" name="Text 1"/>
          <p:cNvSpPr/>
          <p:nvPr/>
        </p:nvSpPr>
        <p:spPr>
          <a:xfrm>
            <a:off x="496119" y="1252017"/>
            <a:ext cx="8151763" cy="297656"/>
          </a:xfrm>
          <a:prstGeom prst="rect">
            <a:avLst/>
          </a:prstGeom>
          <a:noFill/>
          <a:ln/>
        </p:spPr>
        <p:txBody>
          <a:bodyPr wrap="square" lIns="0" tIns="0" rIns="0" bIns="0" rtlCol="0" anchor="t">
            <a:normAutofit/>
          </a:bodyPr>
          <a:lstStyle/>
          <a:p>
            <a:pPr marL="0" indent="0" algn="l">
              <a:lnSpc>
                <a:spcPct val="117000"/>
              </a:lnSpc>
              <a:buNone/>
            </a:pPr>
            <a:r>
              <a:rPr lang="en-US" sz="800" dirty="0">
                <a:solidFill>
                  <a:srgbClr val="4B4A4A"/>
                </a:solidFill>
                <a:latin typeface="Geist" pitchFamily="34" charset="0"/>
                <a:ea typeface="Geist" pitchFamily="34" charset="-122"/>
                <a:cs typeface="Geist" pitchFamily="34" charset="-120"/>
              </a:rPr>
              <a:t>Digital platforms have become the main tool young people use to organize and fundraise for humanitarian and social justice causes. These campaigns have changed real political decisions across multiple countries.</a:t>
            </a:r>
            <a:endParaRPr lang="en-US" sz="800" dirty="0"/>
          </a:p>
        </p:txBody>
      </p:sp>
      <p:pic>
        <p:nvPicPr>
          <p:cNvPr id="4" name="Image 0" descr="preencoded.png"/>
          <p:cNvPicPr>
            <a:picLocks noChangeAspect="1"/>
          </p:cNvPicPr>
          <p:nvPr/>
        </p:nvPicPr>
        <p:blipFill>
          <a:blip r:embed="rId3"/>
          <a:stretch>
            <a:fillRect/>
          </a:stretch>
        </p:blipFill>
        <p:spPr>
          <a:xfrm>
            <a:off x="496119" y="2185839"/>
            <a:ext cx="3525589" cy="1983135"/>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85878" y="1729011"/>
            <a:ext cx="265807" cy="265807"/>
          </a:xfrm>
          <a:prstGeom prst="rect">
            <a:avLst/>
          </a:prstGeom>
        </p:spPr>
      </p:pic>
      <p:sp>
        <p:nvSpPr>
          <p:cNvPr id="6" name="Text 2"/>
          <p:cNvSpPr/>
          <p:nvPr/>
        </p:nvSpPr>
        <p:spPr>
          <a:xfrm>
            <a:off x="4285878" y="2094458"/>
            <a:ext cx="4366692" cy="166092"/>
          </a:xfrm>
          <a:prstGeom prst="rect">
            <a:avLst/>
          </a:prstGeom>
          <a:noFill/>
          <a:ln/>
        </p:spPr>
        <p:txBody>
          <a:bodyPr wrap="none" lIns="0" tIns="0" rIns="0" bIns="0" rtlCol="0" anchor="t"/>
          <a:lstStyle/>
          <a:p>
            <a:pPr marL="0" indent="0" algn="l">
              <a:lnSpc>
                <a:spcPct val="104000"/>
              </a:lnSpc>
              <a:buNone/>
            </a:pPr>
            <a:r>
              <a:rPr lang="en-US" sz="1000" b="1" dirty="0">
                <a:solidFill>
                  <a:srgbClr val="4B4A4A"/>
                </a:solidFill>
                <a:latin typeface="Noto Serif Bold" pitchFamily="34" charset="0"/>
                <a:ea typeface="Noto Serif Bold" pitchFamily="34" charset="-122"/>
                <a:cs typeface="Noto Serif Bold" pitchFamily="34" charset="-120"/>
              </a:rPr>
              <a:t>Operation Olive Branch mobilized massive aid</a:t>
            </a:r>
            <a:endParaRPr lang="en-US" sz="1000" dirty="0"/>
          </a:p>
        </p:txBody>
      </p:sp>
      <p:sp>
        <p:nvSpPr>
          <p:cNvPr id="7" name="Text 3"/>
          <p:cNvSpPr/>
          <p:nvPr/>
        </p:nvSpPr>
        <p:spPr>
          <a:xfrm>
            <a:off x="4285878" y="2340248"/>
            <a:ext cx="4366692" cy="297656"/>
          </a:xfrm>
          <a:prstGeom prst="rect">
            <a:avLst/>
          </a:prstGeom>
          <a:noFill/>
          <a:ln/>
        </p:spPr>
        <p:txBody>
          <a:bodyPr wrap="square" lIns="0" tIns="0" rIns="0" bIns="0" rtlCol="0" anchor="t">
            <a:normAutofit/>
          </a:bodyPr>
          <a:lstStyle/>
          <a:p>
            <a:pPr marL="0" indent="0" algn="l">
              <a:lnSpc>
                <a:spcPct val="117000"/>
              </a:lnSpc>
              <a:buNone/>
            </a:pPr>
            <a:r>
              <a:rPr lang="en-US" sz="800" dirty="0">
                <a:solidFill>
                  <a:srgbClr val="4B4A4A"/>
                </a:solidFill>
                <a:latin typeface="Geist" pitchFamily="34" charset="0"/>
                <a:ea typeface="Geist" pitchFamily="34" charset="-122"/>
                <a:cs typeface="Geist" pitchFamily="34" charset="-120"/>
              </a:rPr>
              <a:t>More than 50,000 TikTok videos helped channel crowdsourced support for Gaza, Congo, and Sudan.</a:t>
            </a:r>
            <a:endParaRPr lang="en-US" sz="80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85878" y="2797373"/>
            <a:ext cx="265807" cy="265807"/>
          </a:xfrm>
          <a:prstGeom prst="rect">
            <a:avLst/>
          </a:prstGeom>
        </p:spPr>
      </p:pic>
      <p:sp>
        <p:nvSpPr>
          <p:cNvPr id="9" name="Text 4"/>
          <p:cNvSpPr/>
          <p:nvPr/>
        </p:nvSpPr>
        <p:spPr>
          <a:xfrm>
            <a:off x="4285878" y="3162821"/>
            <a:ext cx="4366692" cy="166092"/>
          </a:xfrm>
          <a:prstGeom prst="rect">
            <a:avLst/>
          </a:prstGeom>
          <a:noFill/>
          <a:ln/>
        </p:spPr>
        <p:txBody>
          <a:bodyPr wrap="none" lIns="0" tIns="0" rIns="0" bIns="0" rtlCol="0" anchor="t"/>
          <a:lstStyle/>
          <a:p>
            <a:pPr marL="0" indent="0" algn="l">
              <a:lnSpc>
                <a:spcPct val="104000"/>
              </a:lnSpc>
              <a:buNone/>
            </a:pPr>
            <a:r>
              <a:rPr lang="en-US" sz="1000" b="1" dirty="0">
                <a:solidFill>
                  <a:srgbClr val="4B4A4A"/>
                </a:solidFill>
                <a:latin typeface="Noto Serif Bold" pitchFamily="34" charset="0"/>
                <a:ea typeface="Noto Serif Bold" pitchFamily="34" charset="-122"/>
                <a:cs typeface="Noto Serif Bold" pitchFamily="34" charset="-120"/>
              </a:rPr>
              <a:t>Friends of the Congo turned attention into resources</a:t>
            </a:r>
            <a:endParaRPr lang="en-US" sz="1000" dirty="0"/>
          </a:p>
        </p:txBody>
      </p:sp>
      <p:sp>
        <p:nvSpPr>
          <p:cNvPr id="10" name="Text 5"/>
          <p:cNvSpPr/>
          <p:nvPr/>
        </p:nvSpPr>
        <p:spPr>
          <a:xfrm>
            <a:off x="4285878" y="3408611"/>
            <a:ext cx="4366692" cy="148828"/>
          </a:xfrm>
          <a:prstGeom prst="rect">
            <a:avLst/>
          </a:prstGeom>
          <a:noFill/>
          <a:ln/>
        </p:spPr>
        <p:txBody>
          <a:bodyPr wrap="none" lIns="0" tIns="0" rIns="0" bIns="0" rtlCol="0" anchor="t"/>
          <a:lstStyle/>
          <a:p>
            <a:pPr marL="0" indent="0" algn="l">
              <a:lnSpc>
                <a:spcPct val="117000"/>
              </a:lnSpc>
              <a:buNone/>
            </a:pPr>
            <a:r>
              <a:rPr lang="en-US" sz="800" dirty="0">
                <a:solidFill>
                  <a:srgbClr val="4B4A4A"/>
                </a:solidFill>
                <a:latin typeface="Geist" pitchFamily="34" charset="0"/>
                <a:ea typeface="Geist" pitchFamily="34" charset="-122"/>
                <a:cs typeface="Geist" pitchFamily="34" charset="-120"/>
              </a:rPr>
              <a:t>The campaign raised $19,000 for displaced families and women’s health initiatives.</a:t>
            </a:r>
            <a:endParaRPr lang="en-US" sz="800" dirty="0"/>
          </a:p>
        </p:txBody>
      </p:sp>
      <p:pic>
        <p:nvPicPr>
          <p:cNvPr id="1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285878" y="3716908"/>
            <a:ext cx="265807" cy="265807"/>
          </a:xfrm>
          <a:prstGeom prst="rect">
            <a:avLst/>
          </a:prstGeom>
        </p:spPr>
      </p:pic>
      <p:sp>
        <p:nvSpPr>
          <p:cNvPr id="12" name="Text 6"/>
          <p:cNvSpPr/>
          <p:nvPr/>
        </p:nvSpPr>
        <p:spPr>
          <a:xfrm>
            <a:off x="4285878" y="4082355"/>
            <a:ext cx="4366692" cy="166092"/>
          </a:xfrm>
          <a:prstGeom prst="rect">
            <a:avLst/>
          </a:prstGeom>
          <a:noFill/>
          <a:ln/>
        </p:spPr>
        <p:txBody>
          <a:bodyPr wrap="none" lIns="0" tIns="0" rIns="0" bIns="0" rtlCol="0" anchor="t"/>
          <a:lstStyle/>
          <a:p>
            <a:pPr marL="0" indent="0" algn="l">
              <a:lnSpc>
                <a:spcPct val="104000"/>
              </a:lnSpc>
              <a:buNone/>
            </a:pPr>
            <a:r>
              <a:rPr lang="en-US" sz="1000" b="1" dirty="0">
                <a:solidFill>
                  <a:srgbClr val="4B4A4A"/>
                </a:solidFill>
                <a:latin typeface="Noto Serif Bold" pitchFamily="34" charset="0"/>
                <a:ea typeface="Noto Serif Bold" pitchFamily="34" charset="-122"/>
                <a:cs typeface="Noto Serif Bold" pitchFamily="34" charset="-120"/>
              </a:rPr>
              <a:t>Fast digital coordination can move people to action</a:t>
            </a:r>
            <a:endParaRPr lang="en-US" sz="1000" dirty="0"/>
          </a:p>
        </p:txBody>
      </p:sp>
      <p:sp>
        <p:nvSpPr>
          <p:cNvPr id="13" name="Text 7"/>
          <p:cNvSpPr/>
          <p:nvPr/>
        </p:nvSpPr>
        <p:spPr>
          <a:xfrm>
            <a:off x="4285878" y="4328145"/>
            <a:ext cx="4366692" cy="297656"/>
          </a:xfrm>
          <a:prstGeom prst="rect">
            <a:avLst/>
          </a:prstGeom>
          <a:noFill/>
          <a:ln/>
        </p:spPr>
        <p:txBody>
          <a:bodyPr wrap="square" lIns="0" tIns="0" rIns="0" bIns="0" rtlCol="0" anchor="t">
            <a:normAutofit/>
          </a:bodyPr>
          <a:lstStyle/>
          <a:p>
            <a:pPr marL="0" indent="0" algn="l">
              <a:lnSpc>
                <a:spcPct val="117000"/>
              </a:lnSpc>
              <a:buNone/>
            </a:pPr>
            <a:r>
              <a:rPr lang="en-US" sz="800" dirty="0">
                <a:solidFill>
                  <a:srgbClr val="4B4A4A"/>
                </a:solidFill>
                <a:latin typeface="Geist" pitchFamily="34" charset="0"/>
                <a:ea typeface="Geist" pitchFamily="34" charset="-122"/>
                <a:cs typeface="Geist" pitchFamily="34" charset="-120"/>
              </a:rPr>
              <a:t>In Kenya in June 2024, Instagram, TikTok, and Telegram helped drive a mass mobilization that forced a finance bill withdrawal; similar tactics spread to Nepal and Morocco in 2025.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3600450" cy="51435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3925119" y="493068"/>
            <a:ext cx="4722763" cy="318343"/>
          </a:xfrm>
          <a:prstGeom prst="rect">
            <a:avLst/>
          </a:prstGeom>
          <a:noFill/>
          <a:ln/>
        </p:spPr>
        <p:txBody>
          <a:bodyPr wrap="none" lIns="0" tIns="0" rIns="0" bIns="0" rtlCol="0" anchor="t"/>
          <a:lstStyle/>
          <a:p>
            <a:pPr marL="0" indent="0" algn="l">
              <a:lnSpc>
                <a:spcPct val="104000"/>
              </a:lnSpc>
              <a:buNone/>
            </a:pPr>
            <a:r>
              <a:rPr lang="en-US" sz="2000" b="1" dirty="0">
                <a:solidFill>
                  <a:srgbClr val="006747"/>
                </a:solidFill>
                <a:latin typeface="Noto Serif Bold" pitchFamily="34" charset="0"/>
                <a:ea typeface="Noto Serif Bold" pitchFamily="34" charset="-122"/>
                <a:cs typeface="Noto Serif Bold" pitchFamily="34" charset="-120"/>
              </a:rPr>
              <a:t>The 2024 Bangladesh July Uprising</a:t>
            </a:r>
            <a:endParaRPr lang="en-US" sz="2000" dirty="0"/>
          </a:p>
        </p:txBody>
      </p:sp>
      <p:sp>
        <p:nvSpPr>
          <p:cNvPr id="4" name="Text 1"/>
          <p:cNvSpPr/>
          <p:nvPr/>
        </p:nvSpPr>
        <p:spPr>
          <a:xfrm>
            <a:off x="3925119" y="921246"/>
            <a:ext cx="4722763" cy="420142"/>
          </a:xfrm>
          <a:prstGeom prst="rect">
            <a:avLst/>
          </a:prstGeom>
          <a:noFill/>
          <a:ln/>
        </p:spPr>
        <p:txBody>
          <a:bodyPr wrap="square" lIns="0" tIns="0" rIns="0" bIns="0" rtlCol="0" anchor="t">
            <a:normAutofit/>
          </a:bodyPr>
          <a:lstStyle/>
          <a:p>
            <a:pPr marL="0" indent="0" algn="l">
              <a:lnSpc>
                <a:spcPct val="115000"/>
              </a:lnSpc>
              <a:buNone/>
            </a:pPr>
            <a:r>
              <a:rPr lang="en-US" sz="800" dirty="0">
                <a:solidFill>
                  <a:srgbClr val="4B4A4A"/>
                </a:solidFill>
                <a:latin typeface="Geist" pitchFamily="34" charset="0"/>
                <a:ea typeface="Geist" pitchFamily="34" charset="-122"/>
                <a:cs typeface="Geist" pitchFamily="34" charset="-120"/>
              </a:rPr>
              <a:t>The 2024 Bangladesh student movement, known as the July Uprising, shows how youth organizing can reshape a nation's future. What began as a protest against a job quota escalated into a nationwide uprising that changed the country's political trajectory.</a:t>
            </a:r>
            <a:endParaRPr lang="en-US" sz="8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25119" y="1423764"/>
            <a:ext cx="1525414" cy="2006426"/>
          </a:xfrm>
          <a:prstGeom prst="rect">
            <a:avLst/>
          </a:prstGeom>
        </p:spPr>
      </p:pic>
      <p:sp>
        <p:nvSpPr>
          <p:cNvPr id="6" name="Text 2"/>
          <p:cNvSpPr/>
          <p:nvPr/>
        </p:nvSpPr>
        <p:spPr>
          <a:xfrm>
            <a:off x="4626657" y="1500188"/>
            <a:ext cx="122262" cy="152772"/>
          </a:xfrm>
          <a:prstGeom prst="rect">
            <a:avLst/>
          </a:prstGeom>
          <a:noFill/>
          <a:ln/>
        </p:spPr>
        <p:txBody>
          <a:bodyPr wrap="none" lIns="0" tIns="0" rIns="0" bIns="0" rtlCol="0" anchor="ctr"/>
          <a:lstStyle/>
          <a:p>
            <a:pPr marL="0" indent="0" algn="ctr">
              <a:lnSpc>
                <a:spcPct val="100000"/>
              </a:lnSpc>
              <a:buNone/>
            </a:pPr>
            <a:r>
              <a:rPr lang="en-US" sz="950" b="1" dirty="0">
                <a:solidFill>
                  <a:srgbClr val="FFFFFF"/>
                </a:solidFill>
                <a:latin typeface="Noto Serif Bold" pitchFamily="34" charset="0"/>
                <a:ea typeface="Noto Serif Bold" pitchFamily="34" charset="-122"/>
                <a:cs typeface="Noto Serif Bold" pitchFamily="34" charset="-120"/>
              </a:rPr>
              <a:t>1</a:t>
            </a:r>
            <a:endParaRPr lang="en-US" sz="950" dirty="0"/>
          </a:p>
        </p:txBody>
      </p:sp>
      <p:sp>
        <p:nvSpPr>
          <p:cNvPr id="7" name="Text 3"/>
          <p:cNvSpPr/>
          <p:nvPr/>
        </p:nvSpPr>
        <p:spPr>
          <a:xfrm>
            <a:off x="4041279" y="1831256"/>
            <a:ext cx="1293093" cy="318492"/>
          </a:xfrm>
          <a:prstGeom prst="rect">
            <a:avLst/>
          </a:prstGeom>
          <a:noFill/>
          <a:ln/>
        </p:spPr>
        <p:txBody>
          <a:bodyPr wrap="square" lIns="0" tIns="0" rIns="0" bIns="0" rtlCol="0" anchor="t">
            <a:normAutofit/>
          </a:bodyPr>
          <a:lstStyle/>
          <a:p>
            <a:pPr marL="0" indent="0" algn="l">
              <a:lnSpc>
                <a:spcPct val="104000"/>
              </a:lnSpc>
              <a:buNone/>
            </a:pPr>
            <a:r>
              <a:rPr lang="en-US" sz="1000" b="1" dirty="0">
                <a:solidFill>
                  <a:srgbClr val="4B4A4A"/>
                </a:solidFill>
                <a:latin typeface="Noto Serif Bold" pitchFamily="34" charset="0"/>
                <a:ea typeface="Noto Serif Bold" pitchFamily="34" charset="-122"/>
                <a:cs typeface="Noto Serif Bold" pitchFamily="34" charset="-120"/>
              </a:rPr>
              <a:t>From quota protest to national uprising</a:t>
            </a:r>
            <a:endParaRPr lang="en-US" sz="1000" dirty="0"/>
          </a:p>
        </p:txBody>
      </p:sp>
      <p:sp>
        <p:nvSpPr>
          <p:cNvPr id="8" name="Text 4"/>
          <p:cNvSpPr/>
          <p:nvPr/>
        </p:nvSpPr>
        <p:spPr>
          <a:xfrm>
            <a:off x="4041279" y="2193652"/>
            <a:ext cx="1293093" cy="980331"/>
          </a:xfrm>
          <a:prstGeom prst="rect">
            <a:avLst/>
          </a:prstGeom>
          <a:noFill/>
          <a:ln/>
        </p:spPr>
        <p:txBody>
          <a:bodyPr wrap="square" lIns="0" tIns="0" rIns="0" bIns="0" rtlCol="0" anchor="t">
            <a:normAutofit/>
          </a:bodyPr>
          <a:lstStyle/>
          <a:p>
            <a:pPr marL="0" indent="0" algn="l">
              <a:lnSpc>
                <a:spcPct val="115000"/>
              </a:lnSpc>
              <a:buNone/>
            </a:pPr>
            <a:r>
              <a:rPr lang="en-US" sz="800" dirty="0">
                <a:solidFill>
                  <a:srgbClr val="4B4A4A"/>
                </a:solidFill>
                <a:latin typeface="Geist" pitchFamily="34" charset="0"/>
                <a:ea typeface="Geist" pitchFamily="34" charset="-122"/>
                <a:cs typeface="Geist" pitchFamily="34" charset="-120"/>
              </a:rPr>
              <a:t>The movement began as opposition to the reinstated 30% civil service quota for descendants of Liberation War veterans, then quickly escalated into a nationwide revolt.</a:t>
            </a:r>
            <a:endParaRPr lang="en-US" sz="800" dirty="0"/>
          </a:p>
        </p:txBody>
      </p:sp>
      <p:pic>
        <p:nvPicPr>
          <p:cNvPr id="9"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23756" y="1423764"/>
            <a:ext cx="1525414" cy="2006426"/>
          </a:xfrm>
          <a:prstGeom prst="rect">
            <a:avLst/>
          </a:prstGeom>
        </p:spPr>
      </p:pic>
      <p:sp>
        <p:nvSpPr>
          <p:cNvPr id="10" name="Text 5"/>
          <p:cNvSpPr/>
          <p:nvPr/>
        </p:nvSpPr>
        <p:spPr>
          <a:xfrm>
            <a:off x="6225294" y="1500188"/>
            <a:ext cx="122262" cy="152772"/>
          </a:xfrm>
          <a:prstGeom prst="rect">
            <a:avLst/>
          </a:prstGeom>
          <a:noFill/>
          <a:ln/>
        </p:spPr>
        <p:txBody>
          <a:bodyPr wrap="none" lIns="0" tIns="0" rIns="0" bIns="0" rtlCol="0" anchor="ctr"/>
          <a:lstStyle/>
          <a:p>
            <a:pPr marL="0" indent="0" algn="ctr">
              <a:lnSpc>
                <a:spcPct val="100000"/>
              </a:lnSpc>
              <a:buNone/>
            </a:pPr>
            <a:r>
              <a:rPr lang="en-US" sz="950" b="1" dirty="0">
                <a:solidFill>
                  <a:srgbClr val="FFFFFF"/>
                </a:solidFill>
                <a:latin typeface="Noto Serif Bold" pitchFamily="34" charset="0"/>
                <a:ea typeface="Noto Serif Bold" pitchFamily="34" charset="-122"/>
                <a:cs typeface="Noto Serif Bold" pitchFamily="34" charset="-120"/>
              </a:rPr>
              <a:t>2</a:t>
            </a:r>
            <a:endParaRPr lang="en-US" sz="950" dirty="0"/>
          </a:p>
        </p:txBody>
      </p:sp>
      <p:sp>
        <p:nvSpPr>
          <p:cNvPr id="11" name="Text 6"/>
          <p:cNvSpPr/>
          <p:nvPr/>
        </p:nvSpPr>
        <p:spPr>
          <a:xfrm>
            <a:off x="5639916" y="1831256"/>
            <a:ext cx="1293093" cy="318492"/>
          </a:xfrm>
          <a:prstGeom prst="rect">
            <a:avLst/>
          </a:prstGeom>
          <a:noFill/>
          <a:ln/>
        </p:spPr>
        <p:txBody>
          <a:bodyPr wrap="square" lIns="0" tIns="0" rIns="0" bIns="0" rtlCol="0" anchor="t">
            <a:normAutofit/>
          </a:bodyPr>
          <a:lstStyle/>
          <a:p>
            <a:pPr marL="0" indent="0" algn="l">
              <a:lnSpc>
                <a:spcPct val="104000"/>
              </a:lnSpc>
              <a:buNone/>
            </a:pPr>
            <a:r>
              <a:rPr lang="en-US" sz="1000" b="1" dirty="0">
                <a:solidFill>
                  <a:srgbClr val="4B4A4A"/>
                </a:solidFill>
                <a:latin typeface="Noto Serif Bold" pitchFamily="34" charset="0"/>
                <a:ea typeface="Noto Serif Bold" pitchFamily="34" charset="-122"/>
                <a:cs typeface="Noto Serif Bold" pitchFamily="34" charset="-120"/>
              </a:rPr>
              <a:t>Crackdown and mass casualties</a:t>
            </a:r>
            <a:endParaRPr lang="en-US" sz="1000" dirty="0"/>
          </a:p>
        </p:txBody>
      </p:sp>
      <p:sp>
        <p:nvSpPr>
          <p:cNvPr id="12" name="Text 7"/>
          <p:cNvSpPr/>
          <p:nvPr/>
        </p:nvSpPr>
        <p:spPr>
          <a:xfrm>
            <a:off x="5639916" y="2193652"/>
            <a:ext cx="1293093" cy="1120378"/>
          </a:xfrm>
          <a:prstGeom prst="rect">
            <a:avLst/>
          </a:prstGeom>
          <a:noFill/>
          <a:ln/>
        </p:spPr>
        <p:txBody>
          <a:bodyPr wrap="square" lIns="0" tIns="0" rIns="0" bIns="0" rtlCol="0" anchor="t">
            <a:normAutofit/>
          </a:bodyPr>
          <a:lstStyle/>
          <a:p>
            <a:pPr marL="0" indent="0" algn="l">
              <a:lnSpc>
                <a:spcPct val="115000"/>
              </a:lnSpc>
              <a:buNone/>
            </a:pPr>
            <a:r>
              <a:rPr lang="en-US" sz="800" dirty="0">
                <a:solidFill>
                  <a:srgbClr val="4B4A4A"/>
                </a:solidFill>
                <a:latin typeface="Geist" pitchFamily="34" charset="0"/>
                <a:ea typeface="Geist" pitchFamily="34" charset="-122"/>
                <a:cs typeface="Geist" pitchFamily="34" charset="-120"/>
              </a:rPr>
              <a:t>Security forces responded with severe repression. At least 819 people were confirmed dead, while a UN assessment put the toll as high as 1,400 — a period widely remembered as the “July massacre.”</a:t>
            </a:r>
            <a:endParaRPr lang="en-US" sz="800" dirty="0"/>
          </a:p>
        </p:txBody>
      </p:sp>
      <p:pic>
        <p:nvPicPr>
          <p:cNvPr id="13"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2393" y="1423764"/>
            <a:ext cx="1525488" cy="2006426"/>
          </a:xfrm>
          <a:prstGeom prst="rect">
            <a:avLst/>
          </a:prstGeom>
        </p:spPr>
      </p:pic>
      <p:sp>
        <p:nvSpPr>
          <p:cNvPr id="14" name="Text 8"/>
          <p:cNvSpPr/>
          <p:nvPr/>
        </p:nvSpPr>
        <p:spPr>
          <a:xfrm>
            <a:off x="7824006" y="1500188"/>
            <a:ext cx="122262" cy="152772"/>
          </a:xfrm>
          <a:prstGeom prst="rect">
            <a:avLst/>
          </a:prstGeom>
          <a:noFill/>
          <a:ln/>
        </p:spPr>
        <p:txBody>
          <a:bodyPr wrap="none" lIns="0" tIns="0" rIns="0" bIns="0" rtlCol="0" anchor="ctr"/>
          <a:lstStyle/>
          <a:p>
            <a:pPr marL="0" indent="0" algn="ctr">
              <a:lnSpc>
                <a:spcPct val="100000"/>
              </a:lnSpc>
              <a:buNone/>
            </a:pPr>
            <a:r>
              <a:rPr lang="en-US" sz="950" b="1" dirty="0">
                <a:solidFill>
                  <a:srgbClr val="FFFFFF"/>
                </a:solidFill>
                <a:latin typeface="Noto Serif Bold" pitchFamily="34" charset="0"/>
                <a:ea typeface="Noto Serif Bold" pitchFamily="34" charset="-122"/>
                <a:cs typeface="Noto Serif Bold" pitchFamily="34" charset="-120"/>
              </a:rPr>
              <a:t>3</a:t>
            </a:r>
            <a:endParaRPr lang="en-US" sz="950" dirty="0"/>
          </a:p>
        </p:txBody>
      </p:sp>
      <p:sp>
        <p:nvSpPr>
          <p:cNvPr id="15" name="Text 9"/>
          <p:cNvSpPr/>
          <p:nvPr/>
        </p:nvSpPr>
        <p:spPr>
          <a:xfrm>
            <a:off x="7238554" y="1831256"/>
            <a:ext cx="1293168" cy="477738"/>
          </a:xfrm>
          <a:prstGeom prst="rect">
            <a:avLst/>
          </a:prstGeom>
          <a:noFill/>
          <a:ln/>
        </p:spPr>
        <p:txBody>
          <a:bodyPr wrap="square" lIns="0" tIns="0" rIns="0" bIns="0" rtlCol="0" anchor="t">
            <a:normAutofit/>
          </a:bodyPr>
          <a:lstStyle/>
          <a:p>
            <a:pPr marL="0" indent="0" algn="l">
              <a:lnSpc>
                <a:spcPct val="104000"/>
              </a:lnSpc>
              <a:buNone/>
            </a:pPr>
            <a:r>
              <a:rPr lang="en-US" sz="1000" b="1" dirty="0">
                <a:solidFill>
                  <a:srgbClr val="4B4A4A"/>
                </a:solidFill>
                <a:latin typeface="Noto Serif Bold" pitchFamily="34" charset="0"/>
                <a:ea typeface="Noto Serif Bold" pitchFamily="34" charset="-122"/>
                <a:cs typeface="Noto Serif Bold" pitchFamily="34" charset="-120"/>
              </a:rPr>
              <a:t>A turning point in Bangladeshi politics</a:t>
            </a:r>
            <a:endParaRPr lang="en-US" sz="1000" dirty="0"/>
          </a:p>
        </p:txBody>
      </p:sp>
      <p:sp>
        <p:nvSpPr>
          <p:cNvPr id="16" name="Text 10"/>
          <p:cNvSpPr/>
          <p:nvPr/>
        </p:nvSpPr>
        <p:spPr>
          <a:xfrm>
            <a:off x="7238554" y="2352898"/>
            <a:ext cx="1293168" cy="840284"/>
          </a:xfrm>
          <a:prstGeom prst="rect">
            <a:avLst/>
          </a:prstGeom>
          <a:noFill/>
          <a:ln/>
        </p:spPr>
        <p:txBody>
          <a:bodyPr wrap="square" lIns="0" tIns="0" rIns="0" bIns="0" rtlCol="0" anchor="t">
            <a:normAutofit/>
          </a:bodyPr>
          <a:lstStyle/>
          <a:p>
            <a:pPr marL="0" indent="0" algn="l">
              <a:lnSpc>
                <a:spcPct val="115000"/>
              </a:lnSpc>
              <a:buNone/>
            </a:pPr>
            <a:r>
              <a:rPr lang="en-US" sz="800" dirty="0">
                <a:solidFill>
                  <a:srgbClr val="4B4A4A"/>
                </a:solidFill>
                <a:latin typeface="Geist" pitchFamily="34" charset="0"/>
                <a:ea typeface="Geist" pitchFamily="34" charset="-122"/>
                <a:cs typeface="Geist" pitchFamily="34" charset="-120"/>
              </a:rPr>
              <a:t>Prime Minister Sheikh Hasina resigned on August 5, 2024, marking a dramatic political shift and reshaping the country’s future trajectory.</a:t>
            </a:r>
            <a:endParaRPr lang="en-US" sz="800" dirty="0"/>
          </a:p>
        </p:txBody>
      </p:sp>
      <p:pic>
        <p:nvPicPr>
          <p:cNvPr id="17"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25119" y="3503414"/>
            <a:ext cx="4722763" cy="1146944"/>
          </a:xfrm>
          <a:prstGeom prst="rect">
            <a:avLst/>
          </a:prstGeom>
        </p:spPr>
      </p:pic>
      <p:sp>
        <p:nvSpPr>
          <p:cNvPr id="18" name="Text 11"/>
          <p:cNvSpPr/>
          <p:nvPr/>
        </p:nvSpPr>
        <p:spPr>
          <a:xfrm>
            <a:off x="6225369" y="3579837"/>
            <a:ext cx="122262" cy="152772"/>
          </a:xfrm>
          <a:prstGeom prst="rect">
            <a:avLst/>
          </a:prstGeom>
          <a:noFill/>
          <a:ln/>
        </p:spPr>
        <p:txBody>
          <a:bodyPr wrap="none" lIns="0" tIns="0" rIns="0" bIns="0" rtlCol="0" anchor="ctr"/>
          <a:lstStyle/>
          <a:p>
            <a:pPr marL="0" indent="0" algn="ctr">
              <a:lnSpc>
                <a:spcPct val="100000"/>
              </a:lnSpc>
              <a:buNone/>
            </a:pPr>
            <a:r>
              <a:rPr lang="en-US" sz="950" b="1" dirty="0">
                <a:solidFill>
                  <a:srgbClr val="FFFFFF"/>
                </a:solidFill>
                <a:latin typeface="Noto Serif Bold" pitchFamily="34" charset="0"/>
                <a:ea typeface="Noto Serif Bold" pitchFamily="34" charset="-122"/>
                <a:cs typeface="Noto Serif Bold" pitchFamily="34" charset="-120"/>
              </a:rPr>
              <a:t>4</a:t>
            </a:r>
            <a:endParaRPr lang="en-US" sz="950" dirty="0"/>
          </a:p>
        </p:txBody>
      </p:sp>
      <p:sp>
        <p:nvSpPr>
          <p:cNvPr id="19" name="Text 12"/>
          <p:cNvSpPr/>
          <p:nvPr/>
        </p:nvSpPr>
        <p:spPr>
          <a:xfrm>
            <a:off x="4041279" y="3910905"/>
            <a:ext cx="4490442" cy="159246"/>
          </a:xfrm>
          <a:prstGeom prst="rect">
            <a:avLst/>
          </a:prstGeom>
          <a:noFill/>
          <a:ln/>
        </p:spPr>
        <p:txBody>
          <a:bodyPr wrap="none" lIns="0" tIns="0" rIns="0" bIns="0" rtlCol="0" anchor="t"/>
          <a:lstStyle/>
          <a:p>
            <a:pPr marL="0" indent="0" algn="l">
              <a:lnSpc>
                <a:spcPct val="104000"/>
              </a:lnSpc>
              <a:buNone/>
            </a:pPr>
            <a:r>
              <a:rPr lang="en-US" sz="1000" b="1" dirty="0">
                <a:solidFill>
                  <a:srgbClr val="4B4A4A"/>
                </a:solidFill>
                <a:latin typeface="Noto Serif Bold" pitchFamily="34" charset="0"/>
                <a:ea typeface="Noto Serif Bold" pitchFamily="34" charset="-122"/>
                <a:cs typeface="Noto Serif Bold" pitchFamily="34" charset="-120"/>
              </a:rPr>
              <a:t>Digital resistance under blackout</a:t>
            </a:r>
            <a:endParaRPr lang="en-US" sz="1000" dirty="0"/>
          </a:p>
        </p:txBody>
      </p:sp>
      <p:sp>
        <p:nvSpPr>
          <p:cNvPr id="20" name="Text 13"/>
          <p:cNvSpPr/>
          <p:nvPr/>
        </p:nvSpPr>
        <p:spPr>
          <a:xfrm>
            <a:off x="4041279" y="4114056"/>
            <a:ext cx="4490442" cy="420142"/>
          </a:xfrm>
          <a:prstGeom prst="rect">
            <a:avLst/>
          </a:prstGeom>
          <a:noFill/>
          <a:ln/>
        </p:spPr>
        <p:txBody>
          <a:bodyPr wrap="square" lIns="0" tIns="0" rIns="0" bIns="0" rtlCol="0" anchor="t">
            <a:normAutofit/>
          </a:bodyPr>
          <a:lstStyle/>
          <a:p>
            <a:pPr marL="0" indent="0" algn="l">
              <a:lnSpc>
                <a:spcPct val="115000"/>
              </a:lnSpc>
              <a:buNone/>
            </a:pPr>
            <a:r>
              <a:rPr lang="en-US" sz="800" dirty="0">
                <a:solidFill>
                  <a:srgbClr val="4B4A4A"/>
                </a:solidFill>
                <a:latin typeface="Geist" pitchFamily="34" charset="0"/>
                <a:ea typeface="Geist" pitchFamily="34" charset="-122"/>
                <a:cs typeface="Geist" pitchFamily="34" charset="-120"/>
              </a:rPr>
              <a:t>During a 22-day internet shutdown that began on July 18, 2024, activists sustained coordination through decentralized networks such as Bangla Blockade and symbolic acts like red profile pictures.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5543550" y="0"/>
            <a:ext cx="3600450" cy="51435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496119" y="457274"/>
            <a:ext cx="4722763" cy="408384"/>
          </a:xfrm>
          <a:prstGeom prst="rect">
            <a:avLst/>
          </a:prstGeom>
          <a:noFill/>
          <a:ln/>
        </p:spPr>
        <p:txBody>
          <a:bodyPr wrap="none" lIns="0" tIns="0" rIns="0" bIns="0" rtlCol="0" anchor="t"/>
          <a:lstStyle/>
          <a:p>
            <a:pPr marL="0" indent="0" algn="l">
              <a:lnSpc>
                <a:spcPct val="104000"/>
              </a:lnSpc>
              <a:buNone/>
            </a:pPr>
            <a:r>
              <a:rPr lang="en-US" sz="2550" b="1" dirty="0">
                <a:solidFill>
                  <a:srgbClr val="006747"/>
                </a:solidFill>
                <a:latin typeface="Noto Serif Bold" pitchFamily="34" charset="0"/>
                <a:ea typeface="Noto Serif Bold" pitchFamily="34" charset="-122"/>
                <a:cs typeface="Noto Serif Bold" pitchFamily="34" charset="-120"/>
              </a:rPr>
              <a:t>What This Movement Shows</a:t>
            </a:r>
            <a:endParaRPr lang="en-US" sz="2550" dirty="0"/>
          </a:p>
        </p:txBody>
      </p:sp>
      <p:sp>
        <p:nvSpPr>
          <p:cNvPr id="4" name="Text 1"/>
          <p:cNvSpPr/>
          <p:nvPr/>
        </p:nvSpPr>
        <p:spPr>
          <a:xfrm>
            <a:off x="496119" y="1046336"/>
            <a:ext cx="4722763" cy="1139726"/>
          </a:xfrm>
          <a:prstGeom prst="rect">
            <a:avLst/>
          </a:prstGeom>
          <a:noFill/>
          <a:ln/>
        </p:spPr>
        <p:txBody>
          <a:bodyPr wrap="square" lIns="0" tIns="0" rIns="0" bIns="0" rtlCol="0" anchor="t">
            <a:normAutofit/>
          </a:bodyPr>
          <a:lstStyle/>
          <a:p>
            <a:pPr marL="0" indent="0" algn="l">
              <a:lnSpc>
                <a:spcPct val="128000"/>
              </a:lnSpc>
              <a:spcAft>
                <a:spcPts val="1050"/>
              </a:spcAft>
              <a:buNone/>
            </a:pPr>
            <a:r>
              <a:rPr lang="en-US" sz="1000" dirty="0">
                <a:solidFill>
                  <a:srgbClr val="4B4A4A"/>
                </a:solidFill>
                <a:latin typeface="Geist" pitchFamily="34" charset="0"/>
                <a:ea typeface="Geist" pitchFamily="34" charset="-122"/>
                <a:cs typeface="Geist" pitchFamily="34" charset="-120"/>
              </a:rPr>
              <a:t>Young people are driving transformative change by pairing digital coordination with grassroots organizing to demand accountability and reshape public life.</a:t>
            </a:r>
            <a:endParaRPr lang="en-US" sz="1000" dirty="0"/>
          </a:p>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From courtrooms in the Hague to the streets of Dhaka, young people today are leading real movements for change—in the courts, on digital platforms, and in the streets—by organizing together and demanding accountability.</a:t>
            </a:r>
            <a:endParaRPr lang="en-US" sz="1000" dirty="0"/>
          </a:p>
        </p:txBody>
      </p:sp>
      <p:sp>
        <p:nvSpPr>
          <p:cNvPr id="5" name="Shape 2"/>
          <p:cNvSpPr/>
          <p:nvPr/>
        </p:nvSpPr>
        <p:spPr>
          <a:xfrm>
            <a:off x="496119" y="2321570"/>
            <a:ext cx="1493937" cy="2364656"/>
          </a:xfrm>
          <a:prstGeom prst="roundRect">
            <a:avLst>
              <a:gd name="adj" fmla="val 7873"/>
            </a:avLst>
          </a:prstGeom>
          <a:solidFill>
            <a:srgbClr val="D1EFE4"/>
          </a:solidFill>
          <a:ln w="4763">
            <a:solidFill>
              <a:srgbClr val="B7D5CA"/>
            </a:solidFill>
            <a:prstDash val="solid"/>
          </a:ln>
        </p:spPr>
      </p:sp>
      <p:sp>
        <p:nvSpPr>
          <p:cNvPr id="6" name="Text 3"/>
          <p:cNvSpPr/>
          <p:nvPr/>
        </p:nvSpPr>
        <p:spPr>
          <a:xfrm>
            <a:off x="631552" y="2457004"/>
            <a:ext cx="1223070" cy="816471"/>
          </a:xfrm>
          <a:prstGeom prst="rect">
            <a:avLst/>
          </a:prstGeom>
          <a:noFill/>
          <a:ln/>
        </p:spPr>
        <p:txBody>
          <a:bodyPr wrap="square" lIns="0" tIns="0" rIns="0" bIns="0" rtlCol="0" anchor="t">
            <a:normAutofit/>
          </a:bodyPr>
          <a:lstStyle/>
          <a:p>
            <a:pPr marL="0" indent="0" algn="l">
              <a:lnSpc>
                <a:spcPct val="104000"/>
              </a:lnSpc>
              <a:buNone/>
            </a:pPr>
            <a:r>
              <a:rPr lang="en-US" sz="1250" b="1" dirty="0">
                <a:solidFill>
                  <a:srgbClr val="4B4A4A"/>
                </a:solidFill>
                <a:latin typeface="Noto Serif Bold" pitchFamily="34" charset="0"/>
                <a:ea typeface="Noto Serif Bold" pitchFamily="34" charset="-122"/>
                <a:cs typeface="Noto Serif Bold" pitchFamily="34" charset="-120"/>
              </a:rPr>
              <a:t>Mobilize locally, connect globally</a:t>
            </a:r>
            <a:endParaRPr lang="en-US" sz="1250" dirty="0"/>
          </a:p>
        </p:txBody>
      </p:sp>
      <p:sp>
        <p:nvSpPr>
          <p:cNvPr id="7" name="Text 4"/>
          <p:cNvSpPr/>
          <p:nvPr/>
        </p:nvSpPr>
        <p:spPr>
          <a:xfrm>
            <a:off x="631552" y="3345731"/>
            <a:ext cx="1223070" cy="1205061"/>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Build trust and momentum in communities while using digital tools to coordinate fast and widely.</a:t>
            </a:r>
            <a:endParaRPr lang="en-US" sz="1000" dirty="0"/>
          </a:p>
        </p:txBody>
      </p:sp>
      <p:sp>
        <p:nvSpPr>
          <p:cNvPr id="8" name="Shape 5"/>
          <p:cNvSpPr/>
          <p:nvPr/>
        </p:nvSpPr>
        <p:spPr>
          <a:xfrm>
            <a:off x="2110532" y="2321570"/>
            <a:ext cx="1493937" cy="2364656"/>
          </a:xfrm>
          <a:prstGeom prst="roundRect">
            <a:avLst>
              <a:gd name="adj" fmla="val 7873"/>
            </a:avLst>
          </a:prstGeom>
          <a:solidFill>
            <a:srgbClr val="D1EFE4"/>
          </a:solidFill>
          <a:ln w="4763">
            <a:solidFill>
              <a:srgbClr val="B7D5CA"/>
            </a:solidFill>
            <a:prstDash val="solid"/>
          </a:ln>
        </p:spPr>
      </p:sp>
      <p:sp>
        <p:nvSpPr>
          <p:cNvPr id="9" name="Text 6"/>
          <p:cNvSpPr/>
          <p:nvPr/>
        </p:nvSpPr>
        <p:spPr>
          <a:xfrm>
            <a:off x="2245965" y="2457004"/>
            <a:ext cx="1223070" cy="408236"/>
          </a:xfrm>
          <a:prstGeom prst="rect">
            <a:avLst/>
          </a:prstGeom>
          <a:noFill/>
          <a:ln/>
        </p:spPr>
        <p:txBody>
          <a:bodyPr wrap="square" lIns="0" tIns="0" rIns="0" bIns="0" rtlCol="0" anchor="t">
            <a:normAutofit/>
          </a:bodyPr>
          <a:lstStyle/>
          <a:p>
            <a:pPr marL="0" indent="0" algn="l">
              <a:lnSpc>
                <a:spcPct val="104000"/>
              </a:lnSpc>
              <a:buNone/>
            </a:pPr>
            <a:r>
              <a:rPr lang="en-US" sz="1250" b="1" dirty="0">
                <a:solidFill>
                  <a:srgbClr val="4B4A4A"/>
                </a:solidFill>
                <a:latin typeface="Noto Serif Bold" pitchFamily="34" charset="0"/>
                <a:ea typeface="Noto Serif Bold" pitchFamily="34" charset="-122"/>
                <a:cs typeface="Noto Serif Bold" pitchFamily="34" charset="-120"/>
              </a:rPr>
              <a:t>Use a broad strategy</a:t>
            </a:r>
            <a:endParaRPr lang="en-US" sz="1250" dirty="0"/>
          </a:p>
        </p:txBody>
      </p:sp>
      <p:sp>
        <p:nvSpPr>
          <p:cNvPr id="10" name="Text 7"/>
          <p:cNvSpPr/>
          <p:nvPr/>
        </p:nvSpPr>
        <p:spPr>
          <a:xfrm>
            <a:off x="2245965" y="2937495"/>
            <a:ext cx="1223070" cy="1205061"/>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Combine protest, policy engagement, and legal action to sustain pressure from multiple directions.</a:t>
            </a:r>
            <a:endParaRPr lang="en-US" sz="1000" dirty="0"/>
          </a:p>
        </p:txBody>
      </p:sp>
      <p:sp>
        <p:nvSpPr>
          <p:cNvPr id="11" name="Shape 8"/>
          <p:cNvSpPr/>
          <p:nvPr/>
        </p:nvSpPr>
        <p:spPr>
          <a:xfrm>
            <a:off x="3724945" y="2321570"/>
            <a:ext cx="1493937" cy="2364656"/>
          </a:xfrm>
          <a:prstGeom prst="roundRect">
            <a:avLst>
              <a:gd name="adj" fmla="val 7873"/>
            </a:avLst>
          </a:prstGeom>
          <a:solidFill>
            <a:srgbClr val="D1EFE4"/>
          </a:solidFill>
          <a:ln w="4763">
            <a:solidFill>
              <a:srgbClr val="B7D5CA"/>
            </a:solidFill>
            <a:prstDash val="solid"/>
          </a:ln>
        </p:spPr>
      </p:sp>
      <p:sp>
        <p:nvSpPr>
          <p:cNvPr id="12" name="Text 9"/>
          <p:cNvSpPr/>
          <p:nvPr/>
        </p:nvSpPr>
        <p:spPr>
          <a:xfrm>
            <a:off x="3860378" y="2457004"/>
            <a:ext cx="1223070" cy="612353"/>
          </a:xfrm>
          <a:prstGeom prst="rect">
            <a:avLst/>
          </a:prstGeom>
          <a:noFill/>
          <a:ln/>
        </p:spPr>
        <p:txBody>
          <a:bodyPr wrap="square" lIns="0" tIns="0" rIns="0" bIns="0" rtlCol="0" anchor="t">
            <a:normAutofit/>
          </a:bodyPr>
          <a:lstStyle/>
          <a:p>
            <a:pPr marL="0" indent="0" algn="l">
              <a:lnSpc>
                <a:spcPct val="104000"/>
              </a:lnSpc>
              <a:buNone/>
            </a:pPr>
            <a:r>
              <a:rPr lang="en-US" sz="1250" b="1" dirty="0">
                <a:solidFill>
                  <a:srgbClr val="4B4A4A"/>
                </a:solidFill>
                <a:latin typeface="Noto Serif Bold" pitchFamily="34" charset="0"/>
                <a:ea typeface="Noto Serif Bold" pitchFamily="34" charset="-122"/>
                <a:cs typeface="Noto Serif Bold" pitchFamily="34" charset="-120"/>
              </a:rPr>
              <a:t>Solidarity multiplies impact</a:t>
            </a:r>
            <a:endParaRPr lang="en-US" sz="1250" dirty="0"/>
          </a:p>
        </p:txBody>
      </p:sp>
      <p:sp>
        <p:nvSpPr>
          <p:cNvPr id="13" name="Text 10"/>
          <p:cNvSpPr/>
          <p:nvPr/>
        </p:nvSpPr>
        <p:spPr>
          <a:xfrm>
            <a:off x="3860378" y="3141613"/>
            <a:ext cx="1223070" cy="1004218"/>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4B4A4A"/>
                </a:solidFill>
                <a:latin typeface="Geist" pitchFamily="34" charset="0"/>
                <a:ea typeface="Geist" pitchFamily="34" charset="-122"/>
                <a:cs typeface="Geist" pitchFamily="34" charset="-120"/>
              </a:rPr>
              <a:t>Cross-border networks strengthen visibility, legitimacy, and collective power.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2095054"/>
            <a:ext cx="8151763" cy="442987"/>
          </a:xfrm>
          <a:prstGeom prst="rect">
            <a:avLst/>
          </a:prstGeom>
          <a:noFill/>
          <a:ln/>
        </p:spPr>
        <p:txBody>
          <a:bodyPr wrap="none" lIns="0" tIns="0" rIns="0" bIns="0" rtlCol="0" anchor="t"/>
          <a:lstStyle/>
          <a:p>
            <a:pPr marL="0" indent="0" algn="ctr">
              <a:lnSpc>
                <a:spcPct val="104000"/>
              </a:lnSpc>
              <a:buNone/>
            </a:pPr>
            <a:r>
              <a:rPr lang="en-US" sz="2750" b="1" dirty="0">
                <a:solidFill>
                  <a:srgbClr val="006747"/>
                </a:solidFill>
                <a:latin typeface="Noto Serif Bold" pitchFamily="34" charset="0"/>
                <a:ea typeface="Noto Serif Bold" pitchFamily="34" charset="-122"/>
                <a:cs typeface="Noto Serif Bold" pitchFamily="34" charset="-120"/>
              </a:rPr>
              <a:t>Thank You</a:t>
            </a:r>
            <a:endParaRPr lang="en-US" sz="2750" dirty="0"/>
          </a:p>
        </p:txBody>
      </p:sp>
      <p:sp>
        <p:nvSpPr>
          <p:cNvPr id="3" name="Text 1"/>
          <p:cNvSpPr/>
          <p:nvPr/>
        </p:nvSpPr>
        <p:spPr>
          <a:xfrm>
            <a:off x="267519" y="2821558"/>
            <a:ext cx="8608963" cy="226814"/>
          </a:xfrm>
          <a:prstGeom prst="rect">
            <a:avLst/>
          </a:prstGeom>
          <a:noFill/>
          <a:ln/>
        </p:spPr>
        <p:txBody>
          <a:bodyPr wrap="none" lIns="0" tIns="0" rIns="0" bIns="0" rtlCol="0" anchor="t"/>
          <a:lstStyle/>
          <a:p>
            <a:pPr marL="0" indent="0" algn="ctr">
              <a:lnSpc>
                <a:spcPct val="133000"/>
              </a:lnSpc>
              <a:buNone/>
            </a:pPr>
            <a:r>
              <a:rPr lang="en-US" sz="1100" dirty="0">
                <a:solidFill>
                  <a:srgbClr val="4B4A4A"/>
                </a:solidFill>
                <a:latin typeface="Geist" pitchFamily="34" charset="0"/>
                <a:ea typeface="Geist" pitchFamily="34" charset="-122"/>
                <a:cs typeface="Geist" pitchFamily="34" charset="-120"/>
              </a:rPr>
              <a:t>Rafiur Rahman Mashrafi — North South University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795</Words>
  <Application>Microsoft Office PowerPoint</Application>
  <PresentationFormat>On-screen Show (16:9)</PresentationFormat>
  <Paragraphs>62</Paragraphs>
  <Slides>8</Slides>
  <Notes>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Noto Serif Bold</vt:lpstr>
      <vt:lpstr>Noto Serif Light</vt:lpstr>
      <vt:lpstr>Calibri</vt:lpstr>
      <vt:lpstr>Geist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rafiur.mashrafi@northsouth.edu</cp:lastModifiedBy>
  <cp:revision>2</cp:revision>
  <dcterms:created xsi:type="dcterms:W3CDTF">2026-08-05T12:09:52Z</dcterms:created>
  <dcterms:modified xsi:type="dcterms:W3CDTF">2026-08-05T12:20:17Z</dcterms:modified>
</cp:coreProperties>
</file>